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9CFDA"/>
                </a:solidFill>
                <a:latin typeface="Calibri"/>
              </a:defRPr>
            </a:pPr>
            <a:r>
              <a:rPr sz="1100" b="0" i="0" u="none" strike="noStrike">
                <a:solidFill>
                  <a:srgbClr val="C9CFDA"/>
                </a:solidFill>
                <a:latin typeface="Calibri"/>
              </a:rPr>
              <a:t>Infarct size, indexed to control = 100</a:t>
            </a:r>
          </a:p>
        </c:rich>
      </c:tx>
      <c:layout/>
      <c:overlay val="0"/>
    </c:title>
    <c:autoTitleDeleted val="0"/>
    <c:plotArea>
      <c:layout/>
      <c:barChart>
        <c:barDir val="col"/>
        <c:grouping val="clustered"/>
        <c:varyColors val="0"/>
        <c:ser>
          <c:idx val="0"/>
          <c:order val="0"/>
          <c:tx>
            <c:strRef>
              <c:f>Sheet1!$B$1</c:f>
              <c:strCache>
                <c:ptCount val="1"/>
                <c:pt idx="0">
                  <c:v>Infarct size index</c:v>
                </c:pt>
              </c:strCache>
            </c:strRef>
          </c:tx>
          <c:spPr>
            <a:solidFill>
              <a:srgbClr val="8A93A6"/>
            </a:solidFill>
            <a:effectLst/>
          </c:spPr>
          <c:invertIfNegative val="0"/>
          <c:dLbls>
            <c:numFmt formatCode="#,##0"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93A6"/>
              </a:solidFill>
              <a:effectLst/>
            </c:spPr>
          </c:dPt>
          <c:dPt>
            <c:idx val="1"/>
            <c:invertIfNegative val="0"/>
            <c:bubble3D val="0"/>
            <c:spPr>
              <a:solidFill>
                <a:srgbClr val="1FA99C"/>
              </a:solidFill>
              <a:effectLst/>
            </c:spPr>
          </c:dPt>
          <c:cat>
            <c:multiLvlStrRef>
              <c:f>Sheet1!$A$2:$A$3</c:f>
              <c:multiLvlStrCache>
                <c:ptCount val="2"/>
                <c:lvl>
                  <c:pt idx="0">
                    <c:v>Standard PCI</c:v>
                  </c:pt>
                  <c:pt idx="1">
                    <c:v>enVast + PCI</c:v>
                  </c:pt>
                </c:lvl>
              </c:multiLvlStrCache>
            </c:multiLvlStrRef>
          </c:cat>
          <c:val>
            <c:numRef>
              <c:f>Sheet1!$B$2:$B$3</c:f>
              <c:numCache>
                <c:formatCode>General</c:formatCode>
                <c:ptCount val="2"/>
                <c:pt idx="0">
                  <c:v>100</c:v>
                </c:pt>
                <c:pt idx="1">
                  <c:v>74</c:v>
                </c:pt>
              </c:numCache>
            </c:numRef>
          </c:val>
        </c:ser>
        <c:dLbls>
          <c:numFmt formatCode="#,##0" sourceLinked="0"/>
          <c:txPr>
            <a:bodyPr/>
            <a:lstStyle/>
            <a:p>
              <a:pPr>
                <a:defRPr b="1" i="0" strike="noStrike" sz="1400" u="none">
                  <a:solidFill>
                    <a:srgbClr val="FFFFFF"/>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C9CFDA"/>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E6778"/>
                </a:solidFill>
                <a:latin typeface="Calibri"/>
              </a:defRPr>
            </a:pPr>
            <a:r>
              <a:rPr sz="1100" b="0" i="0" u="none" strike="noStrike">
                <a:solidFill>
                  <a:srgbClr val="5E6778"/>
                </a:solidFill>
                <a:latin typeface="Calibri"/>
              </a:rPr>
              <a:t>Event rate at 30 days (%)</a:t>
            </a:r>
          </a:p>
        </c:rich>
      </c:tx>
      <c:layout/>
      <c:overlay val="0"/>
    </c:title>
    <c:autoTitleDeleted val="0"/>
    <c:plotArea>
      <c:layout/>
      <c:barChart>
        <c:barDir val="col"/>
        <c:grouping val="clustered"/>
        <c:varyColors val="0"/>
        <c:ser>
          <c:idx val="0"/>
          <c:order val="0"/>
          <c:tx>
            <c:strRef>
              <c:f>Sheet1!$B$1</c:f>
              <c:strCache>
                <c:ptCount val="1"/>
                <c:pt idx="0">
                  <c:v>enVast + PCI</c:v>
                </c:pt>
              </c:strCache>
            </c:strRef>
          </c:tx>
          <c:spPr>
            <a:solidFill>
              <a:srgbClr val="1FA99C"/>
            </a:solidFill>
            <a:effectLst/>
          </c:spPr>
          <c:invertIfNegative val="0"/>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Sheet1!$B$2:$B$4</c:f>
              <c:numCache>
                <c:formatCode>General</c:formatCode>
                <c:ptCount val="3"/>
                <c:pt idx="0">
                  <c:v>0</c:v>
                </c:pt>
                <c:pt idx="1">
                  <c:v>0</c:v>
                </c:pt>
                <c:pt idx="2">
                  <c:v>1.3</c:v>
                </c:pt>
              </c:numCache>
            </c:numRef>
          </c:val>
        </c:ser>
        <c:ser>
          <c:idx val="1"/>
          <c:order val="1"/>
          <c:tx>
            <c:strRef>
              <c:f>Sheet1!$C$1</c:f>
              <c:strCache>
                <c:ptCount val="1"/>
                <c:pt idx="0">
                  <c:v>Standard PCI</c:v>
                </c:pt>
              </c:strCache>
            </c:strRef>
          </c:tx>
          <c:spPr>
            <a:solidFill>
              <a:srgbClr val="8A93A6"/>
            </a:solidFill>
            <a:effectLst/>
          </c:spPr>
          <c:invertIfNegative val="0"/>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Sheet1!$C$2:$C$4</c:f>
              <c:numCache>
                <c:formatCode>General</c:formatCode>
                <c:ptCount val="3"/>
                <c:pt idx="0">
                  <c:v>1.3</c:v>
                </c:pt>
                <c:pt idx="1">
                  <c:v>2.6</c:v>
                </c:pt>
                <c:pt idx="2">
                  <c:v>3.8</c:v>
                </c:pt>
              </c:numCache>
            </c:numRef>
          </c:val>
        </c:ser>
        <c:dLbls>
          <c:numFmt formatCode="0.0&quot;%&quot;" sourceLinked="0"/>
          <c:txPr>
            <a:bodyPr/>
            <a:lstStyle/>
            <a:p>
              <a:pPr>
                <a:defRPr b="1" i="0" strike="noStrike" sz="1200" u="none">
                  <a:solidFill>
                    <a:srgbClr val="1B22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B22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was presented as a late-breaking clinical trial at ESC Congress 2026 in Munich by Prof. Marco Valgimigli (Cardiocentro Ticino Institute, Lugano). It asks whether a coronary stent-retriever (enVast, Vesalio) used before conventional PCI can limit myocardial damage in STEMI patients with a large clot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rationale: in patients with a large thrombus, PCI can push clot downstream, causing microvascular obstruction and larger infarcts. Manual aspiration was the obvious fix, but TASTE and TOTAL were neutral on hard outcomes and TOTAL raised a stroke signal, so guidelines advise against routine aspiration. NATURE tests a different mechanical approach — a stent-retriever — in a population selected for large thrombus.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enVast is Vesalio's coronary clot retriever, derived from the NeVa device used for stroke thrombectomy. The idea: remove the bulk of the clot as a whole rather than aspirate it, so less debris embolises when the lesion is subsequently treated with balloon and 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patients at 11 centres were randomised 1:1 to enVast-assisted thrombectomy followed by conventional PCI, or to standard-of-care primary PCI. The design and rationale were published by Landi et al. in Cardiovascular Revascularization Medicine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Patients were selected for a large thrombus (TIMI thrombus grade 3 or more); occluded vessels were re-graded after wiring. The primary endpoint is a physiological one — enzymatic infarct size — backed by CMR infarct size as a secondary, with 30-day safety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trial met its primary endpoint: enzymatic infarct size by CK-MB area under the curve was about 26% lower with enVast (P = 0.001). The chart shows the relative effect indexed to control; absolute CK-MB values are in the primary presentation/publication.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CMR at day 3 showed about a 25% relative reduction in infarct size as a percentage of LV mass — a positive trend rather than a formally significant result, but concordant with the biomarker finding, which supports a real biological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30 days: stroke 0% vs 1.3%, death 0% vs 2.6%, MACE 1.3% vs 3.8% (enVast vs control). Reassuring given the stroke concern with aspiration in TOTAL — but these are very small numbers of events and should be treated as hypothesis-generating.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randomisation, a targeted population, and concordant endpoints. Limitations: small, surrogate primary endpoint, inherent lack of operator blinding, CMR only a trend, and sponsor involvement. The next step must be an adequately powered trial with clinical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line: in carefully selected STEMI patients with a large thrombus, stent-retriever thrombectomy before PCI reduced infarct size with no early safety penalty. It is a promising signal, but clinical-outcome data are needed before it changes guidelines.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for NATURE are taken from the ESC 2026 late-breaking presentation and sponsor/press reports; check the peer-reviewed publication for final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01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pic>
        <p:nvPicPr>
          <p:cNvPr id="5" name="Image 1" descr="preencoded.png">    </p:cNvPr>
          <p:cNvPicPr>
            <a:picLocks noChangeAspect="1"/>
          </p:cNvPicPr>
          <p:nvPr/>
        </p:nvPicPr>
        <p:blipFill>
          <a:blip r:embed="rId2">
            <a:alphaModFix amt="45000"/>
          </a:blip>
          <a:stretch>
            <a:fillRect/>
          </a:stretch>
        </p:blipFill>
        <p:spPr>
          <a:xfrm>
            <a:off x="-182880" y="2651760"/>
            <a:ext cx="9509760" cy="1051560"/>
          </a:xfrm>
          <a:prstGeom prst="rect">
            <a:avLst/>
          </a:prstGeom>
        </p:spPr>
      </p:pic>
      <p:sp>
        <p:nvSpPr>
          <p:cNvPr id="6" name="Text 2"/>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100" b="1" spc="400" kern="0" dirty="0">
                <a:solidFill>
                  <a:srgbClr val="F4B6BB"/>
                </a:solidFill>
                <a:latin typeface="Calibri" pitchFamily="34" charset="0"/>
                <a:ea typeface="Calibri" pitchFamily="34" charset="-122"/>
                <a:cs typeface="Calibri" pitchFamily="34" charset="-120"/>
              </a:rPr>
              <a:t>ESC CONGRESS 2026 · MUNICH · LATE-BREAKING CLINICAL TRIAL</a:t>
            </a:r>
            <a:endParaRPr lang="en-US" sz="1100" dirty="0"/>
          </a:p>
        </p:txBody>
      </p:sp>
      <p:sp>
        <p:nvSpPr>
          <p:cNvPr id="7" name="Text 3"/>
          <p:cNvSpPr txBox="1"/>
          <p:nvPr/>
        </p:nvSpPr>
        <p:spPr>
          <a:xfrm>
            <a:off x="548640" y="868680"/>
            <a:ext cx="8046720" cy="1188720"/>
          </a:xfrm>
          <a:prstGeom prst="rect">
            <a:avLst/>
          </a:prstGeom>
          <a:noFill/>
          <a:ln/>
        </p:spPr>
        <p:txBody>
          <a:bodyPr wrap="square" lIns="0" tIns="0" rIns="0" bIns="0" rtlCol="0" anchor="ctr"/>
          <a:lstStyle/>
          <a:p>
            <a:pPr indent="0" marL="0">
              <a:buNone/>
            </a:pPr>
            <a:r>
              <a:rPr lang="en-US" sz="8800" b="1" spc="600" kern="0" dirty="0">
                <a:solidFill>
                  <a:srgbClr val="FFFFFF"/>
                </a:solidFill>
                <a:latin typeface="Cambria" pitchFamily="34" charset="0"/>
                <a:ea typeface="Cambria" pitchFamily="34" charset="-122"/>
                <a:cs typeface="Cambria" pitchFamily="34" charset="-120"/>
              </a:rPr>
              <a:t>NATURE</a:t>
            </a:r>
            <a:endParaRPr lang="en-US" sz="8800" dirty="0"/>
          </a:p>
        </p:txBody>
      </p:sp>
      <p:sp>
        <p:nvSpPr>
          <p:cNvPr id="8" name="Text 4"/>
          <p:cNvSpPr txBox="1"/>
          <p:nvPr/>
        </p:nvSpPr>
        <p:spPr>
          <a:xfrm>
            <a:off x="548640" y="2011680"/>
            <a:ext cx="6583680" cy="731520"/>
          </a:xfrm>
          <a:prstGeom prst="rect">
            <a:avLst/>
          </a:prstGeom>
          <a:noFill/>
          <a:ln/>
        </p:spPr>
        <p:txBody>
          <a:bodyPr wrap="square" lIns="0" tIns="0" rIns="0" bIns="0" rtlCol="0" anchor="t"/>
          <a:lstStyle/>
          <a:p>
            <a:pPr indent="0" marL="0">
              <a:buNone/>
            </a:pPr>
            <a:r>
              <a:rPr lang="en-US" sz="1800" i="1" dirty="0">
                <a:solidFill>
                  <a:srgbClr val="F4B6BB"/>
                </a:solidFill>
                <a:latin typeface="Cambria" pitchFamily="34" charset="0"/>
                <a:ea typeface="Cambria" pitchFamily="34" charset="-122"/>
                <a:cs typeface="Cambria" pitchFamily="34" charset="-120"/>
              </a:rPr>
              <a:t>enVast-assisted mechanical thrombectomy versus standard primary PCI in STEMI with large thrombus burden</a:t>
            </a:r>
            <a:endParaRPr lang="en-US" sz="1800" dirty="0"/>
          </a:p>
        </p:txBody>
      </p:sp>
      <p:sp>
        <p:nvSpPr>
          <p:cNvPr id="9" name="Text 5"/>
          <p:cNvSpPr txBox="1"/>
          <p:nvPr/>
        </p:nvSpPr>
        <p:spPr>
          <a:xfrm>
            <a:off x="54864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154</a:t>
            </a:r>
            <a:endParaRPr lang="en-US" sz="3000" dirty="0"/>
          </a:p>
        </p:txBody>
      </p:sp>
      <p:sp>
        <p:nvSpPr>
          <p:cNvPr id="10" name="Text 6"/>
          <p:cNvSpPr txBox="1"/>
          <p:nvPr/>
        </p:nvSpPr>
        <p:spPr>
          <a:xfrm>
            <a:off x="54864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PATIENTS</a:t>
            </a:r>
            <a:endParaRPr lang="en-US" sz="1000" dirty="0"/>
          </a:p>
        </p:txBody>
      </p:sp>
      <p:sp>
        <p:nvSpPr>
          <p:cNvPr id="11" name="Text 7"/>
          <p:cNvSpPr txBox="1"/>
          <p:nvPr/>
        </p:nvSpPr>
        <p:spPr>
          <a:xfrm>
            <a:off x="256032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11</a:t>
            </a:r>
            <a:endParaRPr lang="en-US" sz="3000" dirty="0"/>
          </a:p>
        </p:txBody>
      </p:sp>
      <p:sp>
        <p:nvSpPr>
          <p:cNvPr id="12" name="Text 8"/>
          <p:cNvSpPr txBox="1"/>
          <p:nvPr/>
        </p:nvSpPr>
        <p:spPr>
          <a:xfrm>
            <a:off x="256032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CENTRES</a:t>
            </a:r>
            <a:endParaRPr lang="en-US" sz="1000" dirty="0"/>
          </a:p>
        </p:txBody>
      </p:sp>
      <p:sp>
        <p:nvSpPr>
          <p:cNvPr id="13" name="Text 9"/>
          <p:cNvSpPr txBox="1"/>
          <p:nvPr/>
        </p:nvSpPr>
        <p:spPr>
          <a:xfrm>
            <a:off x="4572000" y="3611880"/>
            <a:ext cx="182880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1 : 1</a:t>
            </a:r>
            <a:endParaRPr lang="en-US" sz="3000" dirty="0"/>
          </a:p>
        </p:txBody>
      </p:sp>
      <p:sp>
        <p:nvSpPr>
          <p:cNvPr id="14" name="Text 10"/>
          <p:cNvSpPr txBox="1"/>
          <p:nvPr/>
        </p:nvSpPr>
        <p:spPr>
          <a:xfrm>
            <a:off x="457200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RANDOMISED</a:t>
            </a:r>
            <a:endParaRPr lang="en-US" sz="1000" dirty="0"/>
          </a:p>
        </p:txBody>
      </p:sp>
      <p:sp>
        <p:nvSpPr>
          <p:cNvPr id="15" name="Text 11"/>
          <p:cNvSpPr txBox="1"/>
          <p:nvPr/>
        </p:nvSpPr>
        <p:spPr>
          <a:xfrm>
            <a:off x="6583680" y="3611880"/>
            <a:ext cx="1828800" cy="502920"/>
          </a:xfrm>
          <a:prstGeom prst="rect">
            <a:avLst/>
          </a:prstGeom>
          <a:noFill/>
          <a:ln/>
        </p:spPr>
        <p:txBody>
          <a:bodyPr wrap="square" lIns="0" tIns="0" rIns="0" bIns="0" rtlCol="0" anchor="ctr"/>
          <a:lstStyle/>
          <a:p>
            <a:pPr indent="0" marL="0">
              <a:buNone/>
            </a:pPr>
            <a:r>
              <a:rPr lang="en-US" sz="3000" b="1" dirty="0">
                <a:solidFill>
                  <a:srgbClr val="E5383B"/>
                </a:solidFill>
                <a:latin typeface="Cambria" pitchFamily="34" charset="0"/>
                <a:ea typeface="Cambria" pitchFamily="34" charset="-122"/>
                <a:cs typeface="Cambria" pitchFamily="34" charset="-120"/>
              </a:rPr>
              <a:t>−26%</a:t>
            </a:r>
            <a:endParaRPr lang="en-US" sz="3000" dirty="0"/>
          </a:p>
        </p:txBody>
      </p:sp>
      <p:sp>
        <p:nvSpPr>
          <p:cNvPr id="16" name="Text 12"/>
          <p:cNvSpPr txBox="1"/>
          <p:nvPr/>
        </p:nvSpPr>
        <p:spPr>
          <a:xfrm>
            <a:off x="6583680" y="4114800"/>
            <a:ext cx="1828800" cy="228600"/>
          </a:xfrm>
          <a:prstGeom prst="rect">
            <a:avLst/>
          </a:prstGeom>
          <a:noFill/>
          <a:ln/>
        </p:spPr>
        <p:txBody>
          <a:bodyPr wrap="square" lIns="0" tIns="0" rIns="0" bIns="0" rtlCol="0" anchor="ctr"/>
          <a:lstStyle/>
          <a:p>
            <a:pPr indent="0" marL="0">
              <a:buNone/>
            </a:pPr>
            <a:r>
              <a:rPr lang="en-US" sz="1000" spc="300" kern="0" dirty="0">
                <a:solidFill>
                  <a:srgbClr val="8A93A6"/>
                </a:solidFill>
                <a:latin typeface="Calibri" pitchFamily="34" charset="0"/>
                <a:ea typeface="Calibri" pitchFamily="34" charset="-122"/>
                <a:cs typeface="Calibri" pitchFamily="34" charset="-120"/>
              </a:rPr>
              <a:t>INFARCT SIZE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02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THE CLINICAL PROBLEM</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Large thrombus: the clot that won’t stay put</a:t>
            </a:r>
            <a:endParaRPr lang="en-US" sz="3000" dirty="0"/>
          </a:p>
        </p:txBody>
      </p:sp>
      <p:sp>
        <p:nvSpPr>
          <p:cNvPr id="7" name="Shape 4"/>
          <p:cNvSpPr/>
          <p:nvPr/>
        </p:nvSpPr>
        <p:spPr>
          <a:xfrm>
            <a:off x="457200" y="1417320"/>
            <a:ext cx="457200" cy="457200"/>
          </a:xfrm>
          <a:prstGeom prst="ellipse">
            <a:avLst/>
          </a:prstGeom>
          <a:solidFill>
            <a:srgbClr val="0E1117"/>
          </a:solidFill>
          <a:ln w="12700">
            <a:solidFill>
              <a:srgbClr val="0E1117"/>
            </a:solidFill>
            <a:prstDash val="solid"/>
          </a:ln>
        </p:spPr>
      </p:sp>
      <p:sp>
        <p:nvSpPr>
          <p:cNvPr id="8" name="Text 5"/>
          <p:cNvSpPr txBox="1"/>
          <p:nvPr/>
        </p:nvSpPr>
        <p:spPr>
          <a:xfrm>
            <a:off x="45720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097280" y="138074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Large thrombus burden</a:t>
            </a:r>
            <a:endParaRPr lang="en-US" sz="1500" dirty="0"/>
          </a:p>
        </p:txBody>
      </p:sp>
      <p:sp>
        <p:nvSpPr>
          <p:cNvPr id="10" name="Text 7"/>
          <p:cNvSpPr txBox="1"/>
          <p:nvPr/>
        </p:nvSpPr>
        <p:spPr>
          <a:xfrm>
            <a:off x="1097280" y="165506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Common in STEMI; ballooning and stenting can fragment the clot.</a:t>
            </a:r>
            <a:endParaRPr lang="en-US" sz="1150" dirty="0"/>
          </a:p>
        </p:txBody>
      </p:sp>
      <p:sp>
        <p:nvSpPr>
          <p:cNvPr id="11" name="Shape 8"/>
          <p:cNvSpPr/>
          <p:nvPr/>
        </p:nvSpPr>
        <p:spPr>
          <a:xfrm>
            <a:off x="457200" y="2194560"/>
            <a:ext cx="457200" cy="457200"/>
          </a:xfrm>
          <a:prstGeom prst="ellipse">
            <a:avLst/>
          </a:prstGeom>
          <a:solidFill>
            <a:srgbClr val="0E1117"/>
          </a:solidFill>
          <a:ln w="12700">
            <a:solidFill>
              <a:srgbClr val="0E1117"/>
            </a:solidFill>
            <a:prstDash val="solid"/>
          </a:ln>
        </p:spPr>
      </p:sp>
      <p:sp>
        <p:nvSpPr>
          <p:cNvPr id="12" name="Text 9"/>
          <p:cNvSpPr txBox="1"/>
          <p:nvPr/>
        </p:nvSpPr>
        <p:spPr>
          <a:xfrm>
            <a:off x="45720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0"/>
          <p:cNvSpPr txBox="1"/>
          <p:nvPr/>
        </p:nvSpPr>
        <p:spPr>
          <a:xfrm>
            <a:off x="1097280" y="215798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Distal embolisation</a:t>
            </a:r>
            <a:endParaRPr lang="en-US" sz="1500" dirty="0"/>
          </a:p>
        </p:txBody>
      </p:sp>
      <p:sp>
        <p:nvSpPr>
          <p:cNvPr id="14" name="Text 11"/>
          <p:cNvSpPr txBox="1"/>
          <p:nvPr/>
        </p:nvSpPr>
        <p:spPr>
          <a:xfrm>
            <a:off x="1097280" y="243230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Debris showers into the microcirculation downstream of the culprit lesion.</a:t>
            </a:r>
            <a:endParaRPr lang="en-US" sz="1150" dirty="0"/>
          </a:p>
        </p:txBody>
      </p:sp>
      <p:sp>
        <p:nvSpPr>
          <p:cNvPr id="15" name="Shape 12"/>
          <p:cNvSpPr/>
          <p:nvPr/>
        </p:nvSpPr>
        <p:spPr>
          <a:xfrm>
            <a:off x="457200" y="2971800"/>
            <a:ext cx="457200" cy="457200"/>
          </a:xfrm>
          <a:prstGeom prst="ellipse">
            <a:avLst/>
          </a:prstGeom>
          <a:solidFill>
            <a:srgbClr val="0E1117"/>
          </a:solidFill>
          <a:ln w="12700">
            <a:solidFill>
              <a:srgbClr val="0E1117"/>
            </a:solidFill>
            <a:prstDash val="solid"/>
          </a:ln>
        </p:spPr>
      </p:sp>
      <p:sp>
        <p:nvSpPr>
          <p:cNvPr id="16" name="Text 13"/>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4"/>
          <p:cNvSpPr txBox="1"/>
          <p:nvPr/>
        </p:nvSpPr>
        <p:spPr>
          <a:xfrm>
            <a:off x="1097280" y="293522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Microvascular obstruction</a:t>
            </a:r>
            <a:endParaRPr lang="en-US" sz="1500" dirty="0"/>
          </a:p>
        </p:txBody>
      </p:sp>
      <p:sp>
        <p:nvSpPr>
          <p:cNvPr id="18" name="Text 15"/>
          <p:cNvSpPr txBox="1"/>
          <p:nvPr/>
        </p:nvSpPr>
        <p:spPr>
          <a:xfrm>
            <a:off x="1097280" y="320954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Epicardial flow is restored, but tissue-level reperfusion fails.</a:t>
            </a:r>
            <a:endParaRPr lang="en-US" sz="1150" dirty="0"/>
          </a:p>
        </p:txBody>
      </p:sp>
      <p:sp>
        <p:nvSpPr>
          <p:cNvPr id="19" name="Shape 16"/>
          <p:cNvSpPr/>
          <p:nvPr/>
        </p:nvSpPr>
        <p:spPr>
          <a:xfrm>
            <a:off x="457200" y="3749040"/>
            <a:ext cx="457200" cy="457200"/>
          </a:xfrm>
          <a:prstGeom prst="ellipse">
            <a:avLst/>
          </a:prstGeom>
          <a:solidFill>
            <a:srgbClr val="E5383B"/>
          </a:solidFill>
          <a:ln w="12700">
            <a:solidFill>
              <a:srgbClr val="E5383B"/>
            </a:solidFill>
            <a:prstDash val="solid"/>
          </a:ln>
        </p:spPr>
      </p:sp>
      <p:sp>
        <p:nvSpPr>
          <p:cNvPr id="20" name="Text 17"/>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8"/>
          <p:cNvSpPr txBox="1"/>
          <p:nvPr/>
        </p:nvSpPr>
        <p:spPr>
          <a:xfrm>
            <a:off x="1097280" y="3712464"/>
            <a:ext cx="3383280" cy="274320"/>
          </a:xfrm>
          <a:prstGeom prst="rect">
            <a:avLst/>
          </a:prstGeom>
          <a:noFill/>
          <a:ln/>
        </p:spPr>
        <p:txBody>
          <a:bodyPr wrap="square" lIns="0" tIns="0" rIns="0" bIns="0" rtlCol="0" anchor="ctr"/>
          <a:lstStyle/>
          <a:p>
            <a:pPr indent="0" marL="0">
              <a:buNone/>
            </a:pPr>
            <a:r>
              <a:rPr lang="en-US" sz="1500" b="1" dirty="0">
                <a:solidFill>
                  <a:srgbClr val="1B2230"/>
                </a:solidFill>
                <a:latin typeface="Calibri" pitchFamily="34" charset="0"/>
                <a:ea typeface="Calibri" pitchFamily="34" charset="-122"/>
                <a:cs typeface="Calibri" pitchFamily="34" charset="-120"/>
              </a:rPr>
              <a:t>Larger infarct</a:t>
            </a:r>
            <a:endParaRPr lang="en-US" sz="1500" dirty="0"/>
          </a:p>
        </p:txBody>
      </p:sp>
      <p:sp>
        <p:nvSpPr>
          <p:cNvPr id="22" name="Text 19"/>
          <p:cNvSpPr txBox="1"/>
          <p:nvPr/>
        </p:nvSpPr>
        <p:spPr>
          <a:xfrm>
            <a:off x="1097280" y="3986784"/>
            <a:ext cx="3383280" cy="411480"/>
          </a:xfrm>
          <a:prstGeom prst="rect">
            <a:avLst/>
          </a:prstGeom>
          <a:noFill/>
          <a:ln/>
        </p:spPr>
        <p:txBody>
          <a:bodyPr wrap="square" lIns="0" tIns="0" rIns="0" bIns="0" rtlCol="0" anchor="t"/>
          <a:lstStyle/>
          <a:p>
            <a:pPr indent="0" marL="0">
              <a:buNone/>
            </a:pPr>
            <a:r>
              <a:rPr lang="en-US" sz="1150" dirty="0">
                <a:solidFill>
                  <a:srgbClr val="5E6778"/>
                </a:solidFill>
                <a:latin typeface="Calibri" pitchFamily="34" charset="0"/>
                <a:ea typeface="Calibri" pitchFamily="34" charset="-122"/>
                <a:cs typeface="Calibri" pitchFamily="34" charset="-120"/>
              </a:rPr>
              <a:t>More myocardium lost, higher risk of heart failure and death.</a:t>
            </a:r>
            <a:endParaRPr lang="en-US" sz="1150" dirty="0"/>
          </a:p>
        </p:txBody>
      </p:sp>
      <p:sp>
        <p:nvSpPr>
          <p:cNvPr id="23" name="Shape 20"/>
          <p:cNvSpPr/>
          <p:nvPr/>
        </p:nvSpPr>
        <p:spPr>
          <a:xfrm>
            <a:off x="4846320" y="1371600"/>
            <a:ext cx="3840480" cy="3108960"/>
          </a:xfrm>
          <a:prstGeom prst="roundRect">
            <a:avLst>
              <a:gd name="adj" fmla="val 3529"/>
            </a:avLst>
          </a:prstGeom>
          <a:solidFill>
            <a:srgbClr val="F6F7F9"/>
          </a:solidFill>
          <a:ln w="12700">
            <a:solidFill>
              <a:srgbClr val="F6F7F9"/>
            </a:solidFill>
            <a:prstDash val="solid"/>
          </a:ln>
        </p:spPr>
      </p:sp>
      <p:sp>
        <p:nvSpPr>
          <p:cNvPr id="24" name="Text 21"/>
          <p:cNvSpPr txBox="1"/>
          <p:nvPr/>
        </p:nvSpPr>
        <p:spPr>
          <a:xfrm>
            <a:off x="5074920" y="1508760"/>
            <a:ext cx="3474720" cy="320040"/>
          </a:xfrm>
          <a:prstGeom prst="rect">
            <a:avLst/>
          </a:prstGeom>
          <a:noFill/>
          <a:ln/>
        </p:spPr>
        <p:txBody>
          <a:bodyPr wrap="square" lIns="0" tIns="0" rIns="0" bIns="0" rtlCol="0" anchor="ctr"/>
          <a:lstStyle/>
          <a:p>
            <a:pPr indent="0" marL="0">
              <a:buNone/>
            </a:pPr>
            <a:r>
              <a:rPr lang="en-US" sz="1500" b="1" dirty="0">
                <a:solidFill>
                  <a:srgbClr val="1B2230"/>
                </a:solidFill>
                <a:latin typeface="Cambria" pitchFamily="34" charset="0"/>
                <a:ea typeface="Cambria" pitchFamily="34" charset="-122"/>
                <a:cs typeface="Cambria" pitchFamily="34" charset="-120"/>
              </a:rPr>
              <a:t>Aspiration thrombectomy already failed</a:t>
            </a:r>
            <a:endParaRPr lang="en-US" sz="1500" dirty="0"/>
          </a:p>
        </p:txBody>
      </p:sp>
      <p:pic>
        <p:nvPicPr>
          <p:cNvPr id="25" name="Image 1" descr="preencoded.png">    </p:cNvPr>
          <p:cNvPicPr>
            <a:picLocks noChangeAspect="1"/>
          </p:cNvPicPr>
          <p:nvPr/>
        </p:nvPicPr>
        <p:blipFill>
          <a:blip r:embed="rId2"/>
          <a:stretch>
            <a:fillRect/>
          </a:stretch>
        </p:blipFill>
        <p:spPr>
          <a:xfrm>
            <a:off x="5074920" y="2011680"/>
            <a:ext cx="292608" cy="292608"/>
          </a:xfrm>
          <a:prstGeom prst="rect">
            <a:avLst/>
          </a:prstGeom>
        </p:spPr>
      </p:pic>
      <p:sp>
        <p:nvSpPr>
          <p:cNvPr id="26" name="Text 22"/>
          <p:cNvSpPr txBox="1"/>
          <p:nvPr/>
        </p:nvSpPr>
        <p:spPr>
          <a:xfrm>
            <a:off x="5532120" y="196596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TASTE</a:t>
            </a:r>
            <a:endParaRPr lang="en-US" sz="1300" dirty="0"/>
          </a:p>
        </p:txBody>
      </p:sp>
      <p:sp>
        <p:nvSpPr>
          <p:cNvPr id="27" name="Text 23"/>
          <p:cNvSpPr txBox="1"/>
          <p:nvPr/>
        </p:nvSpPr>
        <p:spPr>
          <a:xfrm>
            <a:off x="5532120" y="222199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n = 7,244 · no mortality benefit from routine aspiration</a:t>
            </a:r>
            <a:endParaRPr lang="en-US" sz="1100" dirty="0"/>
          </a:p>
        </p:txBody>
      </p:sp>
      <p:pic>
        <p:nvPicPr>
          <p:cNvPr id="28" name="Image 2" descr="preencoded.png">    </p:cNvPr>
          <p:cNvPicPr>
            <a:picLocks noChangeAspect="1"/>
          </p:cNvPicPr>
          <p:nvPr/>
        </p:nvPicPr>
        <p:blipFill>
          <a:blip r:embed="rId3"/>
          <a:stretch>
            <a:fillRect/>
          </a:stretch>
        </p:blipFill>
        <p:spPr>
          <a:xfrm>
            <a:off x="5074920" y="2788920"/>
            <a:ext cx="292608" cy="292608"/>
          </a:xfrm>
          <a:prstGeom prst="rect">
            <a:avLst/>
          </a:prstGeom>
        </p:spPr>
      </p:pic>
      <p:sp>
        <p:nvSpPr>
          <p:cNvPr id="29" name="Text 24"/>
          <p:cNvSpPr txBox="1"/>
          <p:nvPr/>
        </p:nvSpPr>
        <p:spPr>
          <a:xfrm>
            <a:off x="5532120" y="274320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TOTAL</a:t>
            </a:r>
            <a:endParaRPr lang="en-US" sz="1300" dirty="0"/>
          </a:p>
        </p:txBody>
      </p:sp>
      <p:sp>
        <p:nvSpPr>
          <p:cNvPr id="30" name="Text 25"/>
          <p:cNvSpPr txBox="1"/>
          <p:nvPr/>
        </p:nvSpPr>
        <p:spPr>
          <a:xfrm>
            <a:off x="5532120" y="299923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n = 10,732 · no clinical benefit; excess stroke at 30 days</a:t>
            </a:r>
            <a:endParaRPr lang="en-US" sz="1100" dirty="0"/>
          </a:p>
        </p:txBody>
      </p:sp>
      <p:pic>
        <p:nvPicPr>
          <p:cNvPr id="31" name="Image 3" descr="preencoded.png">    </p:cNvPr>
          <p:cNvPicPr>
            <a:picLocks noChangeAspect="1"/>
          </p:cNvPicPr>
          <p:nvPr/>
        </p:nvPicPr>
        <p:blipFill>
          <a:blip r:embed="rId4"/>
          <a:stretch>
            <a:fillRect/>
          </a:stretch>
        </p:blipFill>
        <p:spPr>
          <a:xfrm>
            <a:off x="5074920" y="3566160"/>
            <a:ext cx="292608" cy="292608"/>
          </a:xfrm>
          <a:prstGeom prst="rect">
            <a:avLst/>
          </a:prstGeom>
        </p:spPr>
      </p:pic>
      <p:sp>
        <p:nvSpPr>
          <p:cNvPr id="32" name="Text 26"/>
          <p:cNvSpPr txBox="1"/>
          <p:nvPr/>
        </p:nvSpPr>
        <p:spPr>
          <a:xfrm>
            <a:off x="5532120" y="3520440"/>
            <a:ext cx="3017520" cy="274320"/>
          </a:xfrm>
          <a:prstGeom prst="rect">
            <a:avLst/>
          </a:prstGeom>
          <a:noFill/>
          <a:ln/>
        </p:spPr>
        <p:txBody>
          <a:bodyPr wrap="square" lIns="0" tIns="0" rIns="0" bIns="0" rtlCol="0" anchor="ctr"/>
          <a:lstStyle/>
          <a:p>
            <a:pPr indent="0" marL="0">
              <a:buNone/>
            </a:pPr>
            <a:r>
              <a:rPr lang="en-US" sz="1300" b="1" dirty="0">
                <a:solidFill>
                  <a:srgbClr val="E5383B"/>
                </a:solidFill>
                <a:latin typeface="Calibri" pitchFamily="34" charset="0"/>
                <a:ea typeface="Calibri" pitchFamily="34" charset="-122"/>
                <a:cs typeface="Calibri" pitchFamily="34" charset="-120"/>
              </a:rPr>
              <a:t>Guidelines</a:t>
            </a:r>
            <a:endParaRPr lang="en-US" sz="1300" dirty="0"/>
          </a:p>
        </p:txBody>
      </p:sp>
      <p:sp>
        <p:nvSpPr>
          <p:cNvPr id="33" name="Text 27"/>
          <p:cNvSpPr txBox="1"/>
          <p:nvPr/>
        </p:nvSpPr>
        <p:spPr>
          <a:xfrm>
            <a:off x="5532120" y="3776472"/>
            <a:ext cx="3017520" cy="457200"/>
          </a:xfrm>
          <a:prstGeom prst="rect">
            <a:avLst/>
          </a:prstGeom>
          <a:noFill/>
          <a:ln/>
        </p:spPr>
        <p:txBody>
          <a:bodyPr wrap="square" lIns="0" tIns="0" rIns="0" bIns="0" rtlCol="0" anchor="t"/>
          <a:lstStyle/>
          <a:p>
            <a:pPr indent="0" marL="0">
              <a:buNone/>
            </a:pPr>
            <a:r>
              <a:rPr lang="en-US" sz="1100" dirty="0">
                <a:solidFill>
                  <a:srgbClr val="1B2230"/>
                </a:solidFill>
                <a:latin typeface="Calibri" pitchFamily="34" charset="0"/>
                <a:ea typeface="Calibri" pitchFamily="34" charset="-122"/>
                <a:cs typeface="Calibri" pitchFamily="34" charset="-120"/>
              </a:rPr>
              <a:t>Routine thrombus aspiration not recommended (ESC Class III)</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03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THE INTERVENTION</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enVast: a stent-retriever built for coronary clot</a:t>
            </a:r>
            <a:endParaRPr lang="en-US" sz="3000" dirty="0"/>
          </a:p>
        </p:txBody>
      </p:sp>
      <p:sp>
        <p:nvSpPr>
          <p:cNvPr id="7" name="Text 4"/>
          <p:cNvSpPr txBox="1"/>
          <p:nvPr/>
        </p:nvSpPr>
        <p:spPr>
          <a:xfrm>
            <a:off x="457200" y="1280160"/>
            <a:ext cx="8229600" cy="548640"/>
          </a:xfrm>
          <a:prstGeom prst="rect">
            <a:avLst/>
          </a:prstGeom>
          <a:noFill/>
          <a:ln/>
        </p:spPr>
        <p:txBody>
          <a:bodyPr wrap="square" lIns="0" tIns="0" rIns="0" bIns="0" rtlCol="0" anchor="t"/>
          <a:lstStyle/>
          <a:p>
            <a:pPr indent="0" marL="0">
              <a:buNone/>
            </a:pPr>
            <a:r>
              <a:rPr lang="en-US" sz="1300" dirty="0">
                <a:solidFill>
                  <a:srgbClr val="5E6778"/>
                </a:solidFill>
                <a:latin typeface="Calibri" pitchFamily="34" charset="0"/>
                <a:ea typeface="Calibri" pitchFamily="34" charset="-122"/>
                <a:cs typeface="Calibri" pitchFamily="34" charset="-120"/>
              </a:rPr>
              <a:t>Developed by Vesalio from its NeVa neurovascular thrombectomy platform, enVast captures and removes thrombus mechanically before the operator balloons or stents the culprit lesion.</a:t>
            </a:r>
            <a:endParaRPr lang="en-US" sz="1300" dirty="0"/>
          </a:p>
        </p:txBody>
      </p:sp>
      <p:sp>
        <p:nvSpPr>
          <p:cNvPr id="8" name="Shape 5"/>
          <p:cNvSpPr/>
          <p:nvPr/>
        </p:nvSpPr>
        <p:spPr>
          <a:xfrm>
            <a:off x="45720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9" name="Shape 6"/>
          <p:cNvSpPr/>
          <p:nvPr/>
        </p:nvSpPr>
        <p:spPr>
          <a:xfrm>
            <a:off x="731520" y="2286000"/>
            <a:ext cx="640080" cy="640080"/>
          </a:xfrm>
          <a:prstGeom prst="ellipse">
            <a:avLst/>
          </a:prstGeom>
          <a:solidFill>
            <a:srgbClr val="E5383B"/>
          </a:solidFill>
          <a:ln w="12700">
            <a:solidFill>
              <a:srgbClr val="E5383B"/>
            </a:solidFill>
            <a:prstDash val="solid"/>
          </a:ln>
        </p:spPr>
      </p:sp>
      <p:pic>
        <p:nvPicPr>
          <p:cNvPr id="10" name="Image 1" descr="preencoded.png">    </p:cNvPr>
          <p:cNvPicPr>
            <a:picLocks noChangeAspect="1"/>
          </p:cNvPicPr>
          <p:nvPr/>
        </p:nvPicPr>
        <p:blipFill>
          <a:blip r:embed="rId2"/>
          <a:stretch>
            <a:fillRect/>
          </a:stretch>
        </p:blipFill>
        <p:spPr>
          <a:xfrm>
            <a:off x="897941" y="2452421"/>
            <a:ext cx="307238" cy="307238"/>
          </a:xfrm>
          <a:prstGeom prst="rect">
            <a:avLst/>
          </a:prstGeom>
        </p:spPr>
      </p:pic>
      <p:sp>
        <p:nvSpPr>
          <p:cNvPr id="11" name="Text 7"/>
          <p:cNvSpPr txBox="1"/>
          <p:nvPr/>
        </p:nvSpPr>
        <p:spPr>
          <a:xfrm>
            <a:off x="150876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1</a:t>
            </a:r>
            <a:endParaRPr lang="en-US" sz="1000" dirty="0"/>
          </a:p>
        </p:txBody>
      </p:sp>
      <p:sp>
        <p:nvSpPr>
          <p:cNvPr id="12" name="Text 8"/>
          <p:cNvSpPr txBox="1"/>
          <p:nvPr/>
        </p:nvSpPr>
        <p:spPr>
          <a:xfrm>
            <a:off x="73152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Cross &amp; deploy</a:t>
            </a:r>
            <a:endParaRPr lang="en-US" sz="1700" dirty="0"/>
          </a:p>
        </p:txBody>
      </p:sp>
      <p:sp>
        <p:nvSpPr>
          <p:cNvPr id="13" name="Text 9"/>
          <p:cNvSpPr txBox="1"/>
          <p:nvPr/>
        </p:nvSpPr>
        <p:spPr>
          <a:xfrm>
            <a:off x="73152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Wire the infarct-related artery and deploy the retriever across the thrombus.</a:t>
            </a:r>
            <a:endParaRPr lang="en-US" sz="1200" dirty="0"/>
          </a:p>
        </p:txBody>
      </p:sp>
      <p:pic>
        <p:nvPicPr>
          <p:cNvPr id="14" name="Image 2" descr="preencoded.png">    </p:cNvPr>
          <p:cNvPicPr>
            <a:picLocks noChangeAspect="1"/>
          </p:cNvPicPr>
          <p:nvPr/>
        </p:nvPicPr>
        <p:blipFill>
          <a:blip r:embed="rId3"/>
          <a:stretch>
            <a:fillRect/>
          </a:stretch>
        </p:blipFill>
        <p:spPr>
          <a:xfrm>
            <a:off x="3044952" y="3108960"/>
            <a:ext cx="228600" cy="228600"/>
          </a:xfrm>
          <a:prstGeom prst="rect">
            <a:avLst/>
          </a:prstGeom>
        </p:spPr>
      </p:pic>
      <p:sp>
        <p:nvSpPr>
          <p:cNvPr id="15" name="Shape 10"/>
          <p:cNvSpPr/>
          <p:nvPr/>
        </p:nvSpPr>
        <p:spPr>
          <a:xfrm>
            <a:off x="333756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16" name="Shape 11"/>
          <p:cNvSpPr/>
          <p:nvPr/>
        </p:nvSpPr>
        <p:spPr>
          <a:xfrm>
            <a:off x="3611880" y="2286000"/>
            <a:ext cx="640080" cy="640080"/>
          </a:xfrm>
          <a:prstGeom prst="ellipse">
            <a:avLst/>
          </a:prstGeom>
          <a:solidFill>
            <a:srgbClr val="E5383B"/>
          </a:solidFill>
          <a:ln w="12700">
            <a:solidFill>
              <a:srgbClr val="E5383B"/>
            </a:solidFill>
            <a:prstDash val="solid"/>
          </a:ln>
        </p:spPr>
      </p:sp>
      <p:pic>
        <p:nvPicPr>
          <p:cNvPr id="17" name="Image 3" descr="preencoded.png">    </p:cNvPr>
          <p:cNvPicPr>
            <a:picLocks noChangeAspect="1"/>
          </p:cNvPicPr>
          <p:nvPr/>
        </p:nvPicPr>
        <p:blipFill>
          <a:blip r:embed="rId4"/>
          <a:stretch>
            <a:fillRect/>
          </a:stretch>
        </p:blipFill>
        <p:spPr>
          <a:xfrm>
            <a:off x="3778301" y="2452421"/>
            <a:ext cx="307238" cy="307238"/>
          </a:xfrm>
          <a:prstGeom prst="rect">
            <a:avLst/>
          </a:prstGeom>
        </p:spPr>
      </p:pic>
      <p:sp>
        <p:nvSpPr>
          <p:cNvPr id="18" name="Text 12"/>
          <p:cNvSpPr txBox="1"/>
          <p:nvPr/>
        </p:nvSpPr>
        <p:spPr>
          <a:xfrm>
            <a:off x="438912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2</a:t>
            </a:r>
            <a:endParaRPr lang="en-US" sz="1000" dirty="0"/>
          </a:p>
        </p:txBody>
      </p:sp>
      <p:sp>
        <p:nvSpPr>
          <p:cNvPr id="19" name="Text 13"/>
          <p:cNvSpPr txBox="1"/>
          <p:nvPr/>
        </p:nvSpPr>
        <p:spPr>
          <a:xfrm>
            <a:off x="361188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Capture</a:t>
            </a:r>
            <a:endParaRPr lang="en-US" sz="1700" dirty="0"/>
          </a:p>
        </p:txBody>
      </p:sp>
      <p:sp>
        <p:nvSpPr>
          <p:cNvPr id="20" name="Text 14"/>
          <p:cNvSpPr txBox="1"/>
          <p:nvPr/>
        </p:nvSpPr>
        <p:spPr>
          <a:xfrm>
            <a:off x="361188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The clot is engaged and held within the device’s struts.</a:t>
            </a:r>
            <a:endParaRPr lang="en-US" sz="1200" dirty="0"/>
          </a:p>
        </p:txBody>
      </p:sp>
      <p:pic>
        <p:nvPicPr>
          <p:cNvPr id="21" name="Image 4" descr="preencoded.png">    </p:cNvPr>
          <p:cNvPicPr>
            <a:picLocks noChangeAspect="1"/>
          </p:cNvPicPr>
          <p:nvPr/>
        </p:nvPicPr>
        <p:blipFill>
          <a:blip r:embed="rId5"/>
          <a:stretch>
            <a:fillRect/>
          </a:stretch>
        </p:blipFill>
        <p:spPr>
          <a:xfrm>
            <a:off x="5925312" y="3108960"/>
            <a:ext cx="228600" cy="228600"/>
          </a:xfrm>
          <a:prstGeom prst="rect">
            <a:avLst/>
          </a:prstGeom>
        </p:spPr>
      </p:pic>
      <p:sp>
        <p:nvSpPr>
          <p:cNvPr id="22" name="Shape 15"/>
          <p:cNvSpPr/>
          <p:nvPr/>
        </p:nvSpPr>
        <p:spPr>
          <a:xfrm>
            <a:off x="6217920" y="2057400"/>
            <a:ext cx="2514600" cy="2331720"/>
          </a:xfrm>
          <a:prstGeom prst="roundRect">
            <a:avLst>
              <a:gd name="adj" fmla="val 4706"/>
            </a:avLst>
          </a:prstGeom>
          <a:solidFill>
            <a:srgbClr val="FFFFFF"/>
          </a:solidFill>
          <a:ln w="12700">
            <a:solidFill>
              <a:srgbClr val="E4E7EC"/>
            </a:solidFill>
            <a:prstDash val="solid"/>
          </a:ln>
          <a:effectLst>
            <a:outerShdw sx="100000" sy="100000" kx="0" ky="0" algn="bl" rotWithShape="0" blurRad="101600" dist="25400" dir="5400000">
              <a:srgbClr val="000000">
                <a:alpha val="8000"/>
              </a:srgbClr>
            </a:outerShdw>
          </a:effectLst>
        </p:spPr>
      </p:sp>
      <p:sp>
        <p:nvSpPr>
          <p:cNvPr id="23" name="Shape 16"/>
          <p:cNvSpPr/>
          <p:nvPr/>
        </p:nvSpPr>
        <p:spPr>
          <a:xfrm>
            <a:off x="6492240" y="2286000"/>
            <a:ext cx="640080" cy="640080"/>
          </a:xfrm>
          <a:prstGeom prst="ellipse">
            <a:avLst/>
          </a:prstGeom>
          <a:solidFill>
            <a:srgbClr val="1FA99C"/>
          </a:solidFill>
          <a:ln w="12700">
            <a:solidFill>
              <a:srgbClr val="1FA99C"/>
            </a:solidFill>
            <a:prstDash val="solid"/>
          </a:ln>
        </p:spPr>
      </p:sp>
      <p:pic>
        <p:nvPicPr>
          <p:cNvPr id="24" name="Image 5" descr="preencoded.png">    </p:cNvPr>
          <p:cNvPicPr>
            <a:picLocks noChangeAspect="1"/>
          </p:cNvPicPr>
          <p:nvPr/>
        </p:nvPicPr>
        <p:blipFill>
          <a:blip r:embed="rId6"/>
          <a:stretch>
            <a:fillRect/>
          </a:stretch>
        </p:blipFill>
        <p:spPr>
          <a:xfrm>
            <a:off x="6658661" y="2452421"/>
            <a:ext cx="307238" cy="307238"/>
          </a:xfrm>
          <a:prstGeom prst="rect">
            <a:avLst/>
          </a:prstGeom>
        </p:spPr>
      </p:pic>
      <p:sp>
        <p:nvSpPr>
          <p:cNvPr id="25" name="Text 17"/>
          <p:cNvSpPr txBox="1"/>
          <p:nvPr/>
        </p:nvSpPr>
        <p:spPr>
          <a:xfrm>
            <a:off x="7269480" y="2395728"/>
            <a:ext cx="1280160" cy="274320"/>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STEP 3</a:t>
            </a:r>
            <a:endParaRPr lang="en-US" sz="1000" dirty="0"/>
          </a:p>
        </p:txBody>
      </p:sp>
      <p:sp>
        <p:nvSpPr>
          <p:cNvPr id="26" name="Text 18"/>
          <p:cNvSpPr txBox="1"/>
          <p:nvPr/>
        </p:nvSpPr>
        <p:spPr>
          <a:xfrm>
            <a:off x="6492240" y="3108960"/>
            <a:ext cx="2057400" cy="320040"/>
          </a:xfrm>
          <a:prstGeom prst="rect">
            <a:avLst/>
          </a:prstGeom>
          <a:noFill/>
          <a:ln/>
        </p:spPr>
        <p:txBody>
          <a:bodyPr wrap="square" lIns="0" tIns="0" rIns="0" bIns="0" rtlCol="0" anchor="ctr"/>
          <a:lstStyle/>
          <a:p>
            <a:pPr indent="0" marL="0">
              <a:buNone/>
            </a:pPr>
            <a:r>
              <a:rPr lang="en-US" sz="1700" b="1" dirty="0">
                <a:solidFill>
                  <a:srgbClr val="1B2230"/>
                </a:solidFill>
                <a:latin typeface="Cambria" pitchFamily="34" charset="0"/>
                <a:ea typeface="Cambria" pitchFamily="34" charset="-122"/>
                <a:cs typeface="Cambria" pitchFamily="34" charset="-120"/>
              </a:rPr>
              <a:t>Retrieve, then PCI</a:t>
            </a:r>
            <a:endParaRPr lang="en-US" sz="1700" dirty="0"/>
          </a:p>
        </p:txBody>
      </p:sp>
      <p:sp>
        <p:nvSpPr>
          <p:cNvPr id="27" name="Text 19"/>
          <p:cNvSpPr txBox="1"/>
          <p:nvPr/>
        </p:nvSpPr>
        <p:spPr>
          <a:xfrm>
            <a:off x="6492240" y="3474720"/>
            <a:ext cx="2057400" cy="777240"/>
          </a:xfrm>
          <a:prstGeom prst="rect">
            <a:avLst/>
          </a:prstGeom>
          <a:noFill/>
          <a:ln/>
        </p:spPr>
        <p:txBody>
          <a:bodyPr wrap="square" lIns="0" tIns="0" rIns="0" bIns="0" rtlCol="0" anchor="t"/>
          <a:lstStyle/>
          <a:p>
            <a:pPr indent="0" marL="0">
              <a:buNone/>
            </a:pPr>
            <a:r>
              <a:rPr lang="en-US" sz="1200" dirty="0">
                <a:solidFill>
                  <a:srgbClr val="5E6778"/>
                </a:solidFill>
                <a:latin typeface="Calibri" pitchFamily="34" charset="0"/>
                <a:ea typeface="Calibri" pitchFamily="34" charset="-122"/>
                <a:cs typeface="Calibri" pitchFamily="34" charset="-120"/>
              </a:rPr>
              <a:t>Withdraw device and clot together, then complete conventional PCI.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04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TRIAL DESIGN</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Prospective, multicentre, randomised 1 : 1</a:t>
            </a:r>
            <a:endParaRPr lang="en-US" sz="3000" dirty="0"/>
          </a:p>
        </p:txBody>
      </p:sp>
      <p:sp>
        <p:nvSpPr>
          <p:cNvPr id="7" name="Shape 4"/>
          <p:cNvSpPr/>
          <p:nvPr/>
        </p:nvSpPr>
        <p:spPr>
          <a:xfrm>
            <a:off x="457200" y="1371600"/>
            <a:ext cx="5120640" cy="640080"/>
          </a:xfrm>
          <a:prstGeom prst="roundRect">
            <a:avLst>
              <a:gd name="adj" fmla="val 14286"/>
            </a:avLst>
          </a:prstGeom>
          <a:solidFill>
            <a:srgbClr val="0E1117"/>
          </a:solidFill>
          <a:ln w="12700">
            <a:solidFill>
              <a:srgbClr val="0E1117"/>
            </a:solidFill>
            <a:prstDash val="solid"/>
          </a:ln>
        </p:spPr>
      </p:sp>
      <p:pic>
        <p:nvPicPr>
          <p:cNvPr id="8" name="Image 1" descr="preencoded.png">    </p:cNvPr>
          <p:cNvPicPr>
            <a:picLocks noChangeAspect="1"/>
          </p:cNvPicPr>
          <p:nvPr/>
        </p:nvPicPr>
        <p:blipFill>
          <a:blip r:embed="rId2"/>
          <a:stretch>
            <a:fillRect/>
          </a:stretch>
        </p:blipFill>
        <p:spPr>
          <a:xfrm>
            <a:off x="640080" y="1517904"/>
            <a:ext cx="347472" cy="347472"/>
          </a:xfrm>
          <a:prstGeom prst="rect">
            <a:avLst/>
          </a:prstGeom>
        </p:spPr>
      </p:pic>
      <p:sp>
        <p:nvSpPr>
          <p:cNvPr id="9" name="Text 5"/>
          <p:cNvSpPr txBox="1"/>
          <p:nvPr/>
        </p:nvSpPr>
        <p:spPr>
          <a:xfrm>
            <a:off x="1143000" y="1371600"/>
            <a:ext cx="4297680" cy="6400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154 STEMI patients</a:t>
            </a:r>
            <a:endParaRPr lang="en-US" sz="1500" dirty="0"/>
          </a:p>
          <a:p>
            <a:pPr indent="0" marL="0">
              <a:buNone/>
            </a:pPr>
            <a:r>
              <a:rPr lang="en-US" sz="1100" dirty="0">
                <a:solidFill>
                  <a:srgbClr val="F4B6BB"/>
                </a:solidFill>
                <a:latin typeface="Calibri" pitchFamily="34" charset="0"/>
                <a:ea typeface="Calibri" pitchFamily="34" charset="-122"/>
                <a:cs typeface="Calibri" pitchFamily="34" charset="-120"/>
              </a:rPr>
              <a:t>large thrombus burden · 11 centres</a:t>
            </a:r>
            <a:endParaRPr lang="en-US" sz="1500" dirty="0"/>
          </a:p>
        </p:txBody>
      </p:sp>
      <p:pic>
        <p:nvPicPr>
          <p:cNvPr id="10" name="Image 2" descr="preencoded.png">    </p:cNvPr>
          <p:cNvPicPr>
            <a:picLocks noChangeAspect="1"/>
          </p:cNvPicPr>
          <p:nvPr/>
        </p:nvPicPr>
        <p:blipFill>
          <a:blip r:embed="rId3"/>
          <a:stretch>
            <a:fillRect/>
          </a:stretch>
        </p:blipFill>
        <p:spPr>
          <a:xfrm>
            <a:off x="2907792" y="2075688"/>
            <a:ext cx="219456" cy="219456"/>
          </a:xfrm>
          <a:prstGeom prst="rect">
            <a:avLst/>
          </a:prstGeom>
        </p:spPr>
      </p:pic>
      <p:sp>
        <p:nvSpPr>
          <p:cNvPr id="11" name="Shape 6"/>
          <p:cNvSpPr/>
          <p:nvPr/>
        </p:nvSpPr>
        <p:spPr>
          <a:xfrm>
            <a:off x="1828800" y="2350008"/>
            <a:ext cx="2377440" cy="384048"/>
          </a:xfrm>
          <a:prstGeom prst="roundRect">
            <a:avLst>
              <a:gd name="adj" fmla="val 50000"/>
            </a:avLst>
          </a:prstGeom>
          <a:solidFill>
            <a:srgbClr val="E5383B"/>
          </a:solidFill>
          <a:ln w="12700">
            <a:solidFill>
              <a:srgbClr val="E5383B"/>
            </a:solidFill>
            <a:prstDash val="solid"/>
          </a:ln>
        </p:spPr>
      </p:sp>
      <p:sp>
        <p:nvSpPr>
          <p:cNvPr id="12" name="Text 7"/>
          <p:cNvSpPr txBox="1"/>
          <p:nvPr/>
        </p:nvSpPr>
        <p:spPr>
          <a:xfrm>
            <a:off x="1828800" y="2350008"/>
            <a:ext cx="2377440" cy="384048"/>
          </a:xfrm>
          <a:prstGeom prst="rect">
            <a:avLst/>
          </a:prstGeom>
          <a:noFill/>
          <a:ln/>
        </p:spPr>
        <p:txBody>
          <a:bodyPr wrap="square" lIns="0" tIns="0" rIns="0" bIns="0" rtlCol="0" anchor="ctr"/>
          <a:lstStyle/>
          <a:p>
            <a:pPr algn="ctr" indent="0" marL="0">
              <a:buNone/>
            </a:pPr>
            <a:r>
              <a:rPr lang="en-US" sz="1100" b="1" spc="300" kern="0" dirty="0">
                <a:solidFill>
                  <a:srgbClr val="FFFFFF"/>
                </a:solidFill>
                <a:latin typeface="Calibri" pitchFamily="34" charset="0"/>
                <a:ea typeface="Calibri" pitchFamily="34" charset="-122"/>
                <a:cs typeface="Calibri" pitchFamily="34" charset="-120"/>
              </a:rPr>
              <a:t>RANDOMISED 1 : 1</a:t>
            </a:r>
            <a:endParaRPr lang="en-US" sz="1100" dirty="0"/>
          </a:p>
        </p:txBody>
      </p:sp>
      <p:pic>
        <p:nvPicPr>
          <p:cNvPr id="13" name="Image 3" descr="preencoded.png">    </p:cNvPr>
          <p:cNvPicPr>
            <a:picLocks noChangeAspect="1"/>
          </p:cNvPicPr>
          <p:nvPr/>
        </p:nvPicPr>
        <p:blipFill>
          <a:blip r:embed="rId4"/>
          <a:stretch>
            <a:fillRect/>
          </a:stretch>
        </p:blipFill>
        <p:spPr>
          <a:xfrm>
            <a:off x="1600200" y="2798064"/>
            <a:ext cx="219456" cy="219456"/>
          </a:xfrm>
          <a:prstGeom prst="rect">
            <a:avLst/>
          </a:prstGeom>
        </p:spPr>
      </p:pic>
      <p:pic>
        <p:nvPicPr>
          <p:cNvPr id="14" name="Image 4" descr="preencoded.png">    </p:cNvPr>
          <p:cNvPicPr>
            <a:picLocks noChangeAspect="1"/>
          </p:cNvPicPr>
          <p:nvPr/>
        </p:nvPicPr>
        <p:blipFill>
          <a:blip r:embed="rId5"/>
          <a:stretch>
            <a:fillRect/>
          </a:stretch>
        </p:blipFill>
        <p:spPr>
          <a:xfrm>
            <a:off x="4215384" y="2798064"/>
            <a:ext cx="219456" cy="219456"/>
          </a:xfrm>
          <a:prstGeom prst="rect">
            <a:avLst/>
          </a:prstGeom>
        </p:spPr>
      </p:pic>
      <p:sp>
        <p:nvSpPr>
          <p:cNvPr id="15" name="Shape 8"/>
          <p:cNvSpPr/>
          <p:nvPr/>
        </p:nvSpPr>
        <p:spPr>
          <a:xfrm>
            <a:off x="457200" y="3081528"/>
            <a:ext cx="2468880" cy="731520"/>
          </a:xfrm>
          <a:prstGeom prst="roundRect">
            <a:avLst>
              <a:gd name="adj" fmla="val 12500"/>
            </a:avLst>
          </a:prstGeom>
          <a:solidFill>
            <a:srgbClr val="1FA99C"/>
          </a:solidFill>
          <a:ln w="12700">
            <a:solidFill>
              <a:srgbClr val="1FA99C"/>
            </a:solidFill>
            <a:prstDash val="solid"/>
          </a:ln>
        </p:spPr>
      </p:sp>
      <p:sp>
        <p:nvSpPr>
          <p:cNvPr id="16" name="Text 9"/>
          <p:cNvSpPr txBox="1"/>
          <p:nvPr/>
        </p:nvSpPr>
        <p:spPr>
          <a:xfrm>
            <a:off x="640080" y="3081528"/>
            <a:ext cx="2103120" cy="7315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enVast thrombectomy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then conventional PCI</a:t>
            </a:r>
            <a:endParaRPr lang="en-US" sz="1400" dirty="0"/>
          </a:p>
        </p:txBody>
      </p:sp>
      <p:sp>
        <p:nvSpPr>
          <p:cNvPr id="17" name="Shape 10"/>
          <p:cNvSpPr/>
          <p:nvPr/>
        </p:nvSpPr>
        <p:spPr>
          <a:xfrm>
            <a:off x="3108960" y="3081528"/>
            <a:ext cx="2468880" cy="731520"/>
          </a:xfrm>
          <a:prstGeom prst="roundRect">
            <a:avLst>
              <a:gd name="adj" fmla="val 12500"/>
            </a:avLst>
          </a:prstGeom>
          <a:solidFill>
            <a:srgbClr val="8A93A6"/>
          </a:solidFill>
          <a:ln w="12700">
            <a:solidFill>
              <a:srgbClr val="8A93A6"/>
            </a:solidFill>
            <a:prstDash val="solid"/>
          </a:ln>
        </p:spPr>
      </p:sp>
      <p:sp>
        <p:nvSpPr>
          <p:cNvPr id="18" name="Text 11"/>
          <p:cNvSpPr txBox="1"/>
          <p:nvPr/>
        </p:nvSpPr>
        <p:spPr>
          <a:xfrm>
            <a:off x="3291840" y="3081528"/>
            <a:ext cx="2103120" cy="7315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Standard of care</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conventional primary PCI</a:t>
            </a:r>
            <a:endParaRPr lang="en-US" sz="1400" dirty="0"/>
          </a:p>
        </p:txBody>
      </p:sp>
      <p:sp>
        <p:nvSpPr>
          <p:cNvPr id="19" name="Text 12"/>
          <p:cNvSpPr txBox="1"/>
          <p:nvPr/>
        </p:nvSpPr>
        <p:spPr>
          <a:xfrm>
            <a:off x="457200" y="3977640"/>
            <a:ext cx="5120640" cy="320040"/>
          </a:xfrm>
          <a:prstGeom prst="rect">
            <a:avLst/>
          </a:prstGeom>
          <a:noFill/>
          <a:ln/>
        </p:spPr>
        <p:txBody>
          <a:bodyPr wrap="square" lIns="0" tIns="0" rIns="0" bIns="0" rtlCol="0" anchor="ctr"/>
          <a:lstStyle/>
          <a:p>
            <a:pPr algn="ctr" indent="0" marL="0">
              <a:buNone/>
            </a:pPr>
            <a:r>
              <a:rPr lang="en-US" sz="1150" i="1" dirty="0">
                <a:solidFill>
                  <a:srgbClr val="5E6778"/>
                </a:solidFill>
                <a:latin typeface="Calibri" pitchFamily="34" charset="0"/>
                <a:ea typeface="Calibri" pitchFamily="34" charset="-122"/>
                <a:cs typeface="Calibri" pitchFamily="34" charset="-120"/>
              </a:rPr>
              <a:t>Follow-up: CK-MB AUC  ·  CMR at day 3  ·  30-day clinical events</a:t>
            </a:r>
            <a:endParaRPr lang="en-US" sz="1150" dirty="0"/>
          </a:p>
        </p:txBody>
      </p:sp>
      <p:sp>
        <p:nvSpPr>
          <p:cNvPr id="20" name="Shape 13"/>
          <p:cNvSpPr/>
          <p:nvPr/>
        </p:nvSpPr>
        <p:spPr>
          <a:xfrm>
            <a:off x="5943600" y="1371600"/>
            <a:ext cx="2743200" cy="2926080"/>
          </a:xfrm>
          <a:prstGeom prst="roundRect">
            <a:avLst>
              <a:gd name="adj" fmla="val 4000"/>
            </a:avLst>
          </a:prstGeom>
          <a:solidFill>
            <a:srgbClr val="F6F7F9"/>
          </a:solidFill>
          <a:ln w="12700">
            <a:solidFill>
              <a:srgbClr val="F6F7F9"/>
            </a:solidFill>
            <a:prstDash val="solid"/>
          </a:ln>
        </p:spPr>
      </p:sp>
      <p:sp>
        <p:nvSpPr>
          <p:cNvPr id="21" name="Text 14"/>
          <p:cNvSpPr txBox="1"/>
          <p:nvPr/>
        </p:nvSpPr>
        <p:spPr>
          <a:xfrm>
            <a:off x="6172200" y="1536192"/>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HYPOTHESIS</a:t>
            </a:r>
            <a:endParaRPr lang="en-US" sz="950" dirty="0"/>
          </a:p>
        </p:txBody>
      </p:sp>
      <p:sp>
        <p:nvSpPr>
          <p:cNvPr id="22" name="Text 15"/>
          <p:cNvSpPr txBox="1"/>
          <p:nvPr/>
        </p:nvSpPr>
        <p:spPr>
          <a:xfrm>
            <a:off x="6172200" y="1755648"/>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Superiority of enVast on infarct size</a:t>
            </a:r>
            <a:endParaRPr lang="en-US" sz="1200" dirty="0"/>
          </a:p>
        </p:txBody>
      </p:sp>
      <p:sp>
        <p:nvSpPr>
          <p:cNvPr id="23" name="Text 16"/>
          <p:cNvSpPr txBox="1"/>
          <p:nvPr/>
        </p:nvSpPr>
        <p:spPr>
          <a:xfrm>
            <a:off x="6172200" y="2212848"/>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PRINCIPAL INVESTIGATOR</a:t>
            </a:r>
            <a:endParaRPr lang="en-US" sz="950" dirty="0"/>
          </a:p>
        </p:txBody>
      </p:sp>
      <p:sp>
        <p:nvSpPr>
          <p:cNvPr id="24" name="Text 17"/>
          <p:cNvSpPr txBox="1"/>
          <p:nvPr/>
        </p:nvSpPr>
        <p:spPr>
          <a:xfrm>
            <a:off x="6172200" y="2432304"/>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Prof. Marco Valgimigli, Cardiocentro Ticino, Lugano</a:t>
            </a:r>
            <a:endParaRPr lang="en-US" sz="1200" dirty="0"/>
          </a:p>
        </p:txBody>
      </p:sp>
      <p:sp>
        <p:nvSpPr>
          <p:cNvPr id="25" name="Text 18"/>
          <p:cNvSpPr txBox="1"/>
          <p:nvPr/>
        </p:nvSpPr>
        <p:spPr>
          <a:xfrm>
            <a:off x="6172200" y="2889504"/>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SPONSOR</a:t>
            </a:r>
            <a:endParaRPr lang="en-US" sz="950" dirty="0"/>
          </a:p>
        </p:txBody>
      </p:sp>
      <p:sp>
        <p:nvSpPr>
          <p:cNvPr id="26" name="Text 19"/>
          <p:cNvSpPr txBox="1"/>
          <p:nvPr/>
        </p:nvSpPr>
        <p:spPr>
          <a:xfrm>
            <a:off x="6172200" y="3108960"/>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Vesalio</a:t>
            </a:r>
            <a:endParaRPr lang="en-US" sz="1200" dirty="0"/>
          </a:p>
        </p:txBody>
      </p:sp>
      <p:sp>
        <p:nvSpPr>
          <p:cNvPr id="27" name="Text 20"/>
          <p:cNvSpPr txBox="1"/>
          <p:nvPr/>
        </p:nvSpPr>
        <p:spPr>
          <a:xfrm>
            <a:off x="6172200" y="3566160"/>
            <a:ext cx="2377440" cy="228600"/>
          </a:xfrm>
          <a:prstGeom prst="rect">
            <a:avLst/>
          </a:prstGeom>
          <a:noFill/>
          <a:ln/>
        </p:spPr>
        <p:txBody>
          <a:bodyPr wrap="square" lIns="0" tIns="0" rIns="0" bIns="0" rtlCol="0" anchor="ctr"/>
          <a:lstStyle/>
          <a:p>
            <a:pPr indent="0" marL="0">
              <a:buNone/>
            </a:pPr>
            <a:r>
              <a:rPr lang="en-US" sz="950" b="1" spc="200" kern="0" dirty="0">
                <a:solidFill>
                  <a:srgbClr val="E5383B"/>
                </a:solidFill>
                <a:latin typeface="Calibri" pitchFamily="34" charset="0"/>
                <a:ea typeface="Calibri" pitchFamily="34" charset="-122"/>
                <a:cs typeface="Calibri" pitchFamily="34" charset="-120"/>
              </a:rPr>
              <a:t>REGISTRY</a:t>
            </a:r>
            <a:endParaRPr lang="en-US" sz="950" dirty="0"/>
          </a:p>
        </p:txBody>
      </p:sp>
      <p:sp>
        <p:nvSpPr>
          <p:cNvPr id="28" name="Text 21"/>
          <p:cNvSpPr txBox="1"/>
          <p:nvPr/>
        </p:nvSpPr>
        <p:spPr>
          <a:xfrm>
            <a:off x="6172200" y="3785616"/>
            <a:ext cx="2377440" cy="411480"/>
          </a:xfrm>
          <a:prstGeom prst="rect">
            <a:avLst/>
          </a:prstGeom>
          <a:noFill/>
          <a:ln/>
        </p:spPr>
        <p:txBody>
          <a:bodyPr wrap="square" lIns="0" tIns="0" rIns="0" bIns="0" rtlCol="0" anchor="t"/>
          <a:lstStyle/>
          <a:p>
            <a:pPr indent="0" marL="0">
              <a:buNone/>
            </a:pPr>
            <a:r>
              <a:rPr lang="en-US" sz="1200" dirty="0">
                <a:solidFill>
                  <a:srgbClr val="1B2230"/>
                </a:solidFill>
                <a:latin typeface="Calibri" pitchFamily="34" charset="0"/>
                <a:ea typeface="Calibri" pitchFamily="34" charset="-122"/>
                <a:cs typeface="Calibri" pitchFamily="34" charset="-120"/>
              </a:rPr>
              <a:t>NCT04969471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05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POPULATION &amp; ENDPOINTS</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Enriched for clot; judged on infarct size</a:t>
            </a:r>
            <a:endParaRPr lang="en-US" sz="3000" dirty="0"/>
          </a:p>
        </p:txBody>
      </p:sp>
      <p:sp>
        <p:nvSpPr>
          <p:cNvPr id="7" name="Shape 4"/>
          <p:cNvSpPr/>
          <p:nvPr/>
        </p:nvSpPr>
        <p:spPr>
          <a:xfrm>
            <a:off x="457200" y="1371600"/>
            <a:ext cx="3566160" cy="3017520"/>
          </a:xfrm>
          <a:prstGeom prst="roundRect">
            <a:avLst>
              <a:gd name="adj" fmla="val 3636"/>
            </a:avLst>
          </a:prstGeom>
          <a:solidFill>
            <a:srgbClr val="0E1117"/>
          </a:solidFill>
          <a:ln w="12700">
            <a:solidFill>
              <a:srgbClr val="0E1117"/>
            </a:solidFill>
            <a:prstDash val="solid"/>
          </a:ln>
        </p:spPr>
      </p:sp>
      <p:sp>
        <p:nvSpPr>
          <p:cNvPr id="8" name="Text 5"/>
          <p:cNvSpPr txBox="1"/>
          <p:nvPr/>
        </p:nvSpPr>
        <p:spPr>
          <a:xfrm>
            <a:off x="731520" y="1554480"/>
            <a:ext cx="3017520" cy="274320"/>
          </a:xfrm>
          <a:prstGeom prst="rect">
            <a:avLst/>
          </a:prstGeom>
          <a:noFill/>
          <a:ln/>
        </p:spPr>
        <p:txBody>
          <a:bodyPr wrap="square" lIns="0" tIns="0" rIns="0" bIns="0" rtlCol="0" anchor="ctr"/>
          <a:lstStyle/>
          <a:p>
            <a:pPr indent="0" marL="0">
              <a:buNone/>
            </a:pPr>
            <a:r>
              <a:rPr lang="en-US" sz="1100" b="1" spc="400" kern="0" dirty="0">
                <a:solidFill>
                  <a:srgbClr val="F4B6BB"/>
                </a:solidFill>
                <a:latin typeface="Calibri" pitchFamily="34" charset="0"/>
                <a:ea typeface="Calibri" pitchFamily="34" charset="-122"/>
                <a:cs typeface="Calibri" pitchFamily="34" charset="-120"/>
              </a:rPr>
              <a:t>KEY INCLUSION</a:t>
            </a:r>
            <a:endParaRPr lang="en-US" sz="1100" dirty="0"/>
          </a:p>
        </p:txBody>
      </p:sp>
      <p:sp>
        <p:nvSpPr>
          <p:cNvPr id="9" name="Text 6"/>
          <p:cNvSpPr txBox="1"/>
          <p:nvPr/>
        </p:nvSpPr>
        <p:spPr>
          <a:xfrm>
            <a:off x="731520" y="1920240"/>
            <a:ext cx="3108960" cy="228600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STEMI undergoing primary PCI</a:t>
            </a:r>
            <a:endParaRPr lang="en-US" sz="1350" dirty="0"/>
          </a:p>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TIMI thrombus grade ≥ 3 in the infarct-related artery</a:t>
            </a:r>
            <a:endParaRPr lang="en-US" sz="1350" dirty="0"/>
          </a:p>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If grade 5 (TIMI 0 flow), grade ≥ 3 re-confirmed after wiring</a:t>
            </a:r>
            <a:endParaRPr lang="en-US" sz="1350" dirty="0"/>
          </a:p>
        </p:txBody>
      </p:sp>
      <p:sp>
        <p:nvSpPr>
          <p:cNvPr id="10" name="Text 7"/>
          <p:cNvSpPr txBox="1"/>
          <p:nvPr/>
        </p:nvSpPr>
        <p:spPr>
          <a:xfrm>
            <a:off x="731520" y="3657600"/>
            <a:ext cx="3108960" cy="548640"/>
          </a:xfrm>
          <a:prstGeom prst="rect">
            <a:avLst/>
          </a:prstGeom>
          <a:noFill/>
          <a:ln/>
        </p:spPr>
        <p:txBody>
          <a:bodyPr wrap="square" lIns="0" tIns="0" rIns="0" bIns="0" rtlCol="0" anchor="t"/>
          <a:lstStyle/>
          <a:p>
            <a:pPr indent="0" marL="0">
              <a:buNone/>
            </a:pPr>
            <a:r>
              <a:rPr lang="en-US" sz="1200" i="1" dirty="0">
                <a:solidFill>
                  <a:srgbClr val="F4B6BB"/>
                </a:solidFill>
                <a:latin typeface="Cambria" pitchFamily="34" charset="0"/>
                <a:ea typeface="Cambria" pitchFamily="34" charset="-122"/>
                <a:cs typeface="Cambria" pitchFamily="34" charset="-120"/>
              </a:rPr>
              <a:t>Why enrich? Benefit is most plausible where there is the most clot to embolise.</a:t>
            </a:r>
            <a:endParaRPr lang="en-US" sz="1200" dirty="0"/>
          </a:p>
        </p:txBody>
      </p:sp>
      <p:sp>
        <p:nvSpPr>
          <p:cNvPr id="11" name="Shape 8"/>
          <p:cNvSpPr/>
          <p:nvPr/>
        </p:nvSpPr>
        <p:spPr>
          <a:xfrm>
            <a:off x="4389120" y="1371600"/>
            <a:ext cx="4297680" cy="868680"/>
          </a:xfrm>
          <a:prstGeom prst="roundRect">
            <a:avLst>
              <a:gd name="adj" fmla="val 10526"/>
            </a:avLst>
          </a:prstGeom>
          <a:solidFill>
            <a:srgbClr val="F6F7F9"/>
          </a:solidFill>
          <a:ln w="12700">
            <a:solidFill>
              <a:srgbClr val="F6F7F9"/>
            </a:solidFill>
            <a:prstDash val="solid"/>
          </a:ln>
        </p:spPr>
      </p:sp>
      <p:sp>
        <p:nvSpPr>
          <p:cNvPr id="12" name="Shape 9"/>
          <p:cNvSpPr/>
          <p:nvPr/>
        </p:nvSpPr>
        <p:spPr>
          <a:xfrm>
            <a:off x="4572000" y="1536192"/>
            <a:ext cx="548640" cy="548640"/>
          </a:xfrm>
          <a:prstGeom prst="ellipse">
            <a:avLst/>
          </a:prstGeom>
          <a:solidFill>
            <a:srgbClr val="E5383B"/>
          </a:solidFill>
          <a:ln w="12700">
            <a:solidFill>
              <a:srgbClr val="E5383B"/>
            </a:solidFill>
            <a:prstDash val="solid"/>
          </a:ln>
        </p:spPr>
      </p:sp>
      <p:pic>
        <p:nvPicPr>
          <p:cNvPr id="13" name="Image 1" descr="preencoded.png">    </p:cNvPr>
          <p:cNvPicPr>
            <a:picLocks noChangeAspect="1"/>
          </p:cNvPicPr>
          <p:nvPr/>
        </p:nvPicPr>
        <p:blipFill>
          <a:blip r:embed="rId2"/>
          <a:stretch>
            <a:fillRect/>
          </a:stretch>
        </p:blipFill>
        <p:spPr>
          <a:xfrm>
            <a:off x="4714646" y="1678838"/>
            <a:ext cx="263347" cy="263347"/>
          </a:xfrm>
          <a:prstGeom prst="rect">
            <a:avLst/>
          </a:prstGeom>
        </p:spPr>
      </p:pic>
      <p:sp>
        <p:nvSpPr>
          <p:cNvPr id="14" name="Text 10"/>
          <p:cNvSpPr txBox="1"/>
          <p:nvPr/>
        </p:nvSpPr>
        <p:spPr>
          <a:xfrm>
            <a:off x="5303520" y="1499616"/>
            <a:ext cx="3200400" cy="256032"/>
          </a:xfrm>
          <a:prstGeom prst="rect">
            <a:avLst/>
          </a:prstGeom>
          <a:noFill/>
          <a:ln/>
        </p:spPr>
        <p:txBody>
          <a:bodyPr wrap="square" lIns="0" tIns="0" rIns="0" bIns="0" rtlCol="0" anchor="ctr"/>
          <a:lstStyle/>
          <a:p>
            <a:pPr indent="0" marL="0">
              <a:buNone/>
            </a:pPr>
            <a:r>
              <a:rPr lang="en-US" sz="1000" b="1" spc="300" kern="0" dirty="0">
                <a:solidFill>
                  <a:srgbClr val="E5383B"/>
                </a:solidFill>
                <a:latin typeface="Calibri" pitchFamily="34" charset="0"/>
                <a:ea typeface="Calibri" pitchFamily="34" charset="-122"/>
                <a:cs typeface="Calibri" pitchFamily="34" charset="-120"/>
              </a:rPr>
              <a:t>PRIMARY EFFICACY</a:t>
            </a:r>
            <a:endParaRPr lang="en-US" sz="1000" dirty="0"/>
          </a:p>
        </p:txBody>
      </p:sp>
      <p:sp>
        <p:nvSpPr>
          <p:cNvPr id="15" name="Text 11"/>
          <p:cNvSpPr txBox="1"/>
          <p:nvPr/>
        </p:nvSpPr>
        <p:spPr>
          <a:xfrm>
            <a:off x="5303520" y="1755648"/>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Infarct size by CK-MB area under the curve</a:t>
            </a:r>
            <a:endParaRPr lang="en-US" sz="1300" dirty="0"/>
          </a:p>
        </p:txBody>
      </p:sp>
      <p:sp>
        <p:nvSpPr>
          <p:cNvPr id="16" name="Shape 12"/>
          <p:cNvSpPr/>
          <p:nvPr/>
        </p:nvSpPr>
        <p:spPr>
          <a:xfrm>
            <a:off x="4389120" y="2395728"/>
            <a:ext cx="4297680" cy="868680"/>
          </a:xfrm>
          <a:prstGeom prst="roundRect">
            <a:avLst>
              <a:gd name="adj" fmla="val 10526"/>
            </a:avLst>
          </a:prstGeom>
          <a:solidFill>
            <a:srgbClr val="F6F7F9"/>
          </a:solidFill>
          <a:ln w="12700">
            <a:solidFill>
              <a:srgbClr val="F6F7F9"/>
            </a:solidFill>
            <a:prstDash val="solid"/>
          </a:ln>
        </p:spPr>
      </p:sp>
      <p:sp>
        <p:nvSpPr>
          <p:cNvPr id="17" name="Shape 13"/>
          <p:cNvSpPr/>
          <p:nvPr/>
        </p:nvSpPr>
        <p:spPr>
          <a:xfrm>
            <a:off x="4572000" y="2560320"/>
            <a:ext cx="548640" cy="548640"/>
          </a:xfrm>
          <a:prstGeom prst="ellipse">
            <a:avLst/>
          </a:prstGeom>
          <a:solidFill>
            <a:srgbClr val="1FA99C"/>
          </a:solidFill>
          <a:ln w="12700">
            <a:solidFill>
              <a:srgbClr val="1FA99C"/>
            </a:solidFill>
            <a:prstDash val="solid"/>
          </a:ln>
        </p:spPr>
      </p:sp>
      <p:pic>
        <p:nvPicPr>
          <p:cNvPr id="18" name="Image 2" descr="preencoded.png">    </p:cNvPr>
          <p:cNvPicPr>
            <a:picLocks noChangeAspect="1"/>
          </p:cNvPicPr>
          <p:nvPr/>
        </p:nvPicPr>
        <p:blipFill>
          <a:blip r:embed="rId3"/>
          <a:stretch>
            <a:fillRect/>
          </a:stretch>
        </p:blipFill>
        <p:spPr>
          <a:xfrm>
            <a:off x="4714646" y="2702966"/>
            <a:ext cx="263347" cy="263347"/>
          </a:xfrm>
          <a:prstGeom prst="rect">
            <a:avLst/>
          </a:prstGeom>
        </p:spPr>
      </p:pic>
      <p:sp>
        <p:nvSpPr>
          <p:cNvPr id="19" name="Text 14"/>
          <p:cNvSpPr txBox="1"/>
          <p:nvPr/>
        </p:nvSpPr>
        <p:spPr>
          <a:xfrm>
            <a:off x="5303520" y="2523744"/>
            <a:ext cx="3200400" cy="256032"/>
          </a:xfrm>
          <a:prstGeom prst="rect">
            <a:avLst/>
          </a:prstGeom>
          <a:noFill/>
          <a:ln/>
        </p:spPr>
        <p:txBody>
          <a:bodyPr wrap="square" lIns="0" tIns="0" rIns="0" bIns="0" rtlCol="0" anchor="ctr"/>
          <a:lstStyle/>
          <a:p>
            <a:pPr indent="0" marL="0">
              <a:buNone/>
            </a:pPr>
            <a:r>
              <a:rPr lang="en-US" sz="1000" b="1" spc="300" kern="0" dirty="0">
                <a:solidFill>
                  <a:srgbClr val="1FA99C"/>
                </a:solidFill>
                <a:latin typeface="Calibri" pitchFamily="34" charset="0"/>
                <a:ea typeface="Calibri" pitchFamily="34" charset="-122"/>
                <a:cs typeface="Calibri" pitchFamily="34" charset="-120"/>
              </a:rPr>
              <a:t>KEY SECONDARY</a:t>
            </a:r>
            <a:endParaRPr lang="en-US" sz="1000" dirty="0"/>
          </a:p>
        </p:txBody>
      </p:sp>
      <p:sp>
        <p:nvSpPr>
          <p:cNvPr id="20" name="Text 15"/>
          <p:cNvSpPr txBox="1"/>
          <p:nvPr/>
        </p:nvSpPr>
        <p:spPr>
          <a:xfrm>
            <a:off x="5303520" y="2779776"/>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Infarct size on cardiac MRI (% LV mass) at day 3</a:t>
            </a:r>
            <a:endParaRPr lang="en-US" sz="1300" dirty="0"/>
          </a:p>
        </p:txBody>
      </p:sp>
      <p:sp>
        <p:nvSpPr>
          <p:cNvPr id="21" name="Shape 16"/>
          <p:cNvSpPr/>
          <p:nvPr/>
        </p:nvSpPr>
        <p:spPr>
          <a:xfrm>
            <a:off x="4389120" y="3419856"/>
            <a:ext cx="4297680" cy="868680"/>
          </a:xfrm>
          <a:prstGeom prst="roundRect">
            <a:avLst>
              <a:gd name="adj" fmla="val 10526"/>
            </a:avLst>
          </a:prstGeom>
          <a:solidFill>
            <a:srgbClr val="F6F7F9"/>
          </a:solidFill>
          <a:ln w="12700">
            <a:solidFill>
              <a:srgbClr val="F6F7F9"/>
            </a:solidFill>
            <a:prstDash val="solid"/>
          </a:ln>
        </p:spPr>
      </p:sp>
      <p:sp>
        <p:nvSpPr>
          <p:cNvPr id="22" name="Shape 17"/>
          <p:cNvSpPr/>
          <p:nvPr/>
        </p:nvSpPr>
        <p:spPr>
          <a:xfrm>
            <a:off x="4572000" y="3584448"/>
            <a:ext cx="548640" cy="548640"/>
          </a:xfrm>
          <a:prstGeom prst="ellipse">
            <a:avLst/>
          </a:prstGeom>
          <a:solidFill>
            <a:srgbClr val="0E1117"/>
          </a:solidFill>
          <a:ln w="12700">
            <a:solidFill>
              <a:srgbClr val="0E1117"/>
            </a:solidFill>
            <a:prstDash val="solid"/>
          </a:ln>
        </p:spPr>
      </p:sp>
      <p:pic>
        <p:nvPicPr>
          <p:cNvPr id="23" name="Image 3" descr="preencoded.png">    </p:cNvPr>
          <p:cNvPicPr>
            <a:picLocks noChangeAspect="1"/>
          </p:cNvPicPr>
          <p:nvPr/>
        </p:nvPicPr>
        <p:blipFill>
          <a:blip r:embed="rId4"/>
          <a:stretch>
            <a:fillRect/>
          </a:stretch>
        </p:blipFill>
        <p:spPr>
          <a:xfrm>
            <a:off x="4714646" y="3727094"/>
            <a:ext cx="263347" cy="263347"/>
          </a:xfrm>
          <a:prstGeom prst="rect">
            <a:avLst/>
          </a:prstGeom>
        </p:spPr>
      </p:pic>
      <p:sp>
        <p:nvSpPr>
          <p:cNvPr id="24" name="Text 18"/>
          <p:cNvSpPr txBox="1"/>
          <p:nvPr/>
        </p:nvSpPr>
        <p:spPr>
          <a:xfrm>
            <a:off x="5303520" y="3547872"/>
            <a:ext cx="3200400" cy="256032"/>
          </a:xfrm>
          <a:prstGeom prst="rect">
            <a:avLst/>
          </a:prstGeom>
          <a:noFill/>
          <a:ln/>
        </p:spPr>
        <p:txBody>
          <a:bodyPr wrap="square" lIns="0" tIns="0" rIns="0" bIns="0" rtlCol="0" anchor="ctr"/>
          <a:lstStyle/>
          <a:p>
            <a:pPr indent="0" marL="0">
              <a:buNone/>
            </a:pPr>
            <a:r>
              <a:rPr lang="en-US" sz="1000" b="1" spc="300" kern="0" dirty="0">
                <a:solidFill>
                  <a:srgbClr val="5E6778"/>
                </a:solidFill>
                <a:latin typeface="Calibri" pitchFamily="34" charset="0"/>
                <a:ea typeface="Calibri" pitchFamily="34" charset="-122"/>
                <a:cs typeface="Calibri" pitchFamily="34" charset="-120"/>
              </a:rPr>
              <a:t>SAFETY</a:t>
            </a:r>
            <a:endParaRPr lang="en-US" sz="1000" dirty="0"/>
          </a:p>
        </p:txBody>
      </p:sp>
      <p:sp>
        <p:nvSpPr>
          <p:cNvPr id="25" name="Text 19"/>
          <p:cNvSpPr txBox="1"/>
          <p:nvPr/>
        </p:nvSpPr>
        <p:spPr>
          <a:xfrm>
            <a:off x="5303520" y="3803904"/>
            <a:ext cx="3200400" cy="411480"/>
          </a:xfrm>
          <a:prstGeom prst="rect">
            <a:avLst/>
          </a:prstGeom>
          <a:noFill/>
          <a:ln/>
        </p:spPr>
        <p:txBody>
          <a:bodyPr wrap="square" lIns="0" tIns="0" rIns="0" bIns="0" rtlCol="0" anchor="t"/>
          <a:lstStyle/>
          <a:p>
            <a:pPr indent="0" marL="0">
              <a:buNone/>
            </a:pPr>
            <a:r>
              <a:rPr lang="en-US" sz="1300" dirty="0">
                <a:solidFill>
                  <a:srgbClr val="1B2230"/>
                </a:solidFill>
                <a:latin typeface="Calibri" pitchFamily="34" charset="0"/>
                <a:ea typeface="Calibri" pitchFamily="34" charset="-122"/>
                <a:cs typeface="Calibri" pitchFamily="34" charset="-120"/>
              </a:rPr>
              <a:t>Death, stroke and MACE at 30 days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06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PRIMARY ENDPOINT · MET</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Infarct size cut by about a quarter</a:t>
            </a:r>
            <a:endParaRPr lang="en-US" sz="3000" dirty="0"/>
          </a:p>
        </p:txBody>
      </p:sp>
      <p:sp>
        <p:nvSpPr>
          <p:cNvPr id="7" name="Text 4"/>
          <p:cNvSpPr txBox="1"/>
          <p:nvPr/>
        </p:nvSpPr>
        <p:spPr>
          <a:xfrm>
            <a:off x="457200" y="1463040"/>
            <a:ext cx="3840480" cy="1188720"/>
          </a:xfrm>
          <a:prstGeom prst="rect">
            <a:avLst/>
          </a:prstGeom>
          <a:noFill/>
          <a:ln/>
        </p:spPr>
        <p:txBody>
          <a:bodyPr wrap="square" lIns="0" tIns="0" rIns="0" bIns="0" rtlCol="0" anchor="ctr"/>
          <a:lstStyle/>
          <a:p>
            <a:pPr indent="0" marL="0">
              <a:buNone/>
            </a:pPr>
            <a:r>
              <a:rPr lang="en-US" sz="8000" b="1" dirty="0">
                <a:solidFill>
                  <a:srgbClr val="E5383B"/>
                </a:solidFill>
                <a:latin typeface="Cambria" pitchFamily="34" charset="0"/>
                <a:ea typeface="Cambria" pitchFamily="34" charset="-122"/>
                <a:cs typeface="Cambria" pitchFamily="34" charset="-120"/>
              </a:rPr>
              <a:t>−26%</a:t>
            </a:r>
            <a:endParaRPr lang="en-US" sz="8000" dirty="0"/>
          </a:p>
        </p:txBody>
      </p:sp>
      <p:sp>
        <p:nvSpPr>
          <p:cNvPr id="8" name="Text 5"/>
          <p:cNvSpPr txBox="1"/>
          <p:nvPr/>
        </p:nvSpPr>
        <p:spPr>
          <a:xfrm>
            <a:off x="457200" y="2697480"/>
            <a:ext cx="3657600" cy="64008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relative reduction in infarct size (CK-MB AUC) with enVast versus standard PCI</a:t>
            </a:r>
            <a:endParaRPr lang="en-US" sz="1400" dirty="0"/>
          </a:p>
        </p:txBody>
      </p:sp>
      <p:sp>
        <p:nvSpPr>
          <p:cNvPr id="9" name="Shape 6"/>
          <p:cNvSpPr/>
          <p:nvPr/>
        </p:nvSpPr>
        <p:spPr>
          <a:xfrm>
            <a:off x="457200" y="3520440"/>
            <a:ext cx="1554480" cy="457200"/>
          </a:xfrm>
          <a:prstGeom prst="roundRect">
            <a:avLst>
              <a:gd name="adj" fmla="val 50000"/>
            </a:avLst>
          </a:prstGeom>
          <a:solidFill>
            <a:srgbClr val="1A1F2B"/>
          </a:solidFill>
          <a:ln w="9525">
            <a:solidFill>
              <a:srgbClr val="8A93A6"/>
            </a:solidFill>
            <a:prstDash val="solid"/>
          </a:ln>
        </p:spPr>
      </p:sp>
      <p:sp>
        <p:nvSpPr>
          <p:cNvPr id="10" name="Text 7"/>
          <p:cNvSpPr txBox="1"/>
          <p:nvPr/>
        </p:nvSpPr>
        <p:spPr>
          <a:xfrm>
            <a:off x="457200" y="3520440"/>
            <a:ext cx="15544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 = 0.001</a:t>
            </a:r>
            <a:endParaRPr lang="en-US" sz="1500" dirty="0"/>
          </a:p>
        </p:txBody>
      </p:sp>
      <p:graphicFrame>
        <p:nvGraphicFramePr>
          <p:cNvPr id="11" name="Chart 0" descr=""/>
          <p:cNvGraphicFramePr/>
          <p:nvPr/>
        </p:nvGraphicFramePr>
        <p:xfrm>
          <a:off x="4572000" y="1325880"/>
          <a:ext cx="4114800" cy="31089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07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SECONDARY ENDPOINT</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Biomarker and MRI tell the same story</a:t>
            </a:r>
            <a:endParaRPr lang="en-US" sz="3000" dirty="0"/>
          </a:p>
        </p:txBody>
      </p:sp>
      <p:sp>
        <p:nvSpPr>
          <p:cNvPr id="7" name="Shape 4"/>
          <p:cNvSpPr/>
          <p:nvPr/>
        </p:nvSpPr>
        <p:spPr>
          <a:xfrm>
            <a:off x="457200" y="1417320"/>
            <a:ext cx="3886200" cy="2926080"/>
          </a:xfrm>
          <a:prstGeom prst="roundRect">
            <a:avLst>
              <a:gd name="adj" fmla="val 3750"/>
            </a:avLst>
          </a:prstGeom>
          <a:solidFill>
            <a:srgbClr val="F6F7F9"/>
          </a:solidFill>
          <a:ln w="12700">
            <a:solidFill>
              <a:srgbClr val="F6F7F9"/>
            </a:solidFill>
            <a:prstDash val="solid"/>
          </a:ln>
        </p:spPr>
      </p:sp>
      <p:sp>
        <p:nvSpPr>
          <p:cNvPr id="8" name="Shape 5"/>
          <p:cNvSpPr/>
          <p:nvPr/>
        </p:nvSpPr>
        <p:spPr>
          <a:xfrm>
            <a:off x="731520" y="1645920"/>
            <a:ext cx="566928" cy="566928"/>
          </a:xfrm>
          <a:prstGeom prst="ellipse">
            <a:avLst/>
          </a:prstGeom>
          <a:solidFill>
            <a:srgbClr val="E5383B"/>
          </a:solidFill>
          <a:ln w="12700">
            <a:solidFill>
              <a:srgbClr val="E5383B"/>
            </a:solidFill>
            <a:prstDash val="solid"/>
          </a:ln>
        </p:spPr>
      </p:sp>
      <p:pic>
        <p:nvPicPr>
          <p:cNvPr id="9" name="Image 1" descr="preencoded.png">    </p:cNvPr>
          <p:cNvPicPr>
            <a:picLocks noChangeAspect="1"/>
          </p:cNvPicPr>
          <p:nvPr/>
        </p:nvPicPr>
        <p:blipFill>
          <a:blip r:embed="rId2"/>
          <a:stretch>
            <a:fillRect/>
          </a:stretch>
        </p:blipFill>
        <p:spPr>
          <a:xfrm>
            <a:off x="878921" y="1793321"/>
            <a:ext cx="272125" cy="272125"/>
          </a:xfrm>
          <a:prstGeom prst="rect">
            <a:avLst/>
          </a:prstGeom>
        </p:spPr>
      </p:pic>
      <p:sp>
        <p:nvSpPr>
          <p:cNvPr id="10" name="Text 6"/>
          <p:cNvSpPr txBox="1"/>
          <p:nvPr/>
        </p:nvSpPr>
        <p:spPr>
          <a:xfrm>
            <a:off x="1463040" y="1645920"/>
            <a:ext cx="2743200" cy="292608"/>
          </a:xfrm>
          <a:prstGeom prst="rect">
            <a:avLst/>
          </a:prstGeom>
          <a:noFill/>
          <a:ln/>
        </p:spPr>
        <p:txBody>
          <a:bodyPr wrap="square" lIns="0" tIns="0" rIns="0" bIns="0" rtlCol="0" anchor="ctr"/>
          <a:lstStyle/>
          <a:p>
            <a:pPr indent="0" marL="0">
              <a:buNone/>
            </a:pPr>
            <a:r>
              <a:rPr lang="en-US" sz="1600" b="1" dirty="0">
                <a:solidFill>
                  <a:srgbClr val="1B2230"/>
                </a:solidFill>
                <a:latin typeface="Cambria" pitchFamily="34" charset="0"/>
                <a:ea typeface="Cambria" pitchFamily="34" charset="-122"/>
                <a:cs typeface="Cambria" pitchFamily="34" charset="-120"/>
              </a:rPr>
              <a:t>CK-MB AUC</a:t>
            </a:r>
            <a:endParaRPr lang="en-US" sz="1600" dirty="0"/>
          </a:p>
        </p:txBody>
      </p:sp>
      <p:sp>
        <p:nvSpPr>
          <p:cNvPr id="11" name="Text 7"/>
          <p:cNvSpPr txBox="1"/>
          <p:nvPr/>
        </p:nvSpPr>
        <p:spPr>
          <a:xfrm>
            <a:off x="1463040" y="1938528"/>
            <a:ext cx="2743200" cy="274320"/>
          </a:xfrm>
          <a:prstGeom prst="rect">
            <a:avLst/>
          </a:prstGeom>
          <a:noFill/>
          <a:ln/>
        </p:spPr>
        <p:txBody>
          <a:bodyPr wrap="square" lIns="0" tIns="0" rIns="0" bIns="0" rtlCol="0" anchor="ctr"/>
          <a:lstStyle/>
          <a:p>
            <a:pPr indent="0" marL="0">
              <a:buNone/>
            </a:pPr>
            <a:r>
              <a:rPr lang="en-US" sz="1150" dirty="0">
                <a:solidFill>
                  <a:srgbClr val="5E6778"/>
                </a:solidFill>
                <a:latin typeface="Calibri" pitchFamily="34" charset="0"/>
                <a:ea typeface="Calibri" pitchFamily="34" charset="-122"/>
                <a:cs typeface="Calibri" pitchFamily="34" charset="-120"/>
              </a:rPr>
              <a:t>Primary endpoint</a:t>
            </a:r>
            <a:endParaRPr lang="en-US" sz="1150" dirty="0"/>
          </a:p>
        </p:txBody>
      </p:sp>
      <p:sp>
        <p:nvSpPr>
          <p:cNvPr id="12" name="Text 8"/>
          <p:cNvSpPr txBox="1"/>
          <p:nvPr/>
        </p:nvSpPr>
        <p:spPr>
          <a:xfrm>
            <a:off x="731520" y="2377440"/>
            <a:ext cx="3291840" cy="777240"/>
          </a:xfrm>
          <a:prstGeom prst="rect">
            <a:avLst/>
          </a:prstGeom>
          <a:noFill/>
          <a:ln/>
        </p:spPr>
        <p:txBody>
          <a:bodyPr wrap="square" lIns="0" tIns="0" rIns="0" bIns="0" rtlCol="0" anchor="ctr"/>
          <a:lstStyle/>
          <a:p>
            <a:pPr indent="0" marL="0">
              <a:buNone/>
            </a:pPr>
            <a:r>
              <a:rPr lang="en-US" sz="4800" b="1" dirty="0">
                <a:solidFill>
                  <a:srgbClr val="E5383B"/>
                </a:solidFill>
                <a:latin typeface="Cambria" pitchFamily="34" charset="0"/>
                <a:ea typeface="Cambria" pitchFamily="34" charset="-122"/>
                <a:cs typeface="Cambria" pitchFamily="34" charset="-120"/>
              </a:rPr>
              <a:t>−26%</a:t>
            </a:r>
            <a:endParaRPr lang="en-US" sz="4800" dirty="0"/>
          </a:p>
        </p:txBody>
      </p:sp>
      <p:sp>
        <p:nvSpPr>
          <p:cNvPr id="13" name="Text 9"/>
          <p:cNvSpPr txBox="1"/>
          <p:nvPr/>
        </p:nvSpPr>
        <p:spPr>
          <a:xfrm>
            <a:off x="731520" y="3200400"/>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Standard PCI</a:t>
            </a:r>
            <a:endParaRPr lang="en-US" sz="950" dirty="0"/>
          </a:p>
        </p:txBody>
      </p:sp>
      <p:sp>
        <p:nvSpPr>
          <p:cNvPr id="14" name="Shape 10"/>
          <p:cNvSpPr/>
          <p:nvPr/>
        </p:nvSpPr>
        <p:spPr>
          <a:xfrm>
            <a:off x="731520" y="3410712"/>
            <a:ext cx="3337560" cy="164592"/>
          </a:xfrm>
          <a:prstGeom prst="rect">
            <a:avLst/>
          </a:prstGeom>
          <a:solidFill>
            <a:srgbClr val="C7CCD6"/>
          </a:solidFill>
          <a:ln w="12700">
            <a:solidFill>
              <a:srgbClr val="C7CCD6"/>
            </a:solidFill>
            <a:prstDash val="solid"/>
          </a:ln>
        </p:spPr>
      </p:sp>
      <p:sp>
        <p:nvSpPr>
          <p:cNvPr id="15" name="Text 11"/>
          <p:cNvSpPr txBox="1"/>
          <p:nvPr/>
        </p:nvSpPr>
        <p:spPr>
          <a:xfrm>
            <a:off x="731520" y="3630168"/>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enVast + PCI</a:t>
            </a:r>
            <a:endParaRPr lang="en-US" sz="950" dirty="0"/>
          </a:p>
        </p:txBody>
      </p:sp>
      <p:sp>
        <p:nvSpPr>
          <p:cNvPr id="16" name="Shape 12"/>
          <p:cNvSpPr/>
          <p:nvPr/>
        </p:nvSpPr>
        <p:spPr>
          <a:xfrm>
            <a:off x="731520" y="3840480"/>
            <a:ext cx="2469794" cy="164592"/>
          </a:xfrm>
          <a:prstGeom prst="rect">
            <a:avLst/>
          </a:prstGeom>
          <a:solidFill>
            <a:srgbClr val="E5383B"/>
          </a:solidFill>
          <a:ln w="12700">
            <a:solidFill>
              <a:srgbClr val="E5383B"/>
            </a:solidFill>
            <a:prstDash val="solid"/>
          </a:ln>
        </p:spPr>
      </p:sp>
      <p:sp>
        <p:nvSpPr>
          <p:cNvPr id="17" name="Text 13"/>
          <p:cNvSpPr txBox="1"/>
          <p:nvPr/>
        </p:nvSpPr>
        <p:spPr>
          <a:xfrm>
            <a:off x="731520" y="4041648"/>
            <a:ext cx="3337560" cy="228600"/>
          </a:xfrm>
          <a:prstGeom prst="rect">
            <a:avLst/>
          </a:prstGeom>
          <a:noFill/>
          <a:ln/>
        </p:spPr>
        <p:txBody>
          <a:bodyPr wrap="square" lIns="0" tIns="0" rIns="0" bIns="0" rtlCol="0" anchor="ctr"/>
          <a:lstStyle/>
          <a:p>
            <a:pPr indent="0" marL="0">
              <a:buNone/>
            </a:pPr>
            <a:r>
              <a:rPr lang="en-US" sz="1050" i="1" dirty="0">
                <a:solidFill>
                  <a:srgbClr val="1B2230"/>
                </a:solidFill>
                <a:latin typeface="Calibri" pitchFamily="34" charset="0"/>
                <a:ea typeface="Calibri" pitchFamily="34" charset="-122"/>
                <a:cs typeface="Calibri" pitchFamily="34" charset="-120"/>
              </a:rPr>
              <a:t>P = 0.001 · significant</a:t>
            </a:r>
            <a:endParaRPr lang="en-US" sz="1050" dirty="0"/>
          </a:p>
        </p:txBody>
      </p:sp>
      <p:sp>
        <p:nvSpPr>
          <p:cNvPr id="18" name="Shape 14"/>
          <p:cNvSpPr/>
          <p:nvPr/>
        </p:nvSpPr>
        <p:spPr>
          <a:xfrm>
            <a:off x="4800600" y="1417320"/>
            <a:ext cx="3886200" cy="2926080"/>
          </a:xfrm>
          <a:prstGeom prst="roundRect">
            <a:avLst>
              <a:gd name="adj" fmla="val 3750"/>
            </a:avLst>
          </a:prstGeom>
          <a:solidFill>
            <a:srgbClr val="F6F7F9"/>
          </a:solidFill>
          <a:ln w="12700">
            <a:solidFill>
              <a:srgbClr val="F6F7F9"/>
            </a:solidFill>
            <a:prstDash val="solid"/>
          </a:ln>
        </p:spPr>
      </p:sp>
      <p:sp>
        <p:nvSpPr>
          <p:cNvPr id="19" name="Shape 15"/>
          <p:cNvSpPr/>
          <p:nvPr/>
        </p:nvSpPr>
        <p:spPr>
          <a:xfrm>
            <a:off x="5074920" y="1645920"/>
            <a:ext cx="566928" cy="566928"/>
          </a:xfrm>
          <a:prstGeom prst="ellipse">
            <a:avLst/>
          </a:prstGeom>
          <a:solidFill>
            <a:srgbClr val="1FA99C"/>
          </a:solidFill>
          <a:ln w="12700">
            <a:solidFill>
              <a:srgbClr val="1FA99C"/>
            </a:solidFill>
            <a:prstDash val="solid"/>
          </a:ln>
        </p:spPr>
      </p:sp>
      <p:pic>
        <p:nvPicPr>
          <p:cNvPr id="20" name="Image 2" descr="preencoded.png">    </p:cNvPr>
          <p:cNvPicPr>
            <a:picLocks noChangeAspect="1"/>
          </p:cNvPicPr>
          <p:nvPr/>
        </p:nvPicPr>
        <p:blipFill>
          <a:blip r:embed="rId3"/>
          <a:stretch>
            <a:fillRect/>
          </a:stretch>
        </p:blipFill>
        <p:spPr>
          <a:xfrm>
            <a:off x="5222321" y="1793321"/>
            <a:ext cx="272125" cy="272125"/>
          </a:xfrm>
          <a:prstGeom prst="rect">
            <a:avLst/>
          </a:prstGeom>
        </p:spPr>
      </p:pic>
      <p:sp>
        <p:nvSpPr>
          <p:cNvPr id="21" name="Text 16"/>
          <p:cNvSpPr txBox="1"/>
          <p:nvPr/>
        </p:nvSpPr>
        <p:spPr>
          <a:xfrm>
            <a:off x="5806440" y="1645920"/>
            <a:ext cx="2743200" cy="292608"/>
          </a:xfrm>
          <a:prstGeom prst="rect">
            <a:avLst/>
          </a:prstGeom>
          <a:noFill/>
          <a:ln/>
        </p:spPr>
        <p:txBody>
          <a:bodyPr wrap="square" lIns="0" tIns="0" rIns="0" bIns="0" rtlCol="0" anchor="ctr"/>
          <a:lstStyle/>
          <a:p>
            <a:pPr indent="0" marL="0">
              <a:buNone/>
            </a:pPr>
            <a:r>
              <a:rPr lang="en-US" sz="1600" b="1" dirty="0">
                <a:solidFill>
                  <a:srgbClr val="1B2230"/>
                </a:solidFill>
                <a:latin typeface="Cambria" pitchFamily="34" charset="0"/>
                <a:ea typeface="Cambria" pitchFamily="34" charset="-122"/>
                <a:cs typeface="Cambria" pitchFamily="34" charset="-120"/>
              </a:rPr>
              <a:t>Cardiac MRI, day 3</a:t>
            </a:r>
            <a:endParaRPr lang="en-US" sz="1600" dirty="0"/>
          </a:p>
        </p:txBody>
      </p:sp>
      <p:sp>
        <p:nvSpPr>
          <p:cNvPr id="22" name="Text 17"/>
          <p:cNvSpPr txBox="1"/>
          <p:nvPr/>
        </p:nvSpPr>
        <p:spPr>
          <a:xfrm>
            <a:off x="5806440" y="1938528"/>
            <a:ext cx="2743200" cy="274320"/>
          </a:xfrm>
          <a:prstGeom prst="rect">
            <a:avLst/>
          </a:prstGeom>
          <a:noFill/>
          <a:ln/>
        </p:spPr>
        <p:txBody>
          <a:bodyPr wrap="square" lIns="0" tIns="0" rIns="0" bIns="0" rtlCol="0" anchor="ctr"/>
          <a:lstStyle/>
          <a:p>
            <a:pPr indent="0" marL="0">
              <a:buNone/>
            </a:pPr>
            <a:r>
              <a:rPr lang="en-US" sz="1150" dirty="0">
                <a:solidFill>
                  <a:srgbClr val="5E6778"/>
                </a:solidFill>
                <a:latin typeface="Calibri" pitchFamily="34" charset="0"/>
                <a:ea typeface="Calibri" pitchFamily="34" charset="-122"/>
                <a:cs typeface="Calibri" pitchFamily="34" charset="-120"/>
              </a:rPr>
              <a:t>Infarct size, % LV mass</a:t>
            </a:r>
            <a:endParaRPr lang="en-US" sz="1150" dirty="0"/>
          </a:p>
        </p:txBody>
      </p:sp>
      <p:sp>
        <p:nvSpPr>
          <p:cNvPr id="23" name="Text 18"/>
          <p:cNvSpPr txBox="1"/>
          <p:nvPr/>
        </p:nvSpPr>
        <p:spPr>
          <a:xfrm>
            <a:off x="5074920" y="2377440"/>
            <a:ext cx="3291840" cy="777240"/>
          </a:xfrm>
          <a:prstGeom prst="rect">
            <a:avLst/>
          </a:prstGeom>
          <a:noFill/>
          <a:ln/>
        </p:spPr>
        <p:txBody>
          <a:bodyPr wrap="square" lIns="0" tIns="0" rIns="0" bIns="0" rtlCol="0" anchor="ctr"/>
          <a:lstStyle/>
          <a:p>
            <a:pPr indent="0" marL="0">
              <a:buNone/>
            </a:pPr>
            <a:r>
              <a:rPr lang="en-US" sz="4800" b="1" dirty="0">
                <a:solidFill>
                  <a:srgbClr val="1FA99C"/>
                </a:solidFill>
                <a:latin typeface="Cambria" pitchFamily="34" charset="0"/>
                <a:ea typeface="Cambria" pitchFamily="34" charset="-122"/>
                <a:cs typeface="Cambria" pitchFamily="34" charset="-120"/>
              </a:rPr>
              <a:t>−25%</a:t>
            </a:r>
            <a:endParaRPr lang="en-US" sz="4800" dirty="0"/>
          </a:p>
        </p:txBody>
      </p:sp>
      <p:sp>
        <p:nvSpPr>
          <p:cNvPr id="24" name="Text 19"/>
          <p:cNvSpPr txBox="1"/>
          <p:nvPr/>
        </p:nvSpPr>
        <p:spPr>
          <a:xfrm>
            <a:off x="5074920" y="3200400"/>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Standard PCI</a:t>
            </a:r>
            <a:endParaRPr lang="en-US" sz="950" dirty="0"/>
          </a:p>
        </p:txBody>
      </p:sp>
      <p:sp>
        <p:nvSpPr>
          <p:cNvPr id="25" name="Shape 20"/>
          <p:cNvSpPr/>
          <p:nvPr/>
        </p:nvSpPr>
        <p:spPr>
          <a:xfrm>
            <a:off x="5074920" y="3410712"/>
            <a:ext cx="3337560" cy="164592"/>
          </a:xfrm>
          <a:prstGeom prst="rect">
            <a:avLst/>
          </a:prstGeom>
          <a:solidFill>
            <a:srgbClr val="C7CCD6"/>
          </a:solidFill>
          <a:ln w="12700">
            <a:solidFill>
              <a:srgbClr val="C7CCD6"/>
            </a:solidFill>
            <a:prstDash val="solid"/>
          </a:ln>
        </p:spPr>
      </p:sp>
      <p:sp>
        <p:nvSpPr>
          <p:cNvPr id="26" name="Text 21"/>
          <p:cNvSpPr txBox="1"/>
          <p:nvPr/>
        </p:nvSpPr>
        <p:spPr>
          <a:xfrm>
            <a:off x="5074920" y="3630168"/>
            <a:ext cx="1371600" cy="201168"/>
          </a:xfrm>
          <a:prstGeom prst="rect">
            <a:avLst/>
          </a:prstGeom>
          <a:noFill/>
          <a:ln/>
        </p:spPr>
        <p:txBody>
          <a:bodyPr wrap="square" lIns="0" tIns="0" rIns="0" bIns="0" rtlCol="0" anchor="ctr"/>
          <a:lstStyle/>
          <a:p>
            <a:pPr indent="0" marL="0">
              <a:buNone/>
            </a:pPr>
            <a:r>
              <a:rPr lang="en-US" sz="950" dirty="0">
                <a:solidFill>
                  <a:srgbClr val="5E6778"/>
                </a:solidFill>
                <a:latin typeface="Calibri" pitchFamily="34" charset="0"/>
                <a:ea typeface="Calibri" pitchFamily="34" charset="-122"/>
                <a:cs typeface="Calibri" pitchFamily="34" charset="-120"/>
              </a:rPr>
              <a:t>enVast + PCI</a:t>
            </a:r>
            <a:endParaRPr lang="en-US" sz="950" dirty="0"/>
          </a:p>
        </p:txBody>
      </p:sp>
      <p:sp>
        <p:nvSpPr>
          <p:cNvPr id="27" name="Shape 22"/>
          <p:cNvSpPr/>
          <p:nvPr/>
        </p:nvSpPr>
        <p:spPr>
          <a:xfrm>
            <a:off x="5074920" y="3840480"/>
            <a:ext cx="2503170" cy="164592"/>
          </a:xfrm>
          <a:prstGeom prst="rect">
            <a:avLst/>
          </a:prstGeom>
          <a:solidFill>
            <a:srgbClr val="1FA99C"/>
          </a:solidFill>
          <a:ln w="12700">
            <a:solidFill>
              <a:srgbClr val="1FA99C"/>
            </a:solidFill>
            <a:prstDash val="solid"/>
          </a:ln>
        </p:spPr>
      </p:sp>
      <p:sp>
        <p:nvSpPr>
          <p:cNvPr id="28" name="Text 23"/>
          <p:cNvSpPr txBox="1"/>
          <p:nvPr/>
        </p:nvSpPr>
        <p:spPr>
          <a:xfrm>
            <a:off x="5074920" y="4041648"/>
            <a:ext cx="3337560" cy="228600"/>
          </a:xfrm>
          <a:prstGeom prst="rect">
            <a:avLst/>
          </a:prstGeom>
          <a:noFill/>
          <a:ln/>
        </p:spPr>
        <p:txBody>
          <a:bodyPr wrap="square" lIns="0" tIns="0" rIns="0" bIns="0" rtlCol="0" anchor="ctr"/>
          <a:lstStyle/>
          <a:p>
            <a:pPr indent="0" marL="0">
              <a:buNone/>
            </a:pPr>
            <a:r>
              <a:rPr lang="en-US" sz="1050" i="1" dirty="0">
                <a:solidFill>
                  <a:srgbClr val="1B2230"/>
                </a:solidFill>
                <a:latin typeface="Calibri" pitchFamily="34" charset="0"/>
                <a:ea typeface="Calibri" pitchFamily="34" charset="-122"/>
                <a:cs typeface="Calibri" pitchFamily="34" charset="-120"/>
              </a:rPr>
              <a:t>Directionally consistent trend</a:t>
            </a:r>
            <a:endParaRPr lang="en-US" sz="1050" dirty="0"/>
          </a:p>
        </p:txBody>
      </p:sp>
      <p:sp>
        <p:nvSpPr>
          <p:cNvPr id="29" name="Text 24"/>
          <p:cNvSpPr txBox="1"/>
          <p:nvPr/>
        </p:nvSpPr>
        <p:spPr>
          <a:xfrm>
            <a:off x="4343400" y="2377440"/>
            <a:ext cx="457200" cy="731520"/>
          </a:xfrm>
          <a:prstGeom prst="rect">
            <a:avLst/>
          </a:prstGeom>
          <a:noFill/>
          <a:ln/>
        </p:spPr>
        <p:txBody>
          <a:bodyPr wrap="square" lIns="0" tIns="0" rIns="0" bIns="0" rtlCol="0" anchor="ctr"/>
          <a:lstStyle/>
          <a:p>
            <a:pPr algn="ctr" indent="0" marL="0">
              <a:buNone/>
            </a:pPr>
            <a:r>
              <a:rPr lang="en-US" sz="3600" b="1" dirty="0">
                <a:solidFill>
                  <a:srgbClr val="5E6778"/>
                </a:solidFill>
                <a:latin typeface="Cambria" pitchFamily="34" charset="0"/>
                <a:ea typeface="Cambria" pitchFamily="34" charset="-122"/>
                <a:cs typeface="Cambria" pitchFamily="34" charset="-120"/>
              </a:rPr>
              <a:t>≈</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08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30-DAY SAFETY</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No strokes, no deaths in the enVast arm</a:t>
            </a:r>
            <a:endParaRPr lang="en-US" sz="3000" dirty="0"/>
          </a:p>
        </p:txBody>
      </p:sp>
      <p:graphicFrame>
        <p:nvGraphicFramePr>
          <p:cNvPr id="7" name="Chart 0" descr=""/>
          <p:cNvGraphicFramePr/>
          <p:nvPr/>
        </p:nvGraphicFramePr>
        <p:xfrm>
          <a:off x="365760" y="1325880"/>
          <a:ext cx="5120640" cy="315468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852160" y="1417320"/>
            <a:ext cx="2834640" cy="1417320"/>
          </a:xfrm>
          <a:prstGeom prst="roundRect">
            <a:avLst>
              <a:gd name="adj" fmla="val 7742"/>
            </a:avLst>
          </a:prstGeom>
          <a:solidFill>
            <a:srgbClr val="E3F5F3"/>
          </a:solidFill>
          <a:ln w="12700">
            <a:solidFill>
              <a:srgbClr val="E3F5F3"/>
            </a:solidFill>
            <a:prstDash val="solid"/>
          </a:ln>
        </p:spPr>
      </p:sp>
      <p:sp>
        <p:nvSpPr>
          <p:cNvPr id="9" name="Shape 5"/>
          <p:cNvSpPr/>
          <p:nvPr/>
        </p:nvSpPr>
        <p:spPr>
          <a:xfrm>
            <a:off x="6035040" y="1600200"/>
            <a:ext cx="457200" cy="457200"/>
          </a:xfrm>
          <a:prstGeom prst="ellipse">
            <a:avLst/>
          </a:prstGeom>
          <a:solidFill>
            <a:srgbClr val="1FA99C"/>
          </a:solidFill>
          <a:ln w="12700">
            <a:solidFill>
              <a:srgbClr val="1FA99C"/>
            </a:solidFill>
            <a:prstDash val="solid"/>
          </a:ln>
        </p:spPr>
      </p:sp>
      <p:pic>
        <p:nvPicPr>
          <p:cNvPr id="10" name="Image 1" descr="preencoded.png">    </p:cNvPr>
          <p:cNvPicPr>
            <a:picLocks noChangeAspect="1"/>
          </p:cNvPicPr>
          <p:nvPr/>
        </p:nvPicPr>
        <p:blipFill>
          <a:blip r:embed="rId3"/>
          <a:stretch>
            <a:fillRect/>
          </a:stretch>
        </p:blipFill>
        <p:spPr>
          <a:xfrm>
            <a:off x="6153912" y="1719072"/>
            <a:ext cx="219456" cy="219456"/>
          </a:xfrm>
          <a:prstGeom prst="rect">
            <a:avLst/>
          </a:prstGeom>
        </p:spPr>
      </p:pic>
      <p:sp>
        <p:nvSpPr>
          <p:cNvPr id="11" name="Text 6"/>
          <p:cNvSpPr txBox="1"/>
          <p:nvPr/>
        </p:nvSpPr>
        <p:spPr>
          <a:xfrm>
            <a:off x="6629400" y="1645920"/>
            <a:ext cx="2011680" cy="365760"/>
          </a:xfrm>
          <a:prstGeom prst="rect">
            <a:avLst/>
          </a:prstGeom>
          <a:noFill/>
          <a:ln/>
        </p:spPr>
        <p:txBody>
          <a:bodyPr wrap="square" lIns="0" tIns="0" rIns="0" bIns="0" rtlCol="0" anchor="ctr"/>
          <a:lstStyle/>
          <a:p>
            <a:pPr indent="0" marL="0">
              <a:buNone/>
            </a:pPr>
            <a:r>
              <a:rPr lang="en-US" sz="1400" b="1" dirty="0">
                <a:solidFill>
                  <a:srgbClr val="1B2230"/>
                </a:solidFill>
                <a:latin typeface="Cambria" pitchFamily="34" charset="0"/>
                <a:ea typeface="Cambria" pitchFamily="34" charset="-122"/>
                <a:cs typeface="Cambria" pitchFamily="34" charset="-120"/>
              </a:rPr>
              <a:t>Why it matters</a:t>
            </a:r>
            <a:endParaRPr lang="en-US" sz="1400" dirty="0"/>
          </a:p>
        </p:txBody>
      </p:sp>
      <p:sp>
        <p:nvSpPr>
          <p:cNvPr id="12" name="Text 7"/>
          <p:cNvSpPr txBox="1"/>
          <p:nvPr/>
        </p:nvSpPr>
        <p:spPr>
          <a:xfrm>
            <a:off x="6035040" y="2148840"/>
            <a:ext cx="2514600" cy="64008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Aspiration in TOTAL carried a stroke signal. NATURE saw none with enVast.</a:t>
            </a:r>
            <a:endParaRPr lang="en-US" sz="1150" dirty="0"/>
          </a:p>
        </p:txBody>
      </p:sp>
      <p:sp>
        <p:nvSpPr>
          <p:cNvPr id="13" name="Shape 8"/>
          <p:cNvSpPr/>
          <p:nvPr/>
        </p:nvSpPr>
        <p:spPr>
          <a:xfrm>
            <a:off x="5852160" y="3017520"/>
            <a:ext cx="2834640" cy="1417320"/>
          </a:xfrm>
          <a:prstGeom prst="roundRect">
            <a:avLst>
              <a:gd name="adj" fmla="val 7742"/>
            </a:avLst>
          </a:prstGeom>
          <a:solidFill>
            <a:srgbClr val="FDECEC"/>
          </a:solidFill>
          <a:ln w="12700">
            <a:solidFill>
              <a:srgbClr val="FDECEC"/>
            </a:solidFill>
            <a:prstDash val="solid"/>
          </a:ln>
        </p:spPr>
      </p:sp>
      <p:sp>
        <p:nvSpPr>
          <p:cNvPr id="14" name="Shape 9"/>
          <p:cNvSpPr/>
          <p:nvPr/>
        </p:nvSpPr>
        <p:spPr>
          <a:xfrm>
            <a:off x="6035040" y="3200400"/>
            <a:ext cx="457200" cy="457200"/>
          </a:xfrm>
          <a:prstGeom prst="ellipse">
            <a:avLst/>
          </a:prstGeom>
          <a:solidFill>
            <a:srgbClr val="E5383B"/>
          </a:solidFill>
          <a:ln w="12700">
            <a:solidFill>
              <a:srgbClr val="E5383B"/>
            </a:solidFill>
            <a:prstDash val="solid"/>
          </a:ln>
        </p:spPr>
      </p:sp>
      <p:pic>
        <p:nvPicPr>
          <p:cNvPr id="15" name="Image 2" descr="preencoded.png">    </p:cNvPr>
          <p:cNvPicPr>
            <a:picLocks noChangeAspect="1"/>
          </p:cNvPicPr>
          <p:nvPr/>
        </p:nvPicPr>
        <p:blipFill>
          <a:blip r:embed="rId4"/>
          <a:stretch>
            <a:fillRect/>
          </a:stretch>
        </p:blipFill>
        <p:spPr>
          <a:xfrm>
            <a:off x="6153912" y="3319272"/>
            <a:ext cx="219456" cy="219456"/>
          </a:xfrm>
          <a:prstGeom prst="rect">
            <a:avLst/>
          </a:prstGeom>
        </p:spPr>
      </p:pic>
      <p:sp>
        <p:nvSpPr>
          <p:cNvPr id="16" name="Text 10"/>
          <p:cNvSpPr txBox="1"/>
          <p:nvPr/>
        </p:nvSpPr>
        <p:spPr>
          <a:xfrm>
            <a:off x="6629400" y="3246120"/>
            <a:ext cx="2011680" cy="365760"/>
          </a:xfrm>
          <a:prstGeom prst="rect">
            <a:avLst/>
          </a:prstGeom>
          <a:noFill/>
          <a:ln/>
        </p:spPr>
        <p:txBody>
          <a:bodyPr wrap="square" lIns="0" tIns="0" rIns="0" bIns="0" rtlCol="0" anchor="ctr"/>
          <a:lstStyle/>
          <a:p>
            <a:pPr indent="0" marL="0">
              <a:buNone/>
            </a:pPr>
            <a:r>
              <a:rPr lang="en-US" sz="1400" b="1" dirty="0">
                <a:solidFill>
                  <a:srgbClr val="1B2230"/>
                </a:solidFill>
                <a:latin typeface="Cambria" pitchFamily="34" charset="0"/>
                <a:ea typeface="Cambria" pitchFamily="34" charset="-122"/>
                <a:cs typeface="Cambria" pitchFamily="34" charset="-120"/>
              </a:rPr>
              <a:t>Read with care</a:t>
            </a:r>
            <a:endParaRPr lang="en-US" sz="1400" dirty="0"/>
          </a:p>
        </p:txBody>
      </p:sp>
      <p:sp>
        <p:nvSpPr>
          <p:cNvPr id="17" name="Text 11"/>
          <p:cNvSpPr txBox="1"/>
          <p:nvPr/>
        </p:nvSpPr>
        <p:spPr>
          <a:xfrm>
            <a:off x="6035040" y="3749040"/>
            <a:ext cx="2514600" cy="64008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Only a handful of events; the trial was not powered for clinical outcomes.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09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CRITICAL APPRAISAL</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Strong signal, early evidence</a:t>
            </a:r>
            <a:endParaRPr lang="en-US" sz="3000" dirty="0"/>
          </a:p>
        </p:txBody>
      </p:sp>
      <p:sp>
        <p:nvSpPr>
          <p:cNvPr id="7" name="Shape 4"/>
          <p:cNvSpPr/>
          <p:nvPr/>
        </p:nvSpPr>
        <p:spPr>
          <a:xfrm>
            <a:off x="457200" y="1371600"/>
            <a:ext cx="4023360" cy="2514600"/>
          </a:xfrm>
          <a:prstGeom prst="roundRect">
            <a:avLst>
              <a:gd name="adj" fmla="val 4364"/>
            </a:avLst>
          </a:prstGeom>
          <a:solidFill>
            <a:srgbClr val="F6F7F9"/>
          </a:solidFill>
          <a:ln w="12700">
            <a:solidFill>
              <a:srgbClr val="F6F7F9"/>
            </a:solidFill>
            <a:prstDash val="solid"/>
          </a:ln>
        </p:spPr>
      </p:sp>
      <p:sp>
        <p:nvSpPr>
          <p:cNvPr id="8" name="Shape 5"/>
          <p:cNvSpPr/>
          <p:nvPr/>
        </p:nvSpPr>
        <p:spPr>
          <a:xfrm>
            <a:off x="731520" y="1572768"/>
            <a:ext cx="502920" cy="502920"/>
          </a:xfrm>
          <a:prstGeom prst="ellipse">
            <a:avLst/>
          </a:prstGeom>
          <a:solidFill>
            <a:srgbClr val="1FA99C"/>
          </a:solidFill>
          <a:ln w="12700">
            <a:solidFill>
              <a:srgbClr val="1FA99C"/>
            </a:solidFill>
            <a:prstDash val="solid"/>
          </a:ln>
        </p:spPr>
      </p:sp>
      <p:pic>
        <p:nvPicPr>
          <p:cNvPr id="9" name="Image 1" descr="preencoded.png">    </p:cNvPr>
          <p:cNvPicPr>
            <a:picLocks noChangeAspect="1"/>
          </p:cNvPicPr>
          <p:nvPr/>
        </p:nvPicPr>
        <p:blipFill>
          <a:blip r:embed="rId2"/>
          <a:stretch>
            <a:fillRect/>
          </a:stretch>
        </p:blipFill>
        <p:spPr>
          <a:xfrm>
            <a:off x="862279" y="1703527"/>
            <a:ext cx="241402" cy="241402"/>
          </a:xfrm>
          <a:prstGeom prst="rect">
            <a:avLst/>
          </a:prstGeom>
        </p:spPr>
      </p:pic>
      <p:sp>
        <p:nvSpPr>
          <p:cNvPr id="10" name="Text 6"/>
          <p:cNvSpPr txBox="1"/>
          <p:nvPr/>
        </p:nvSpPr>
        <p:spPr>
          <a:xfrm>
            <a:off x="1371600" y="1572768"/>
            <a:ext cx="2926080" cy="502920"/>
          </a:xfrm>
          <a:prstGeom prst="rect">
            <a:avLst/>
          </a:prstGeom>
          <a:noFill/>
          <a:ln/>
        </p:spPr>
        <p:txBody>
          <a:bodyPr wrap="square" lIns="0" tIns="0" rIns="0" bIns="0" rtlCol="0" anchor="ctr"/>
          <a:lstStyle/>
          <a:p>
            <a:pPr indent="0" marL="0">
              <a:buNone/>
            </a:pPr>
            <a:r>
              <a:rPr lang="en-US" sz="1900" b="1" dirty="0">
                <a:solidFill>
                  <a:srgbClr val="1B2230"/>
                </a:solidFill>
                <a:latin typeface="Cambria" pitchFamily="34" charset="0"/>
                <a:ea typeface="Cambria" pitchFamily="34" charset="-122"/>
                <a:cs typeface="Cambria" pitchFamily="34" charset="-120"/>
              </a:rPr>
              <a:t>Strengths</a:t>
            </a:r>
            <a:endParaRPr lang="en-US" sz="1900" dirty="0"/>
          </a:p>
        </p:txBody>
      </p:sp>
      <p:sp>
        <p:nvSpPr>
          <p:cNvPr id="11" name="Text 7"/>
          <p:cNvSpPr txBox="1"/>
          <p:nvPr/>
        </p:nvSpPr>
        <p:spPr>
          <a:xfrm>
            <a:off x="731520" y="2240280"/>
            <a:ext cx="356616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Randomised, multicentre design</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Population enriched for large thrombus — where benefit is most plausible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Biomarker and CMR results agree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No stroke or death signal at 30 days</a:t>
            </a:r>
            <a:endParaRPr lang="en-US" sz="1300" dirty="0"/>
          </a:p>
        </p:txBody>
      </p:sp>
      <p:sp>
        <p:nvSpPr>
          <p:cNvPr id="12" name="Shape 8"/>
          <p:cNvSpPr/>
          <p:nvPr/>
        </p:nvSpPr>
        <p:spPr>
          <a:xfrm>
            <a:off x="4663440" y="1371600"/>
            <a:ext cx="4023360" cy="2514600"/>
          </a:xfrm>
          <a:prstGeom prst="roundRect">
            <a:avLst>
              <a:gd name="adj" fmla="val 4364"/>
            </a:avLst>
          </a:prstGeom>
          <a:solidFill>
            <a:srgbClr val="F6F7F9"/>
          </a:solidFill>
          <a:ln w="12700">
            <a:solidFill>
              <a:srgbClr val="F6F7F9"/>
            </a:solidFill>
            <a:prstDash val="solid"/>
          </a:ln>
        </p:spPr>
      </p:sp>
      <p:sp>
        <p:nvSpPr>
          <p:cNvPr id="13" name="Shape 9"/>
          <p:cNvSpPr/>
          <p:nvPr/>
        </p:nvSpPr>
        <p:spPr>
          <a:xfrm>
            <a:off x="4937760" y="1572768"/>
            <a:ext cx="502920" cy="502920"/>
          </a:xfrm>
          <a:prstGeom prst="ellipse">
            <a:avLst/>
          </a:prstGeom>
          <a:solidFill>
            <a:srgbClr val="E5383B"/>
          </a:solidFill>
          <a:ln w="12700">
            <a:solidFill>
              <a:srgbClr val="E5383B"/>
            </a:solidFill>
            <a:prstDash val="solid"/>
          </a:ln>
        </p:spPr>
      </p:sp>
      <p:pic>
        <p:nvPicPr>
          <p:cNvPr id="14" name="Image 2" descr="preencoded.png">    </p:cNvPr>
          <p:cNvPicPr>
            <a:picLocks noChangeAspect="1"/>
          </p:cNvPicPr>
          <p:nvPr/>
        </p:nvPicPr>
        <p:blipFill>
          <a:blip r:embed="rId3"/>
          <a:stretch>
            <a:fillRect/>
          </a:stretch>
        </p:blipFill>
        <p:spPr>
          <a:xfrm>
            <a:off x="5068519" y="1703527"/>
            <a:ext cx="241402" cy="241402"/>
          </a:xfrm>
          <a:prstGeom prst="rect">
            <a:avLst/>
          </a:prstGeom>
        </p:spPr>
      </p:pic>
      <p:sp>
        <p:nvSpPr>
          <p:cNvPr id="15" name="Text 10"/>
          <p:cNvSpPr txBox="1"/>
          <p:nvPr/>
        </p:nvSpPr>
        <p:spPr>
          <a:xfrm>
            <a:off x="5577840" y="1572768"/>
            <a:ext cx="2926080" cy="502920"/>
          </a:xfrm>
          <a:prstGeom prst="rect">
            <a:avLst/>
          </a:prstGeom>
          <a:noFill/>
          <a:ln/>
        </p:spPr>
        <p:txBody>
          <a:bodyPr wrap="square" lIns="0" tIns="0" rIns="0" bIns="0" rtlCol="0" anchor="ctr"/>
          <a:lstStyle/>
          <a:p>
            <a:pPr indent="0" marL="0">
              <a:buNone/>
            </a:pPr>
            <a:r>
              <a:rPr lang="en-US" sz="1900" b="1" dirty="0">
                <a:solidFill>
                  <a:srgbClr val="1B2230"/>
                </a:solidFill>
                <a:latin typeface="Cambria" pitchFamily="34" charset="0"/>
                <a:ea typeface="Cambria" pitchFamily="34" charset="-122"/>
                <a:cs typeface="Cambria" pitchFamily="34" charset="-120"/>
              </a:rPr>
              <a:t>Limitations</a:t>
            </a:r>
            <a:endParaRPr lang="en-US" sz="1900" dirty="0"/>
          </a:p>
        </p:txBody>
      </p:sp>
      <p:sp>
        <p:nvSpPr>
          <p:cNvPr id="16" name="Text 11"/>
          <p:cNvSpPr txBox="1"/>
          <p:nvPr/>
        </p:nvSpPr>
        <p:spPr>
          <a:xfrm>
            <a:off x="4937760" y="2240280"/>
            <a:ext cx="356616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Modest sample (n = 154)</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Surrogate primary endpoint, not hard outcomes</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Operators cannot be blinded to device use</a:t>
            </a:r>
            <a:endParaRPr lang="en-US" sz="1300" dirty="0"/>
          </a:p>
          <a:p>
            <a:pPr marL="342900" indent="-342900">
              <a:spcAft>
                <a:spcPts val="800"/>
              </a:spcAft>
              <a:buSzPct val="100000"/>
              <a:buChar char="•"/>
            </a:pPr>
            <a:r>
              <a:rPr lang="en-US" sz="1300" dirty="0">
                <a:solidFill>
                  <a:srgbClr val="1B2230"/>
                </a:solidFill>
                <a:latin typeface="Calibri" pitchFamily="34" charset="0"/>
                <a:ea typeface="Calibri" pitchFamily="34" charset="-122"/>
                <a:cs typeface="Calibri" pitchFamily="34" charset="-120"/>
              </a:rPr>
              <a:t>CMR effect a trend; industry-sponsored</a:t>
            </a:r>
            <a:endParaRPr lang="en-US" sz="1300" dirty="0"/>
          </a:p>
        </p:txBody>
      </p:sp>
      <p:sp>
        <p:nvSpPr>
          <p:cNvPr id="17" name="Shape 12"/>
          <p:cNvSpPr/>
          <p:nvPr/>
        </p:nvSpPr>
        <p:spPr>
          <a:xfrm>
            <a:off x="457200" y="4023360"/>
            <a:ext cx="8229600" cy="457200"/>
          </a:xfrm>
          <a:prstGeom prst="roundRect">
            <a:avLst>
              <a:gd name="adj" fmla="val 50000"/>
            </a:avLst>
          </a:prstGeom>
          <a:solidFill>
            <a:srgbClr val="0E1117"/>
          </a:solidFill>
          <a:ln w="12700">
            <a:solidFill>
              <a:srgbClr val="0E1117"/>
            </a:solidFill>
            <a:prstDash val="solid"/>
          </a:ln>
        </p:spPr>
      </p:sp>
      <p:sp>
        <p:nvSpPr>
          <p:cNvPr id="18" name="Text 13"/>
          <p:cNvSpPr txBox="1"/>
          <p:nvPr/>
        </p:nvSpPr>
        <p:spPr>
          <a:xfrm>
            <a:off x="731520" y="4023360"/>
            <a:ext cx="7772400" cy="457200"/>
          </a:xfrm>
          <a:prstGeom prst="rect">
            <a:avLst/>
          </a:prstGeom>
          <a:noFill/>
          <a:ln/>
        </p:spPr>
        <p:txBody>
          <a:bodyPr wrap="square" lIns="0" tIns="0" rIns="0" bIns="0" rtlCol="0" anchor="ctr"/>
          <a:lstStyle/>
          <a:p>
            <a:pPr indent="0" marL="0">
              <a:buNone/>
            </a:pPr>
            <a:r>
              <a:rPr lang="en-US" sz="1250" b="1" spc="300" kern="0" dirty="0">
                <a:solidFill>
                  <a:srgbClr val="F4B6BB"/>
                </a:solidFill>
                <a:latin typeface="Calibri" pitchFamily="34" charset="0"/>
                <a:ea typeface="Calibri" pitchFamily="34" charset="-122"/>
                <a:cs typeface="Calibri" pitchFamily="34" charset="-120"/>
              </a:rPr>
              <a:t>VERDICT   </a:t>
            </a:r>
            <a:pPr indent="0" marL="0">
              <a:buNone/>
            </a:pPr>
            <a:r>
              <a:rPr lang="en-US" sz="1250" dirty="0">
                <a:solidFill>
                  <a:srgbClr val="FFFFFF"/>
                </a:solidFill>
                <a:latin typeface="Calibri" pitchFamily="34" charset="0"/>
                <a:ea typeface="Calibri" pitchFamily="34" charset="-122"/>
                <a:cs typeface="Calibri" pitchFamily="34" charset="-120"/>
              </a:rPr>
              <a:t>Confirms the hypothesis on infarct size; generates the hypothesis for clinical outcomes.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8A93A6"/>
                </a:solidFill>
                <a:latin typeface="Calibri" pitchFamily="34" charset="0"/>
                <a:ea typeface="Calibri" pitchFamily="34" charset="-122"/>
                <a:cs typeface="Calibri" pitchFamily="34" charset="-120"/>
              </a:rPr>
              <a:t>10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8A93A6"/>
                </a:solidFill>
                <a:latin typeface="Calibri" pitchFamily="34" charset="0"/>
                <a:ea typeface="Calibri" pitchFamily="34" charset="-122"/>
                <a:cs typeface="Calibri" pitchFamily="34" charset="-120"/>
              </a:rPr>
              <a:t>NATURE · ESC 2026</a:t>
            </a:r>
            <a:endParaRPr lang="en-US" sz="900" dirty="0"/>
          </a:p>
        </p:txBody>
      </p:sp>
      <p:pic>
        <p:nvPicPr>
          <p:cNvPr id="5" name="Image 1" descr="preencoded.png">    </p:cNvPr>
          <p:cNvPicPr>
            <a:picLocks noChangeAspect="1"/>
          </p:cNvPicPr>
          <p:nvPr/>
        </p:nvPicPr>
        <p:blipFill>
          <a:blip r:embed="rId2">
            <a:alphaModFix amt="30000"/>
          </a:blip>
          <a:stretch>
            <a:fillRect/>
          </a:stretch>
        </p:blipFill>
        <p:spPr>
          <a:xfrm>
            <a:off x="-182880" y="3611880"/>
            <a:ext cx="9509760" cy="914400"/>
          </a:xfrm>
          <a:prstGeom prst="rect">
            <a:avLst/>
          </a:prstGeom>
        </p:spPr>
      </p:pic>
      <p:sp>
        <p:nvSpPr>
          <p:cNvPr id="6"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TAKE-HOME</a:t>
            </a:r>
            <a:endParaRPr lang="en-US" sz="1100" dirty="0"/>
          </a:p>
        </p:txBody>
      </p:sp>
      <p:sp>
        <p:nvSpPr>
          <p:cNvPr id="7"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What NATURE means for the cath lab</a:t>
            </a:r>
            <a:endParaRPr lang="en-US" sz="3000" dirty="0"/>
          </a:p>
        </p:txBody>
      </p:sp>
      <p:sp>
        <p:nvSpPr>
          <p:cNvPr id="8" name="Shape 4"/>
          <p:cNvSpPr/>
          <p:nvPr/>
        </p:nvSpPr>
        <p:spPr>
          <a:xfrm>
            <a:off x="457200" y="1417320"/>
            <a:ext cx="2606040" cy="2194560"/>
          </a:xfrm>
          <a:prstGeom prst="roundRect">
            <a:avLst>
              <a:gd name="adj" fmla="val 5000"/>
            </a:avLst>
          </a:prstGeom>
          <a:solidFill>
            <a:srgbClr val="1A1F2B"/>
          </a:solidFill>
          <a:ln w="12700">
            <a:solidFill>
              <a:srgbClr val="1A1F2B"/>
            </a:solidFill>
            <a:prstDash val="solid"/>
          </a:ln>
        </p:spPr>
      </p:sp>
      <p:sp>
        <p:nvSpPr>
          <p:cNvPr id="9" name="Text 5"/>
          <p:cNvSpPr txBox="1"/>
          <p:nvPr/>
        </p:nvSpPr>
        <p:spPr>
          <a:xfrm>
            <a:off x="68580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01</a:t>
            </a:r>
            <a:endParaRPr lang="en-US" sz="2800" dirty="0"/>
          </a:p>
        </p:txBody>
      </p:sp>
      <p:sp>
        <p:nvSpPr>
          <p:cNvPr id="10" name="Text 6"/>
          <p:cNvSpPr txBox="1"/>
          <p:nvPr/>
        </p:nvSpPr>
        <p:spPr>
          <a:xfrm>
            <a:off x="68580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Superior on infarct size</a:t>
            </a:r>
            <a:endParaRPr lang="en-US" sz="1500" dirty="0"/>
          </a:p>
        </p:txBody>
      </p:sp>
      <p:sp>
        <p:nvSpPr>
          <p:cNvPr id="11" name="Text 7"/>
          <p:cNvSpPr txBox="1"/>
          <p:nvPr/>
        </p:nvSpPr>
        <p:spPr>
          <a:xfrm>
            <a:off x="68580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enVast before PCI cut enzymatic infarct size by ~26% in large-thrombus STEMI (P = 0.001).</a:t>
            </a:r>
            <a:endParaRPr lang="en-US" sz="1200" dirty="0"/>
          </a:p>
        </p:txBody>
      </p:sp>
      <p:sp>
        <p:nvSpPr>
          <p:cNvPr id="12" name="Shape 8"/>
          <p:cNvSpPr/>
          <p:nvPr/>
        </p:nvSpPr>
        <p:spPr>
          <a:xfrm>
            <a:off x="3291840" y="1417320"/>
            <a:ext cx="2606040" cy="2194560"/>
          </a:xfrm>
          <a:prstGeom prst="roundRect">
            <a:avLst>
              <a:gd name="adj" fmla="val 5000"/>
            </a:avLst>
          </a:prstGeom>
          <a:solidFill>
            <a:srgbClr val="1A1F2B"/>
          </a:solidFill>
          <a:ln w="12700">
            <a:solidFill>
              <a:srgbClr val="1A1F2B"/>
            </a:solidFill>
            <a:prstDash val="solid"/>
          </a:ln>
        </p:spPr>
      </p:sp>
      <p:sp>
        <p:nvSpPr>
          <p:cNvPr id="13" name="Text 9"/>
          <p:cNvSpPr txBox="1"/>
          <p:nvPr/>
        </p:nvSpPr>
        <p:spPr>
          <a:xfrm>
            <a:off x="352044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02</a:t>
            </a:r>
            <a:endParaRPr lang="en-US" sz="2800" dirty="0"/>
          </a:p>
        </p:txBody>
      </p:sp>
      <p:sp>
        <p:nvSpPr>
          <p:cNvPr id="14" name="Text 10"/>
          <p:cNvSpPr txBox="1"/>
          <p:nvPr/>
        </p:nvSpPr>
        <p:spPr>
          <a:xfrm>
            <a:off x="352044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Consistent and safe</a:t>
            </a:r>
            <a:endParaRPr lang="en-US" sz="1500" dirty="0"/>
          </a:p>
        </p:txBody>
      </p:sp>
      <p:sp>
        <p:nvSpPr>
          <p:cNvPr id="15" name="Text 11"/>
          <p:cNvSpPr txBox="1"/>
          <p:nvPr/>
        </p:nvSpPr>
        <p:spPr>
          <a:xfrm>
            <a:off x="352044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CMR pointed the same way; no strokes or deaths with enVast at 30 days.</a:t>
            </a:r>
            <a:endParaRPr lang="en-US" sz="1200" dirty="0"/>
          </a:p>
        </p:txBody>
      </p:sp>
      <p:sp>
        <p:nvSpPr>
          <p:cNvPr id="16" name="Shape 12"/>
          <p:cNvSpPr/>
          <p:nvPr/>
        </p:nvSpPr>
        <p:spPr>
          <a:xfrm>
            <a:off x="6126480" y="1417320"/>
            <a:ext cx="2606040" cy="2194560"/>
          </a:xfrm>
          <a:prstGeom prst="roundRect">
            <a:avLst>
              <a:gd name="adj" fmla="val 5000"/>
            </a:avLst>
          </a:prstGeom>
          <a:solidFill>
            <a:srgbClr val="1A1F2B"/>
          </a:solidFill>
          <a:ln w="12700">
            <a:solidFill>
              <a:srgbClr val="1A1F2B"/>
            </a:solidFill>
            <a:prstDash val="solid"/>
          </a:ln>
        </p:spPr>
      </p:sp>
      <p:sp>
        <p:nvSpPr>
          <p:cNvPr id="17" name="Text 13"/>
          <p:cNvSpPr txBox="1"/>
          <p:nvPr/>
        </p:nvSpPr>
        <p:spPr>
          <a:xfrm>
            <a:off x="6355080" y="1554480"/>
            <a:ext cx="914400" cy="502920"/>
          </a:xfrm>
          <a:prstGeom prst="rect">
            <a:avLst/>
          </a:prstGeom>
          <a:noFill/>
          <a:ln/>
        </p:spPr>
        <p:txBody>
          <a:bodyPr wrap="square" lIns="0" tIns="0" rIns="0" bIns="0" rtlCol="0" anchor="ctr"/>
          <a:lstStyle/>
          <a:p>
            <a:pPr indent="0" marL="0">
              <a:buNone/>
            </a:pPr>
            <a:r>
              <a:rPr lang="en-US" sz="2800" b="1" dirty="0">
                <a:solidFill>
                  <a:srgbClr val="E5383B"/>
                </a:solidFill>
                <a:latin typeface="Cambria" pitchFamily="34" charset="0"/>
                <a:ea typeface="Cambria" pitchFamily="34" charset="-122"/>
                <a:cs typeface="Cambria" pitchFamily="34" charset="-120"/>
              </a:rPr>
              <a:t>03</a:t>
            </a:r>
            <a:endParaRPr lang="en-US" sz="2800" dirty="0"/>
          </a:p>
        </p:txBody>
      </p:sp>
      <p:sp>
        <p:nvSpPr>
          <p:cNvPr id="18" name="Text 14"/>
          <p:cNvSpPr txBox="1"/>
          <p:nvPr/>
        </p:nvSpPr>
        <p:spPr>
          <a:xfrm>
            <a:off x="6355080" y="2103120"/>
            <a:ext cx="219456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Not yet practice-changing</a:t>
            </a:r>
            <a:endParaRPr lang="en-US" sz="1500" dirty="0"/>
          </a:p>
        </p:txBody>
      </p:sp>
      <p:sp>
        <p:nvSpPr>
          <p:cNvPr id="19" name="Text 15"/>
          <p:cNvSpPr txBox="1"/>
          <p:nvPr/>
        </p:nvSpPr>
        <p:spPr>
          <a:xfrm>
            <a:off x="6355080" y="2514600"/>
            <a:ext cx="2194560" cy="1005840"/>
          </a:xfrm>
          <a:prstGeom prst="rect">
            <a:avLst/>
          </a:prstGeom>
          <a:noFill/>
          <a:ln/>
        </p:spPr>
        <p:txBody>
          <a:bodyPr wrap="square" lIns="0" tIns="0" rIns="0" bIns="0" rtlCol="0" anchor="t"/>
          <a:lstStyle/>
          <a:p>
            <a:pPr indent="0" marL="0">
              <a:buNone/>
            </a:pPr>
            <a:r>
              <a:rPr lang="en-US" sz="1200" dirty="0">
                <a:solidFill>
                  <a:srgbClr val="C9CFDA"/>
                </a:solidFill>
                <a:latin typeface="Calibri" pitchFamily="34" charset="0"/>
                <a:ea typeface="Calibri" pitchFamily="34" charset="-122"/>
                <a:cs typeface="Calibri" pitchFamily="34" charset="-120"/>
              </a:rPr>
              <a:t>A larger outcomes trial is needed before routine use — selective, not universal.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18120" y="4727448"/>
            <a:ext cx="685800" cy="137160"/>
          </a:xfrm>
          <a:prstGeom prst="rect">
            <a:avLst/>
          </a:prstGeom>
        </p:spPr>
      </p:pic>
      <p:sp>
        <p:nvSpPr>
          <p:cNvPr id="3" name="Text 0"/>
          <p:cNvSpPr txBox="1"/>
          <p:nvPr/>
        </p:nvSpPr>
        <p:spPr>
          <a:xfrm>
            <a:off x="8503920" y="4663440"/>
            <a:ext cx="548640" cy="274320"/>
          </a:xfrm>
          <a:prstGeom prst="rect">
            <a:avLst/>
          </a:prstGeom>
          <a:noFill/>
          <a:ln/>
        </p:spPr>
        <p:txBody>
          <a:bodyPr wrap="square" lIns="0" tIns="0" rIns="0" bIns="0" rtlCol="0" anchor="ctr"/>
          <a:lstStyle/>
          <a:p>
            <a:pPr algn="r" indent="0" marL="0">
              <a:buNone/>
            </a:pPr>
            <a:r>
              <a:rPr lang="en-US" sz="900" dirty="0">
                <a:solidFill>
                  <a:srgbClr val="5E6778"/>
                </a:solidFill>
                <a:latin typeface="Calibri" pitchFamily="34" charset="0"/>
                <a:ea typeface="Calibri" pitchFamily="34" charset="-122"/>
                <a:cs typeface="Calibri" pitchFamily="34" charset="-120"/>
              </a:rPr>
              <a:t>11 / 11</a:t>
            </a:r>
            <a:endParaRPr lang="en-US" sz="900" dirty="0"/>
          </a:p>
        </p:txBody>
      </p:sp>
      <p:sp>
        <p:nvSpPr>
          <p:cNvPr id="4" name="Text 1"/>
          <p:cNvSpPr txBox="1"/>
          <p:nvPr/>
        </p:nvSpPr>
        <p:spPr>
          <a:xfrm>
            <a:off x="457200" y="4663440"/>
            <a:ext cx="2743200" cy="274320"/>
          </a:xfrm>
          <a:prstGeom prst="rect">
            <a:avLst/>
          </a:prstGeom>
          <a:noFill/>
          <a:ln/>
        </p:spPr>
        <p:txBody>
          <a:bodyPr wrap="square" lIns="0" tIns="0" rIns="0" bIns="0" rtlCol="0" anchor="ctr"/>
          <a:lstStyle/>
          <a:p>
            <a:pPr indent="0" marL="0">
              <a:buNone/>
            </a:pPr>
            <a:r>
              <a:rPr lang="en-US" sz="900" spc="200" kern="0" dirty="0">
                <a:solidFill>
                  <a:srgbClr val="5E6778"/>
                </a:solidFill>
                <a:latin typeface="Calibri" pitchFamily="34" charset="0"/>
                <a:ea typeface="Calibri" pitchFamily="34" charset="-122"/>
                <a:cs typeface="Calibri" pitchFamily="34" charset="-120"/>
              </a:rPr>
              <a:t>NATURE · ESC 2026</a:t>
            </a:r>
            <a:endParaRPr lang="en-US" sz="900" dirty="0"/>
          </a:p>
        </p:txBody>
      </p:sp>
      <p:sp>
        <p:nvSpPr>
          <p:cNvPr id="5" name="Text 2"/>
          <p:cNvSpPr txBox="1"/>
          <p:nvPr/>
        </p:nvSpPr>
        <p:spPr>
          <a:xfrm>
            <a:off x="457200" y="320040"/>
            <a:ext cx="8229600" cy="274320"/>
          </a:xfrm>
          <a:prstGeom prst="rect">
            <a:avLst/>
          </a:prstGeom>
          <a:noFill/>
          <a:ln/>
        </p:spPr>
        <p:txBody>
          <a:bodyPr wrap="square" lIns="0" tIns="0" rIns="0" bIns="0" rtlCol="0" anchor="ctr"/>
          <a:lstStyle/>
          <a:p>
            <a:pPr indent="0" marL="0">
              <a:buNone/>
            </a:pPr>
            <a:r>
              <a:rPr lang="en-US" sz="1100" b="1" spc="400" kern="0" dirty="0">
                <a:solidFill>
                  <a:srgbClr val="E5383B"/>
                </a:solidFill>
                <a:latin typeface="Calibri" pitchFamily="34" charset="0"/>
                <a:ea typeface="Calibri" pitchFamily="34" charset="-122"/>
                <a:cs typeface="Calibri" pitchFamily="34" charset="-120"/>
              </a:rPr>
              <a:t>SOURCES</a:t>
            </a:r>
            <a:endParaRPr lang="en-US" sz="1100" dirty="0"/>
          </a:p>
        </p:txBody>
      </p:sp>
      <p:sp>
        <p:nvSpPr>
          <p:cNvPr id="6" name="Text 3"/>
          <p:cNvSpPr txBox="1"/>
          <p:nvPr/>
        </p:nvSpPr>
        <p:spPr>
          <a:xfrm>
            <a:off x="457200" y="594360"/>
            <a:ext cx="8229600" cy="640080"/>
          </a:xfrm>
          <a:prstGeom prst="rect">
            <a:avLst/>
          </a:prstGeom>
          <a:noFill/>
          <a:ln/>
        </p:spPr>
        <p:txBody>
          <a:bodyPr wrap="square" lIns="0" tIns="0" rIns="0" bIns="0" rtlCol="0" anchor="t"/>
          <a:lstStyle/>
          <a:p>
            <a:pPr indent="0" marL="0">
              <a:buNone/>
            </a:pPr>
            <a:r>
              <a:rPr lang="en-US" sz="3000" b="1" dirty="0">
                <a:solidFill>
                  <a:srgbClr val="1B2230"/>
                </a:solidFill>
                <a:latin typeface="Cambria" pitchFamily="34" charset="0"/>
                <a:ea typeface="Cambria" pitchFamily="34" charset="-122"/>
                <a:cs typeface="Cambria" pitchFamily="34" charset="-120"/>
              </a:rPr>
              <a:t>References</a:t>
            </a:r>
            <a:endParaRPr lang="en-US" sz="3000" dirty="0"/>
          </a:p>
        </p:txBody>
      </p:sp>
      <p:sp>
        <p:nvSpPr>
          <p:cNvPr id="7" name="Shape 4"/>
          <p:cNvSpPr/>
          <p:nvPr/>
        </p:nvSpPr>
        <p:spPr>
          <a:xfrm>
            <a:off x="457200" y="1417320"/>
            <a:ext cx="502920" cy="502920"/>
          </a:xfrm>
          <a:prstGeom prst="ellipse">
            <a:avLst/>
          </a:prstGeom>
          <a:solidFill>
            <a:srgbClr val="0E1117"/>
          </a:solidFill>
          <a:ln w="12700">
            <a:solidFill>
              <a:srgbClr val="0E1117"/>
            </a:solidFill>
            <a:prstDash val="solid"/>
          </a:ln>
        </p:spPr>
      </p:sp>
      <p:pic>
        <p:nvPicPr>
          <p:cNvPr id="8" name="Image 1" descr="preencoded.png">    </p:cNvPr>
          <p:cNvPicPr>
            <a:picLocks noChangeAspect="1"/>
          </p:cNvPicPr>
          <p:nvPr/>
        </p:nvPicPr>
        <p:blipFill>
          <a:blip r:embed="rId2"/>
          <a:stretch>
            <a:fillRect/>
          </a:stretch>
        </p:blipFill>
        <p:spPr>
          <a:xfrm>
            <a:off x="587959" y="1548079"/>
            <a:ext cx="241402" cy="241402"/>
          </a:xfrm>
          <a:prstGeom prst="rect">
            <a:avLst/>
          </a:prstGeom>
        </p:spPr>
      </p:pic>
      <p:sp>
        <p:nvSpPr>
          <p:cNvPr id="9" name="Text 5"/>
          <p:cNvSpPr txBox="1"/>
          <p:nvPr/>
        </p:nvSpPr>
        <p:spPr>
          <a:xfrm>
            <a:off x="1234440" y="1371600"/>
            <a:ext cx="7452360" cy="3017520"/>
          </a:xfrm>
          <a:prstGeom prst="rect">
            <a:avLst/>
          </a:prstGeom>
          <a:noFill/>
          <a:ln/>
        </p:spPr>
        <p:txBody>
          <a:bodyPr wrap="square" lIns="0" tIns="0" rIns="0" bIns="0" rtlCol="0" anchor="t"/>
          <a:lstStyle/>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Valgimigli M. NATURE: enVast-assisted mechanical thrombectomy in large-thrombus STEMI. Late-Breaking Clinical Trial, ESC Congress 2026, Munich.</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Landi A, et al. The use of mechanical thrombectomy in patients with STEMI and large thrombus burden: design and rationale of the NATURE trial. Cardiovasc Revasc Med. 2026.</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ClinicalTrials.gov NCT04969471 — NATURE (enVast as an adjunct to PPCI in subjects presenting with STEMI).</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Fröbert O, et al. Thrombus aspiration during ST-segment elevation myocardial infarction (TASTE). N Engl J Med. 2013.</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Jolly SS, et al. Randomized trial of primary PCI with or without routine manual thrombectomy (TOTAL). N Engl J Med. 2015.</a:t>
            </a:r>
            <a:endParaRPr lang="en-US" sz="1200" dirty="0"/>
          </a:p>
          <a:p>
            <a:pPr marL="342900" indent="-342900">
              <a:spcAft>
                <a:spcPts val="700"/>
              </a:spcAft>
              <a:buSzPct val="100000"/>
              <a:buFont typeface="+mj-lt"/>
              <a:buAutoNum type="arabicPeriod" startAt="1"/>
            </a:pPr>
            <a:r>
              <a:rPr lang="en-US" sz="1200" dirty="0">
                <a:solidFill>
                  <a:srgbClr val="1B2230"/>
                </a:solidFill>
                <a:latin typeface="Calibri" pitchFamily="34" charset="0"/>
                <a:ea typeface="Calibri" pitchFamily="34" charset="-122"/>
                <a:cs typeface="Calibri" pitchFamily="34" charset="-120"/>
              </a:rPr>
              <a:t>Byrne RA, et al. 2023 ESC Guidelines for the management of acute coronary syndromes. Eur Heart J. 2023.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NATURE Trial — ESC Congress 2026</dc:title>
  <dc:subject>enVast-assisted mechanical thrombectomy in large-thrombus STEMI</dc:subject>
  <dc:creator>PptxGenJS</dc:creator>
  <cp:lastModifiedBy>PptxGenJS</cp:lastModifiedBy>
  <cp:revision>1</cp:revision>
  <dcterms:created xsi:type="dcterms:W3CDTF">2026-09-30T17:27:53Z</dcterms:created>
  <dcterms:modified xsi:type="dcterms:W3CDTF">2026-09-30T17:27:53Z</dcterms:modified>
</cp:coreProperties>
</file>