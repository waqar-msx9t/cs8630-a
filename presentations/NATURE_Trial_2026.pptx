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6B7280"/>
                </a:solidFill>
                <a:latin typeface="Calibri"/>
              </a:defRPr>
            </a:pPr>
            <a:r>
              <a:rPr sz="1100" b="0" i="0" u="none" strike="noStrike">
                <a:solidFill>
                  <a:srgbClr val="6B7280"/>
                </a:solidFill>
                <a:latin typeface="Calibri"/>
              </a:rPr>
              <a:t>Infarct size (control = 100)</a:t>
            </a:r>
          </a:p>
        </c:rich>
      </c:tx>
      <c:layout/>
      <c:overlay val="0"/>
    </c:title>
    <c:autoTitleDeleted val="0"/>
    <c:plotArea>
      <c:layout/>
      <c:barChart>
        <c:barDir val="col"/>
        <c:grouping val="clustered"/>
        <c:varyColors val="0"/>
        <c:ser>
          <c:idx val="0"/>
          <c:order val="0"/>
          <c:tx>
            <c:strRef>
              <c:f>Sheet1!$B$1</c:f>
              <c:strCache>
                <c:ptCount val="1"/>
                <c:pt idx="0">
                  <c:v>Infarct size</c:v>
                </c:pt>
              </c:strCache>
            </c:strRef>
          </c:tx>
          <c:spPr>
            <a:solidFill>
              <a:srgbClr val="A3AAB6"/>
            </a:solidFill>
            <a:effectLst/>
          </c:spPr>
          <c:invertIfNegative val="0"/>
          <c:dLbls>
            <c:numFmt formatCode="#,##0" sourceLinked="0"/>
            <c:txPr>
              <a:bodyPr/>
              <a:lstStyle/>
              <a:p>
                <a:pPr>
                  <a:defRPr b="1" i="0" strike="noStrike" sz="14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A3AAB6"/>
              </a:solidFill>
              <a:effectLst/>
            </c:spPr>
          </c:dPt>
          <c:dPt>
            <c:idx val="1"/>
            <c:invertIfNegative val="0"/>
            <c:bubble3D val="0"/>
            <c:spPr>
              <a:solidFill>
                <a:srgbClr val="8C1D40"/>
              </a:solidFill>
              <a:effectLst/>
            </c:spPr>
          </c:dPt>
          <c:cat>
            <c:multiLvlStrRef>
              <c:f>Sheet1!$A$2:$A$3</c:f>
              <c:multiLvlStrCache>
                <c:ptCount val="2"/>
                <c:lvl>
                  <c:pt idx="0">
                    <c:v>Standard PCI</c:v>
                  </c:pt>
                  <c:pt idx="1">
                    <c:v>enVast + PCI</c:v>
                  </c:pt>
                </c:lvl>
              </c:multiLvlStrCache>
            </c:multiLvlStrRef>
          </c:cat>
          <c:val>
            <c:numRef>
              <c:f>Sheet1!$B$2:$B$3</c:f>
              <c:numCache>
                <c:formatCode>General</c:formatCode>
                <c:ptCount val="2"/>
                <c:pt idx="0">
                  <c:v>100</c:v>
                </c:pt>
                <c:pt idx="1">
                  <c:v>74</c:v>
                </c:pt>
              </c:numCache>
            </c:numRef>
          </c:val>
        </c:ser>
        <c:dLbls>
          <c:numFmt formatCode="#,##0" sourceLinked="0"/>
          <c:txPr>
            <a:bodyPr/>
            <a:lstStyle/>
            <a:p>
              <a:pPr>
                <a:defRPr b="1" i="0" strike="noStrike" sz="1400" u="none">
                  <a:solidFill>
                    <a:srgbClr val="1F2937"/>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enVast + PCI</c:v>
                </c:pt>
              </c:strCache>
            </c:strRef>
          </c:tx>
          <c:spPr>
            <a:solidFill>
              <a:srgbClr val="8C1D40"/>
            </a:solidFill>
            <a:effectLst/>
          </c:spPr>
          <c:invertIfNegative val="0"/>
          <c:dLbls>
            <c:numFmt formatCode="0.0&quot;%&quot;" sourceLinked="0"/>
            <c:txPr>
              <a:bodyPr/>
              <a:lstStyle/>
              <a:p>
                <a:pPr>
                  <a:defRPr b="1" i="0" strike="noStrike" sz="12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Stroke</c:v>
                  </c:pt>
                  <c:pt idx="1">
                    <c:v>Death</c:v>
                  </c:pt>
                  <c:pt idx="2">
                    <c:v>MACE</c:v>
                  </c:pt>
                </c:lvl>
              </c:multiLvlStrCache>
            </c:multiLvlStrRef>
          </c:cat>
          <c:val>
            <c:numRef>
              <c:f>Sheet1!$B$2:$B$4</c:f>
              <c:numCache>
                <c:formatCode>General</c:formatCode>
                <c:ptCount val="3"/>
                <c:pt idx="0">
                  <c:v>0</c:v>
                </c:pt>
                <c:pt idx="1">
                  <c:v>0</c:v>
                </c:pt>
                <c:pt idx="2">
                  <c:v>1.3</c:v>
                </c:pt>
              </c:numCache>
            </c:numRef>
          </c:val>
        </c:ser>
        <c:ser>
          <c:idx val="1"/>
          <c:order val="1"/>
          <c:tx>
            <c:strRef>
              <c:f>Sheet1!$C$1</c:f>
              <c:strCache>
                <c:ptCount val="1"/>
                <c:pt idx="0">
                  <c:v>Standard PCI</c:v>
                </c:pt>
              </c:strCache>
            </c:strRef>
          </c:tx>
          <c:spPr>
            <a:solidFill>
              <a:srgbClr val="A3AAB6"/>
            </a:solidFill>
            <a:effectLst/>
          </c:spPr>
          <c:invertIfNegative val="0"/>
          <c:dLbls>
            <c:numFmt formatCode="0.0&quot;%&quot;" sourceLinked="0"/>
            <c:txPr>
              <a:bodyPr/>
              <a:lstStyle/>
              <a:p>
                <a:pPr>
                  <a:defRPr b="1" i="0" strike="noStrike" sz="12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Stroke</c:v>
                  </c:pt>
                  <c:pt idx="1">
                    <c:v>Death</c:v>
                  </c:pt>
                  <c:pt idx="2">
                    <c:v>MACE</c:v>
                  </c:pt>
                </c:lvl>
              </c:multiLvlStrCache>
            </c:multiLvlStrRef>
          </c:cat>
          <c:val>
            <c:numRef>
              <c:f>Sheet1!$C$2:$C$4</c:f>
              <c:numCache>
                <c:formatCode>General</c:formatCode>
                <c:ptCount val="3"/>
                <c:pt idx="0">
                  <c:v>1.3</c:v>
                </c:pt>
                <c:pt idx="1">
                  <c:v>2.6</c:v>
                </c:pt>
                <c:pt idx="2">
                  <c:v>3.8</c:v>
                </c:pt>
              </c:numCache>
            </c:numRef>
          </c:val>
        </c:ser>
        <c:dLbls>
          <c:numFmt formatCode="0.0&quot;%&quot;" sourceLinked="0"/>
          <c:txPr>
            <a:bodyPr/>
            <a:lstStyle/>
            <a:p>
              <a:pPr>
                <a:defRPr b="1" i="0" strike="noStrike" sz="1200" u="none">
                  <a:solidFill>
                    <a:srgbClr val="1F293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4.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Journal club presentation of the NATURE trial, presented as a late-breaking clinical trial at ESC Congress 2026 in Munich by Prof. Marco Valgimigli.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STEMI with a large thrombus, balloon and stent can fragment clot and push it downstream (distal embolisation), causing microvascular obstruction and larger infarcts. Routine manual aspiration was tested in TASTE and TOTAL without clinical benefit, and TOTAL showed more strokes, so current ESC guidance does not recommend routine aspiration.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enVast is Vesalio's coronary clot retriever, derived from its NeVa neurovascular thrombectomy platform. It is delivered through a microcatheter, self-expands inside the clot, holds the clot in its cells and is then pulled back. The picture is a schematic illustration, not a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the wire and microcatheter cross the thrombus. Step 2: the microcatheter is pulled back and the retriever expands inside the clot. Step 3: the retriever and the captured clot are withdrawn into the guide catheter, restoring flow. Step 4: conventional PCI with stent implantation completes the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 patients at 11 centres were randomised 1:1 to enVast-assisted thrombectomy followed by conventional PCI, or to standard primary PCI. The hypothesis was superiority of enVast on infarct size. Design paper: Landi et al., Cardiovascular Revascularization Medicine,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Inclusion criteria as listed on ClinicalTrials.gov (NCT04969471). The key criterion is TIMI thrombus grade 3 or more, re-confirmed after wiring if the artery is occluded.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Exclusion criteria as listed on ClinicalTrials.gov (NCT04969471). Most exclude anatomy where a retriever is hard to deliver safely, or situations that would confound the infarct-size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endpoint is enzymatic infarct size (CK-MB area under the curve). The key secondary endpoint is infarct size on cardiac MRI at day 3. Safety was assessed at 30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Enzymatic infarct size by CK-MB AUC was about 26% lower with enVast (P = 0.001). The chart shows the relative effect with control set to 100; absolute values are in the primary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Cardiac MRI at day 3 showed about a 25% relative reduction in infarct size as a percentage of LV mass. It was a positive trend rather than a formally significant result, but it agrees with the CK-MB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30 days: stroke 0% vs 1.3%, death 0% vs 2.6%, MACE 1.3% vs 3.8% (enVast vs control). Reassuring given the stroke signal with aspiration in TOTAL, but the event numbers are very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Randomised multicentre design, a population chosen where benefit is plausible, agreement between biomarker and MRI, and no early safety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sample, surrogate primary endpoint, operators unavoidably aware of device use, the MRI result only a trend, and industry sponsorship.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NATURE met its superiority hypothesis on infarct size, with reassuring 30-day safety. Because it is small and uses a surrogate endpoint, it should not yet change routine practice; an outcomes trial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messages for discussion: grade thrombus burden, do not use routine aspiration, and follow the evidence as outcome trials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NATURE figures are from the ESC 2026 late-breaking presentation and press reports; check the peer-reviewed publication for final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C1D40"/>
        </a:solidFill>
      </p:bgPr>
    </p:bg>
    <p:spTree>
      <p:nvGrpSpPr>
        <p:cNvPr id="1" name=""/>
        <p:cNvGrpSpPr/>
        <p:nvPr/>
      </p:nvGrpSpPr>
      <p:grpSpPr>
        <a:xfrm>
          <a:off x="0" y="0"/>
          <a:ext cx="0" cy="0"/>
          <a:chOff x="0" y="0"/>
          <a:chExt cx="0" cy="0"/>
        </a:xfrm>
      </p:grpSpPr>
      <p:sp>
        <p:nvSpPr>
          <p:cNvPr id="2" name="Text 0"/>
          <p:cNvSpPr txBox="1"/>
          <p:nvPr/>
        </p:nvSpPr>
        <p:spPr>
          <a:xfrm>
            <a:off x="640080" y="548640"/>
            <a:ext cx="5486400" cy="320040"/>
          </a:xfrm>
          <a:prstGeom prst="rect">
            <a:avLst/>
          </a:prstGeom>
          <a:noFill/>
          <a:ln/>
        </p:spPr>
        <p:txBody>
          <a:bodyPr wrap="square" lIns="0" tIns="0" rIns="0" bIns="0" rtlCol="0" anchor="ctr"/>
          <a:lstStyle/>
          <a:p>
            <a:pPr indent="0" marL="0">
              <a:buNone/>
            </a:pPr>
            <a:r>
              <a:rPr lang="en-US" sz="1400" b="1" spc="600" kern="0" dirty="0">
                <a:solidFill>
                  <a:srgbClr val="F3C9D5"/>
                </a:solidFill>
                <a:latin typeface="Calibri" pitchFamily="34" charset="0"/>
                <a:ea typeface="Calibri" pitchFamily="34" charset="-122"/>
                <a:cs typeface="Calibri" pitchFamily="34" charset="-120"/>
              </a:rPr>
              <a:t>JOURNAL CLUB</a:t>
            </a:r>
            <a:endParaRPr lang="en-US" sz="1400" dirty="0"/>
          </a:p>
        </p:txBody>
      </p:sp>
      <p:sp>
        <p:nvSpPr>
          <p:cNvPr id="3" name="Text 1"/>
          <p:cNvSpPr txBox="1"/>
          <p:nvPr/>
        </p:nvSpPr>
        <p:spPr>
          <a:xfrm>
            <a:off x="640080" y="960120"/>
            <a:ext cx="7772400" cy="8686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NATURE Trial</a:t>
            </a:r>
            <a:endParaRPr lang="en-US" sz="5000" dirty="0"/>
          </a:p>
        </p:txBody>
      </p:sp>
      <p:sp>
        <p:nvSpPr>
          <p:cNvPr id="4" name="Text 2"/>
          <p:cNvSpPr txBox="1"/>
          <p:nvPr/>
        </p:nvSpPr>
        <p:spPr>
          <a:xfrm>
            <a:off x="640080" y="1874520"/>
            <a:ext cx="6949440" cy="685800"/>
          </a:xfrm>
          <a:prstGeom prst="rect">
            <a:avLst/>
          </a:prstGeom>
          <a:noFill/>
          <a:ln/>
        </p:spPr>
        <p:txBody>
          <a:bodyPr wrap="square" lIns="0" tIns="0" rIns="0" bIns="0" rtlCol="0" anchor="t"/>
          <a:lstStyle/>
          <a:p>
            <a:pPr indent="0" marL="0">
              <a:buNone/>
            </a:pPr>
            <a:r>
              <a:rPr lang="en-US" sz="1600" dirty="0">
                <a:solidFill>
                  <a:srgbClr val="F3C9D5"/>
                </a:solidFill>
                <a:latin typeface="Calibri" pitchFamily="34" charset="0"/>
                <a:ea typeface="Calibri" pitchFamily="34" charset="-122"/>
                <a:cs typeface="Calibri" pitchFamily="34" charset="-120"/>
              </a:rPr>
              <a:t>Mechanical thrombectomy with enVast in STEMI with large thrombus burden — a randomised superiority trial (ESC Congress 2026)</a:t>
            </a:r>
            <a:endParaRPr lang="en-US" sz="1600" dirty="0"/>
          </a:p>
        </p:txBody>
      </p:sp>
      <p:sp>
        <p:nvSpPr>
          <p:cNvPr id="5" name="Shape 3"/>
          <p:cNvSpPr/>
          <p:nvPr/>
        </p:nvSpPr>
        <p:spPr>
          <a:xfrm>
            <a:off x="640080" y="2926080"/>
            <a:ext cx="4754880" cy="1463040"/>
          </a:xfrm>
          <a:prstGeom prst="roundRect">
            <a:avLst>
              <a:gd name="adj" fmla="val 5000"/>
            </a:avLst>
          </a:prstGeom>
          <a:solidFill>
            <a:srgbClr val="6E1631"/>
          </a:solidFill>
          <a:ln w="12700">
            <a:solidFill>
              <a:srgbClr val="6E1631"/>
            </a:solidFill>
            <a:prstDash val="solid"/>
          </a:ln>
        </p:spPr>
      </p:sp>
      <p:sp>
        <p:nvSpPr>
          <p:cNvPr id="6" name="Text 4"/>
          <p:cNvSpPr txBox="1"/>
          <p:nvPr/>
        </p:nvSpPr>
        <p:spPr>
          <a:xfrm>
            <a:off x="914400" y="3017520"/>
            <a:ext cx="4389120" cy="1280160"/>
          </a:xfrm>
          <a:prstGeom prst="rect">
            <a:avLst/>
          </a:prstGeom>
          <a:noFill/>
          <a:ln/>
        </p:spPr>
        <p:txBody>
          <a:bodyPr wrap="square" lIns="0" tIns="0" rIns="0" bIns="0" rtlCol="0" anchor="ctr"/>
          <a:lstStyle/>
          <a:p>
            <a:pPr indent="0" marL="0">
              <a:buNone/>
            </a:pPr>
            <a:r>
              <a:rPr lang="en-US" sz="1100" spc="200" kern="0" dirty="0">
                <a:solidFill>
                  <a:srgbClr val="F3C9D5"/>
                </a:solidFill>
                <a:latin typeface="Calibri" pitchFamily="34" charset="0"/>
                <a:ea typeface="Calibri" pitchFamily="34" charset="-122"/>
                <a:cs typeface="Calibri" pitchFamily="34" charset="-120"/>
              </a:rPr>
              <a:t>Presented by</a:t>
            </a:r>
            <a:endParaRPr lang="en-US" sz="1100" dirty="0"/>
          </a:p>
          <a:p>
            <a:pPr indent="0" marL="0">
              <a:buNone/>
            </a:pPr>
            <a:r>
              <a:rPr lang="en-US" sz="2200" b="1" dirty="0">
                <a:solidFill>
                  <a:srgbClr val="FFFFFF"/>
                </a:solidFill>
                <a:latin typeface="Cambria" pitchFamily="34" charset="0"/>
                <a:ea typeface="Cambria" pitchFamily="34" charset="-122"/>
                <a:cs typeface="Cambria" pitchFamily="34" charset="-120"/>
              </a:rPr>
              <a:t>Dr M. Waqas Saleem</a:t>
            </a:r>
            <a:endParaRPr lang="en-US" sz="1100" dirty="0"/>
          </a:p>
          <a:p>
            <a:pPr indent="0" marL="0">
              <a:buNone/>
            </a:pPr>
            <a:r>
              <a:rPr lang="en-US" sz="1400" dirty="0">
                <a:solidFill>
                  <a:srgbClr val="FFFFFF"/>
                </a:solidFill>
                <a:latin typeface="Calibri" pitchFamily="34" charset="0"/>
                <a:ea typeface="Calibri" pitchFamily="34" charset="-122"/>
                <a:cs typeface="Calibri" pitchFamily="34" charset="-120"/>
              </a:rPr>
              <a:t>PGR Cardiology</a:t>
            </a:r>
            <a:endParaRPr lang="en-US" sz="1100" dirty="0"/>
          </a:p>
          <a:p>
            <a:pPr indent="0" marL="0">
              <a:buNone/>
            </a:pPr>
            <a:r>
              <a:rPr lang="en-US" sz="1400" dirty="0">
                <a:solidFill>
                  <a:srgbClr val="FFFFFF"/>
                </a:solidFill>
                <a:latin typeface="Calibri" pitchFamily="34" charset="0"/>
                <a:ea typeface="Calibri" pitchFamily="34" charset="-122"/>
                <a:cs typeface="Calibri" pitchFamily="34" charset="-120"/>
              </a:rPr>
              <a:t>Cardiac Centre, BVH Bahawalpur</a:t>
            </a:r>
            <a:endParaRPr lang="en-US" sz="1100" dirty="0"/>
          </a:p>
        </p:txBody>
      </p:sp>
      <p:sp>
        <p:nvSpPr>
          <p:cNvPr id="7" name="Shape 5"/>
          <p:cNvSpPr/>
          <p:nvPr/>
        </p:nvSpPr>
        <p:spPr>
          <a:xfrm>
            <a:off x="6675120" y="2834640"/>
            <a:ext cx="1645920" cy="1645920"/>
          </a:xfrm>
          <a:prstGeom prst="ellipse">
            <a:avLst/>
          </a:prstGeom>
          <a:solidFill>
            <a:srgbClr val="6E1631"/>
          </a:solidFill>
          <a:ln w="12700">
            <a:solidFill>
              <a:srgbClr val="6E1631"/>
            </a:solidFill>
            <a:prstDash val="solid"/>
          </a:ln>
        </p:spPr>
      </p:sp>
      <p:pic>
        <p:nvPicPr>
          <p:cNvPr id="8" name="Image 0" descr="preencoded.png">    </p:cNvPr>
          <p:cNvPicPr>
            <a:picLocks noChangeAspect="1"/>
          </p:cNvPicPr>
          <p:nvPr/>
        </p:nvPicPr>
        <p:blipFill>
          <a:blip r:embed="rId1"/>
          <a:stretch>
            <a:fillRect/>
          </a:stretch>
        </p:blipFill>
        <p:spPr>
          <a:xfrm>
            <a:off x="7086600" y="324612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Background: why a large thrombus matters</a:t>
            </a:r>
            <a:endParaRPr lang="en-US" sz="2800" dirty="0"/>
          </a:p>
        </p:txBody>
      </p:sp>
      <p:sp>
        <p:nvSpPr>
          <p:cNvPr id="3" name="Text 1"/>
          <p:cNvSpPr txBox="1"/>
          <p:nvPr/>
        </p:nvSpPr>
        <p:spPr>
          <a:xfrm>
            <a:off x="457200" y="470916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NATURE Trial · Journal Club · Cardiac Centre, BVH Bahawalpur</a:t>
            </a:r>
            <a:endParaRPr lang="en-US" sz="900" dirty="0"/>
          </a:p>
        </p:txBody>
      </p:sp>
      <p:sp>
        <p:nvSpPr>
          <p:cNvPr id="4" name="Text 2"/>
          <p:cNvSpPr txBox="1"/>
          <p:nvPr/>
        </p:nvSpPr>
        <p:spPr>
          <a:xfrm>
            <a:off x="8229600" y="4709160"/>
            <a:ext cx="457200" cy="228600"/>
          </a:xfrm>
          <a:prstGeom prst="rect">
            <a:avLst/>
          </a:prstGeom>
          <a:noFill/>
          <a:ln/>
        </p:spPr>
        <p:txBody>
          <a:bodyPr wrap="square" lIns="0" tIns="0" rIns="0" bIns="0" rtlCol="0" anchor="ctr"/>
          <a:lstStyle/>
          <a:p>
            <a:pPr algn="r" indent="0" marL="0">
              <a:buNone/>
            </a:pPr>
            <a:r>
              <a:rPr lang="en-US" sz="900" b="1" dirty="0">
                <a:solidFill>
                  <a:srgbClr val="8C1D40"/>
                </a:solidFill>
                <a:latin typeface="Calibri" pitchFamily="34" charset="0"/>
                <a:ea typeface="Calibri" pitchFamily="34" charset="-122"/>
                <a:cs typeface="Calibri" pitchFamily="34" charset="-120"/>
              </a:rPr>
              <a:t>2</a:t>
            </a:r>
            <a:endParaRPr lang="en-US" sz="900" dirty="0"/>
          </a:p>
        </p:txBody>
      </p:sp>
      <p:sp>
        <p:nvSpPr>
          <p:cNvPr id="6" name="Shape 3"/>
          <p:cNvSpPr/>
          <p:nvPr/>
        </p:nvSpPr>
        <p:spPr>
          <a:xfrm>
            <a:off x="457200" y="1188720"/>
            <a:ext cx="1783080" cy="822960"/>
          </a:xfrm>
          <a:prstGeom prst="roundRect">
            <a:avLst>
              <a:gd name="adj" fmla="val 8889"/>
            </a:avLst>
          </a:prstGeom>
          <a:solidFill>
            <a:srgbClr val="F8F0F3"/>
          </a:solidFill>
          <a:ln w="12700">
            <a:solidFill>
              <a:srgbClr val="F8F0F3"/>
            </a:solidFill>
            <a:prstDash val="solid"/>
          </a:ln>
        </p:spPr>
      </p:sp>
      <p:sp>
        <p:nvSpPr>
          <p:cNvPr id="7" name="Text 4"/>
          <p:cNvSpPr txBox="1"/>
          <p:nvPr/>
        </p:nvSpPr>
        <p:spPr>
          <a:xfrm>
            <a:off x="457200" y="1188720"/>
            <a:ext cx="1783080" cy="822960"/>
          </a:xfrm>
          <a:prstGeom prst="rect">
            <a:avLst/>
          </a:prstGeom>
          <a:noFill/>
          <a:ln/>
        </p:spPr>
        <p:txBody>
          <a:bodyPr wrap="square" lIns="635" tIns="635" rIns="635" bIns="635"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Large thrombus</a:t>
            </a:r>
            <a:endParaRPr lang="en-US" sz="1400" dirty="0"/>
          </a:p>
        </p:txBody>
      </p:sp>
      <p:pic>
        <p:nvPicPr>
          <p:cNvPr id="8" name="Image 0" descr="preencoded.png">    </p:cNvPr>
          <p:cNvPicPr>
            <a:picLocks noChangeAspect="1"/>
          </p:cNvPicPr>
          <p:nvPr/>
        </p:nvPicPr>
        <p:blipFill>
          <a:blip r:embed="rId1"/>
          <a:stretch>
            <a:fillRect/>
          </a:stretch>
        </p:blipFill>
        <p:spPr>
          <a:xfrm>
            <a:off x="2304288" y="1499616"/>
            <a:ext cx="201168" cy="201168"/>
          </a:xfrm>
          <a:prstGeom prst="rect">
            <a:avLst/>
          </a:prstGeom>
        </p:spPr>
      </p:pic>
      <p:sp>
        <p:nvSpPr>
          <p:cNvPr id="9" name="Shape 5"/>
          <p:cNvSpPr/>
          <p:nvPr/>
        </p:nvSpPr>
        <p:spPr>
          <a:xfrm>
            <a:off x="2606040" y="1188720"/>
            <a:ext cx="1783080" cy="822960"/>
          </a:xfrm>
          <a:prstGeom prst="roundRect">
            <a:avLst>
              <a:gd name="adj" fmla="val 8889"/>
            </a:avLst>
          </a:prstGeom>
          <a:solidFill>
            <a:srgbClr val="F8F0F3"/>
          </a:solidFill>
          <a:ln w="12700">
            <a:solidFill>
              <a:srgbClr val="F8F0F3"/>
            </a:solidFill>
            <a:prstDash val="solid"/>
          </a:ln>
        </p:spPr>
      </p:sp>
      <p:sp>
        <p:nvSpPr>
          <p:cNvPr id="10" name="Text 6"/>
          <p:cNvSpPr txBox="1"/>
          <p:nvPr/>
        </p:nvSpPr>
        <p:spPr>
          <a:xfrm>
            <a:off x="2606040" y="1188720"/>
            <a:ext cx="1783080" cy="822960"/>
          </a:xfrm>
          <a:prstGeom prst="rect">
            <a:avLst/>
          </a:prstGeom>
          <a:noFill/>
          <a:ln/>
        </p:spPr>
        <p:txBody>
          <a:bodyPr wrap="square" lIns="635" tIns="635" rIns="635" bIns="635"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Distal embolisation</a:t>
            </a:r>
            <a:endParaRPr lang="en-US" sz="1400" dirty="0"/>
          </a:p>
        </p:txBody>
      </p:sp>
      <p:pic>
        <p:nvPicPr>
          <p:cNvPr id="11" name="Image 1" descr="preencoded.png">    </p:cNvPr>
          <p:cNvPicPr>
            <a:picLocks noChangeAspect="1"/>
          </p:cNvPicPr>
          <p:nvPr/>
        </p:nvPicPr>
        <p:blipFill>
          <a:blip r:embed="rId2"/>
          <a:stretch>
            <a:fillRect/>
          </a:stretch>
        </p:blipFill>
        <p:spPr>
          <a:xfrm>
            <a:off x="4453128" y="1499616"/>
            <a:ext cx="201168" cy="201168"/>
          </a:xfrm>
          <a:prstGeom prst="rect">
            <a:avLst/>
          </a:prstGeom>
        </p:spPr>
      </p:pic>
      <p:sp>
        <p:nvSpPr>
          <p:cNvPr id="12" name="Shape 7"/>
          <p:cNvSpPr/>
          <p:nvPr/>
        </p:nvSpPr>
        <p:spPr>
          <a:xfrm>
            <a:off x="4754880" y="1188720"/>
            <a:ext cx="1783080" cy="822960"/>
          </a:xfrm>
          <a:prstGeom prst="roundRect">
            <a:avLst>
              <a:gd name="adj" fmla="val 8889"/>
            </a:avLst>
          </a:prstGeom>
          <a:solidFill>
            <a:srgbClr val="F8F0F3"/>
          </a:solidFill>
          <a:ln w="12700">
            <a:solidFill>
              <a:srgbClr val="F8F0F3"/>
            </a:solidFill>
            <a:prstDash val="solid"/>
          </a:ln>
        </p:spPr>
      </p:sp>
      <p:sp>
        <p:nvSpPr>
          <p:cNvPr id="13" name="Text 8"/>
          <p:cNvSpPr txBox="1"/>
          <p:nvPr/>
        </p:nvSpPr>
        <p:spPr>
          <a:xfrm>
            <a:off x="4754880" y="1188720"/>
            <a:ext cx="1783080" cy="822960"/>
          </a:xfrm>
          <a:prstGeom prst="rect">
            <a:avLst/>
          </a:prstGeom>
          <a:noFill/>
          <a:ln/>
        </p:spPr>
        <p:txBody>
          <a:bodyPr wrap="square" lIns="635" tIns="635" rIns="635" bIns="635"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Microvascular obstruction</a:t>
            </a:r>
            <a:endParaRPr lang="en-US" sz="1400" dirty="0"/>
          </a:p>
        </p:txBody>
      </p:sp>
      <p:pic>
        <p:nvPicPr>
          <p:cNvPr id="14" name="Image 2" descr="preencoded.png">    </p:cNvPr>
          <p:cNvPicPr>
            <a:picLocks noChangeAspect="1"/>
          </p:cNvPicPr>
          <p:nvPr/>
        </p:nvPicPr>
        <p:blipFill>
          <a:blip r:embed="rId3"/>
          <a:stretch>
            <a:fillRect/>
          </a:stretch>
        </p:blipFill>
        <p:spPr>
          <a:xfrm>
            <a:off x="6601968" y="1499616"/>
            <a:ext cx="201168" cy="201168"/>
          </a:xfrm>
          <a:prstGeom prst="rect">
            <a:avLst/>
          </a:prstGeom>
        </p:spPr>
      </p:pic>
      <p:sp>
        <p:nvSpPr>
          <p:cNvPr id="15" name="Shape 9"/>
          <p:cNvSpPr/>
          <p:nvPr/>
        </p:nvSpPr>
        <p:spPr>
          <a:xfrm>
            <a:off x="6903720" y="1188720"/>
            <a:ext cx="1783080" cy="822960"/>
          </a:xfrm>
          <a:prstGeom prst="roundRect">
            <a:avLst>
              <a:gd name="adj" fmla="val 8889"/>
            </a:avLst>
          </a:prstGeom>
          <a:solidFill>
            <a:srgbClr val="8C1D40"/>
          </a:solidFill>
          <a:ln w="12700">
            <a:solidFill>
              <a:srgbClr val="8C1D40"/>
            </a:solidFill>
            <a:prstDash val="solid"/>
          </a:ln>
        </p:spPr>
      </p:sp>
      <p:sp>
        <p:nvSpPr>
          <p:cNvPr id="16" name="Text 10"/>
          <p:cNvSpPr txBox="1"/>
          <p:nvPr/>
        </p:nvSpPr>
        <p:spPr>
          <a:xfrm>
            <a:off x="6903720" y="1188720"/>
            <a:ext cx="1783080" cy="822960"/>
          </a:xfrm>
          <a:prstGeom prst="rect">
            <a:avLst/>
          </a:prstGeom>
          <a:noFill/>
          <a:ln/>
        </p:spPr>
        <p:txBody>
          <a:bodyPr wrap="square" lIns="635" tIns="635" rIns="635" bIns="635"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Larger infarct</a:t>
            </a:r>
            <a:endParaRPr lang="en-US" sz="1400" dirty="0"/>
          </a:p>
        </p:txBody>
      </p:sp>
      <p:sp>
        <p:nvSpPr>
          <p:cNvPr id="17" name="Text 11"/>
          <p:cNvSpPr txBox="1"/>
          <p:nvPr/>
        </p:nvSpPr>
        <p:spPr>
          <a:xfrm>
            <a:off x="457200" y="2331720"/>
            <a:ext cx="8229600" cy="320040"/>
          </a:xfrm>
          <a:prstGeom prst="rect">
            <a:avLst/>
          </a:prstGeom>
          <a:noFill/>
          <a:ln/>
        </p:spPr>
        <p:txBody>
          <a:bodyPr wrap="square" lIns="0" tIns="0" rIns="0" bIns="0" rtlCol="0" anchor="ctr"/>
          <a:lstStyle/>
          <a:p>
            <a:pPr indent="0" marL="0">
              <a:buNone/>
            </a:pPr>
            <a:r>
              <a:rPr lang="en-US" sz="1700" b="1" dirty="0">
                <a:solidFill>
                  <a:srgbClr val="8C1D40"/>
                </a:solidFill>
                <a:latin typeface="Cambria" pitchFamily="34" charset="0"/>
                <a:ea typeface="Cambria" pitchFamily="34" charset="-122"/>
                <a:cs typeface="Cambria" pitchFamily="34" charset="-120"/>
              </a:rPr>
              <a:t>What we already know</a:t>
            </a:r>
            <a:endParaRPr lang="en-US" sz="1700" dirty="0"/>
          </a:p>
        </p:txBody>
      </p:sp>
      <p:sp>
        <p:nvSpPr>
          <p:cNvPr id="18" name="Text 12"/>
          <p:cNvSpPr txBox="1"/>
          <p:nvPr/>
        </p:nvSpPr>
        <p:spPr>
          <a:xfrm>
            <a:off x="457200" y="2743200"/>
            <a:ext cx="822960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TASTE (n = 7,244): routine aspiration did not reduce mortality</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TOTAL (n = 10,732): no clinical benefit, and more strokes at 30 days</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ESC guidelines: routine thrombus aspiration is not recommended (Class III)</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Question: can a stent-retriever remove clot better and more safely?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enVast device</a:t>
            </a:r>
            <a:endParaRPr lang="en-US" sz="2800" dirty="0"/>
          </a:p>
        </p:txBody>
      </p:sp>
      <p:sp>
        <p:nvSpPr>
          <p:cNvPr id="3" name="Text 1"/>
          <p:cNvSpPr txBox="1"/>
          <p:nvPr/>
        </p:nvSpPr>
        <p:spPr>
          <a:xfrm>
            <a:off x="457200" y="470916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NATURE Trial · Journal Club · Cardiac Centre, BVH Bahawalpur</a:t>
            </a:r>
            <a:endParaRPr lang="en-US" sz="900" dirty="0"/>
          </a:p>
        </p:txBody>
      </p:sp>
      <p:sp>
        <p:nvSpPr>
          <p:cNvPr id="4" name="Text 2"/>
          <p:cNvSpPr txBox="1"/>
          <p:nvPr/>
        </p:nvSpPr>
        <p:spPr>
          <a:xfrm>
            <a:off x="8229600" y="4709160"/>
            <a:ext cx="457200" cy="228600"/>
          </a:xfrm>
          <a:prstGeom prst="rect">
            <a:avLst/>
          </a:prstGeom>
          <a:noFill/>
          <a:ln/>
        </p:spPr>
        <p:txBody>
          <a:bodyPr wrap="square" lIns="0" tIns="0" rIns="0" bIns="0" rtlCol="0" anchor="ctr"/>
          <a:lstStyle/>
          <a:p>
            <a:pPr algn="r" indent="0" marL="0">
              <a:buNone/>
            </a:pPr>
            <a:r>
              <a:rPr lang="en-US" sz="900" b="1" dirty="0">
                <a:solidFill>
                  <a:srgbClr val="8C1D40"/>
                </a:solidFill>
                <a:latin typeface="Calibri" pitchFamily="34" charset="0"/>
                <a:ea typeface="Calibri" pitchFamily="34" charset="-122"/>
                <a:cs typeface="Calibri" pitchFamily="34" charset="-120"/>
              </a:rPr>
              <a:t>3</a:t>
            </a:r>
            <a:endParaRPr lang="en-US" sz="900" dirty="0"/>
          </a:p>
        </p:txBody>
      </p:sp>
      <p:pic>
        <p:nvPicPr>
          <p:cNvPr id="6" name="Image 0" descr="preencoded.png">    </p:cNvPr>
          <p:cNvPicPr>
            <a:picLocks noChangeAspect="1"/>
          </p:cNvPicPr>
          <p:nvPr/>
        </p:nvPicPr>
        <p:blipFill>
          <a:blip r:embed="rId1"/>
          <a:stretch>
            <a:fillRect/>
          </a:stretch>
        </p:blipFill>
        <p:spPr>
          <a:xfrm>
            <a:off x="457200" y="1051560"/>
            <a:ext cx="8229600" cy="3054096"/>
          </a:xfrm>
          <a:prstGeom prst="rect">
            <a:avLst/>
          </a:prstGeom>
        </p:spPr>
      </p:pic>
      <p:sp>
        <p:nvSpPr>
          <p:cNvPr id="7" name="Text 3"/>
          <p:cNvSpPr txBox="1"/>
          <p:nvPr/>
        </p:nvSpPr>
        <p:spPr>
          <a:xfrm>
            <a:off x="457200" y="4206240"/>
            <a:ext cx="822960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Schematic illustration (not to scale). Coronary stent-retriever by Vesalio, derived from the NeVa neurovascular thrombectomy platform.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procedure step by step</a:t>
            </a:r>
            <a:endParaRPr lang="en-US" sz="2800" dirty="0"/>
          </a:p>
        </p:txBody>
      </p:sp>
      <p:sp>
        <p:nvSpPr>
          <p:cNvPr id="3" name="Text 1"/>
          <p:cNvSpPr txBox="1"/>
          <p:nvPr/>
        </p:nvSpPr>
        <p:spPr>
          <a:xfrm>
            <a:off x="457200" y="470916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NATURE Trial · Journal Club · Cardiac Centre, BVH Bahawalpur</a:t>
            </a:r>
            <a:endParaRPr lang="en-US" sz="900" dirty="0"/>
          </a:p>
        </p:txBody>
      </p:sp>
      <p:sp>
        <p:nvSpPr>
          <p:cNvPr id="4" name="Text 2"/>
          <p:cNvSpPr txBox="1"/>
          <p:nvPr/>
        </p:nvSpPr>
        <p:spPr>
          <a:xfrm>
            <a:off x="8229600" y="4709160"/>
            <a:ext cx="457200" cy="228600"/>
          </a:xfrm>
          <a:prstGeom prst="rect">
            <a:avLst/>
          </a:prstGeom>
          <a:noFill/>
          <a:ln/>
        </p:spPr>
        <p:txBody>
          <a:bodyPr wrap="square" lIns="0" tIns="0" rIns="0" bIns="0" rtlCol="0" anchor="ctr"/>
          <a:lstStyle/>
          <a:p>
            <a:pPr algn="r" indent="0" marL="0">
              <a:buNone/>
            </a:pPr>
            <a:r>
              <a:rPr lang="en-US" sz="900" b="1" dirty="0">
                <a:solidFill>
                  <a:srgbClr val="8C1D40"/>
                </a:solidFill>
                <a:latin typeface="Calibri" pitchFamily="34" charset="0"/>
                <a:ea typeface="Calibri" pitchFamily="34" charset="-122"/>
                <a:cs typeface="Calibri" pitchFamily="34" charset="-120"/>
              </a:rPr>
              <a:t>4</a:t>
            </a:r>
            <a:endParaRPr lang="en-US" sz="900" dirty="0"/>
          </a:p>
        </p:txBody>
      </p:sp>
      <p:sp>
        <p:nvSpPr>
          <p:cNvPr id="6" name="Shape 3"/>
          <p:cNvSpPr/>
          <p:nvPr/>
        </p:nvSpPr>
        <p:spPr>
          <a:xfrm>
            <a:off x="457200" y="1051560"/>
            <a:ext cx="2560320" cy="1280160"/>
          </a:xfrm>
          <a:prstGeom prst="rect">
            <a:avLst/>
          </a:prstGeom>
          <a:solidFill>
            <a:srgbClr val="FFFFFF"/>
          </a:solidFill>
          <a:ln w="12700">
            <a:solidFill>
              <a:srgbClr val="E5E7EB"/>
            </a:solidFill>
            <a:prstDash val="solid"/>
          </a:ln>
        </p:spPr>
      </p:sp>
      <p:pic>
        <p:nvPicPr>
          <p:cNvPr id="7" name="Image 0" descr="preencoded.png">    </p:cNvPr>
          <p:cNvPicPr>
            <a:picLocks noChangeAspect="1"/>
          </p:cNvPicPr>
          <p:nvPr/>
        </p:nvPicPr>
        <p:blipFill>
          <a:blip r:embed="rId1"/>
          <a:stretch>
            <a:fillRect/>
          </a:stretch>
        </p:blipFill>
        <p:spPr>
          <a:xfrm>
            <a:off x="466344" y="1060704"/>
            <a:ext cx="2542032" cy="1261872"/>
          </a:xfrm>
          <a:prstGeom prst="rect">
            <a:avLst/>
          </a:prstGeom>
        </p:spPr>
      </p:pic>
      <p:sp>
        <p:nvSpPr>
          <p:cNvPr id="8" name="Shape 4"/>
          <p:cNvSpPr/>
          <p:nvPr/>
        </p:nvSpPr>
        <p:spPr>
          <a:xfrm>
            <a:off x="3154680" y="1097280"/>
            <a:ext cx="384048" cy="384048"/>
          </a:xfrm>
          <a:prstGeom prst="ellipse">
            <a:avLst/>
          </a:prstGeom>
          <a:solidFill>
            <a:srgbClr val="8C1D40"/>
          </a:solidFill>
          <a:ln w="12700">
            <a:solidFill>
              <a:srgbClr val="8C1D40"/>
            </a:solidFill>
            <a:prstDash val="solid"/>
          </a:ln>
        </p:spPr>
      </p:sp>
      <p:sp>
        <p:nvSpPr>
          <p:cNvPr id="9" name="Text 5"/>
          <p:cNvSpPr txBox="1"/>
          <p:nvPr/>
        </p:nvSpPr>
        <p:spPr>
          <a:xfrm>
            <a:off x="3154680" y="1097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6"/>
          <p:cNvSpPr txBox="1"/>
          <p:nvPr/>
        </p:nvSpPr>
        <p:spPr>
          <a:xfrm>
            <a:off x="3611880" y="1097280"/>
            <a:ext cx="914400" cy="38404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Cross</a:t>
            </a:r>
            <a:endParaRPr lang="en-US" sz="1400" dirty="0"/>
          </a:p>
        </p:txBody>
      </p:sp>
      <p:sp>
        <p:nvSpPr>
          <p:cNvPr id="11" name="Text 7"/>
          <p:cNvSpPr txBox="1"/>
          <p:nvPr/>
        </p:nvSpPr>
        <p:spPr>
          <a:xfrm>
            <a:off x="3154680" y="1572768"/>
            <a:ext cx="1371600" cy="7315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Wire and microcatheter pass through the clot</a:t>
            </a:r>
            <a:endParaRPr lang="en-US" sz="1100" dirty="0"/>
          </a:p>
        </p:txBody>
      </p:sp>
      <p:sp>
        <p:nvSpPr>
          <p:cNvPr id="12" name="Shape 8"/>
          <p:cNvSpPr/>
          <p:nvPr/>
        </p:nvSpPr>
        <p:spPr>
          <a:xfrm>
            <a:off x="4663440" y="1051560"/>
            <a:ext cx="2560320" cy="1280160"/>
          </a:xfrm>
          <a:prstGeom prst="rect">
            <a:avLst/>
          </a:prstGeom>
          <a:solidFill>
            <a:srgbClr val="FFFFFF"/>
          </a:solidFill>
          <a:ln w="12700">
            <a:solidFill>
              <a:srgbClr val="E5E7EB"/>
            </a:solidFill>
            <a:prstDash val="solid"/>
          </a:ln>
        </p:spPr>
      </p:sp>
      <p:pic>
        <p:nvPicPr>
          <p:cNvPr id="13" name="Image 1" descr="preencoded.png">    </p:cNvPr>
          <p:cNvPicPr>
            <a:picLocks noChangeAspect="1"/>
          </p:cNvPicPr>
          <p:nvPr/>
        </p:nvPicPr>
        <p:blipFill>
          <a:blip r:embed="rId2"/>
          <a:stretch>
            <a:fillRect/>
          </a:stretch>
        </p:blipFill>
        <p:spPr>
          <a:xfrm>
            <a:off x="4672584" y="1060704"/>
            <a:ext cx="2542032" cy="1261872"/>
          </a:xfrm>
          <a:prstGeom prst="rect">
            <a:avLst/>
          </a:prstGeom>
        </p:spPr>
      </p:pic>
      <p:sp>
        <p:nvSpPr>
          <p:cNvPr id="14" name="Shape 9"/>
          <p:cNvSpPr/>
          <p:nvPr/>
        </p:nvSpPr>
        <p:spPr>
          <a:xfrm>
            <a:off x="7360920" y="1097280"/>
            <a:ext cx="384048" cy="384048"/>
          </a:xfrm>
          <a:prstGeom prst="ellipse">
            <a:avLst/>
          </a:prstGeom>
          <a:solidFill>
            <a:srgbClr val="8C1D40"/>
          </a:solidFill>
          <a:ln w="12700">
            <a:solidFill>
              <a:srgbClr val="8C1D40"/>
            </a:solidFill>
            <a:prstDash val="solid"/>
          </a:ln>
        </p:spPr>
      </p:sp>
      <p:sp>
        <p:nvSpPr>
          <p:cNvPr id="15" name="Text 10"/>
          <p:cNvSpPr txBox="1"/>
          <p:nvPr/>
        </p:nvSpPr>
        <p:spPr>
          <a:xfrm>
            <a:off x="7360920" y="1097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1"/>
          <p:cNvSpPr txBox="1"/>
          <p:nvPr/>
        </p:nvSpPr>
        <p:spPr>
          <a:xfrm>
            <a:off x="7818120" y="1097280"/>
            <a:ext cx="914400" cy="38404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Deploy</a:t>
            </a:r>
            <a:endParaRPr lang="en-US" sz="1400" dirty="0"/>
          </a:p>
        </p:txBody>
      </p:sp>
      <p:sp>
        <p:nvSpPr>
          <p:cNvPr id="17" name="Text 12"/>
          <p:cNvSpPr txBox="1"/>
          <p:nvPr/>
        </p:nvSpPr>
        <p:spPr>
          <a:xfrm>
            <a:off x="7360920" y="1572768"/>
            <a:ext cx="1371600" cy="7315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Retriever opens inside the clot and holds it</a:t>
            </a:r>
            <a:endParaRPr lang="en-US" sz="1100" dirty="0"/>
          </a:p>
        </p:txBody>
      </p:sp>
      <p:sp>
        <p:nvSpPr>
          <p:cNvPr id="18" name="Shape 13"/>
          <p:cNvSpPr/>
          <p:nvPr/>
        </p:nvSpPr>
        <p:spPr>
          <a:xfrm>
            <a:off x="457200" y="2697480"/>
            <a:ext cx="2560320" cy="1280160"/>
          </a:xfrm>
          <a:prstGeom prst="rect">
            <a:avLst/>
          </a:prstGeom>
          <a:solidFill>
            <a:srgbClr val="FFFFFF"/>
          </a:solidFill>
          <a:ln w="12700">
            <a:solidFill>
              <a:srgbClr val="E5E7EB"/>
            </a:solidFill>
            <a:prstDash val="solid"/>
          </a:ln>
        </p:spPr>
      </p:sp>
      <p:pic>
        <p:nvPicPr>
          <p:cNvPr id="19" name="Image 2" descr="preencoded.png">    </p:cNvPr>
          <p:cNvPicPr>
            <a:picLocks noChangeAspect="1"/>
          </p:cNvPicPr>
          <p:nvPr/>
        </p:nvPicPr>
        <p:blipFill>
          <a:blip r:embed="rId3"/>
          <a:stretch>
            <a:fillRect/>
          </a:stretch>
        </p:blipFill>
        <p:spPr>
          <a:xfrm>
            <a:off x="466344" y="2706624"/>
            <a:ext cx="2542032" cy="1261872"/>
          </a:xfrm>
          <a:prstGeom prst="rect">
            <a:avLst/>
          </a:prstGeom>
        </p:spPr>
      </p:pic>
      <p:sp>
        <p:nvSpPr>
          <p:cNvPr id="20" name="Shape 14"/>
          <p:cNvSpPr/>
          <p:nvPr/>
        </p:nvSpPr>
        <p:spPr>
          <a:xfrm>
            <a:off x="3154680" y="2743200"/>
            <a:ext cx="384048" cy="384048"/>
          </a:xfrm>
          <a:prstGeom prst="ellipse">
            <a:avLst/>
          </a:prstGeom>
          <a:solidFill>
            <a:srgbClr val="8C1D40"/>
          </a:solidFill>
          <a:ln w="12700">
            <a:solidFill>
              <a:srgbClr val="8C1D40"/>
            </a:solidFill>
            <a:prstDash val="solid"/>
          </a:ln>
        </p:spPr>
      </p:sp>
      <p:sp>
        <p:nvSpPr>
          <p:cNvPr id="21" name="Text 15"/>
          <p:cNvSpPr txBox="1"/>
          <p:nvPr/>
        </p:nvSpPr>
        <p:spPr>
          <a:xfrm>
            <a:off x="3154680" y="2743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6"/>
          <p:cNvSpPr txBox="1"/>
          <p:nvPr/>
        </p:nvSpPr>
        <p:spPr>
          <a:xfrm>
            <a:off x="3611880" y="2743200"/>
            <a:ext cx="914400" cy="38404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Retrieve</a:t>
            </a:r>
            <a:endParaRPr lang="en-US" sz="1400" dirty="0"/>
          </a:p>
        </p:txBody>
      </p:sp>
      <p:sp>
        <p:nvSpPr>
          <p:cNvPr id="23" name="Text 17"/>
          <p:cNvSpPr txBox="1"/>
          <p:nvPr/>
        </p:nvSpPr>
        <p:spPr>
          <a:xfrm>
            <a:off x="3154680" y="3218688"/>
            <a:ext cx="1371600" cy="7315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Device and clot pulled back into the guide</a:t>
            </a:r>
            <a:endParaRPr lang="en-US" sz="1100" dirty="0"/>
          </a:p>
        </p:txBody>
      </p:sp>
      <p:sp>
        <p:nvSpPr>
          <p:cNvPr id="24" name="Shape 18"/>
          <p:cNvSpPr/>
          <p:nvPr/>
        </p:nvSpPr>
        <p:spPr>
          <a:xfrm>
            <a:off x="4663440" y="2697480"/>
            <a:ext cx="2560320" cy="1280160"/>
          </a:xfrm>
          <a:prstGeom prst="rect">
            <a:avLst/>
          </a:prstGeom>
          <a:solidFill>
            <a:srgbClr val="FFFFFF"/>
          </a:solidFill>
          <a:ln w="12700">
            <a:solidFill>
              <a:srgbClr val="E5E7EB"/>
            </a:solidFill>
            <a:prstDash val="solid"/>
          </a:ln>
        </p:spPr>
      </p:sp>
      <p:pic>
        <p:nvPicPr>
          <p:cNvPr id="25" name="Image 3" descr="preencoded.png">    </p:cNvPr>
          <p:cNvPicPr>
            <a:picLocks noChangeAspect="1"/>
          </p:cNvPicPr>
          <p:nvPr/>
        </p:nvPicPr>
        <p:blipFill>
          <a:blip r:embed="rId4"/>
          <a:stretch>
            <a:fillRect/>
          </a:stretch>
        </p:blipFill>
        <p:spPr>
          <a:xfrm>
            <a:off x="4672584" y="2706624"/>
            <a:ext cx="2542032" cy="1261872"/>
          </a:xfrm>
          <a:prstGeom prst="rect">
            <a:avLst/>
          </a:prstGeom>
        </p:spPr>
      </p:pic>
      <p:sp>
        <p:nvSpPr>
          <p:cNvPr id="26" name="Shape 19"/>
          <p:cNvSpPr/>
          <p:nvPr/>
        </p:nvSpPr>
        <p:spPr>
          <a:xfrm>
            <a:off x="7360920" y="2743200"/>
            <a:ext cx="384048" cy="384048"/>
          </a:xfrm>
          <a:prstGeom prst="ellipse">
            <a:avLst/>
          </a:prstGeom>
          <a:solidFill>
            <a:srgbClr val="8C1D40"/>
          </a:solidFill>
          <a:ln w="12700">
            <a:solidFill>
              <a:srgbClr val="8C1D40"/>
            </a:solidFill>
            <a:prstDash val="solid"/>
          </a:ln>
        </p:spPr>
      </p:sp>
      <p:sp>
        <p:nvSpPr>
          <p:cNvPr id="27" name="Text 20"/>
          <p:cNvSpPr txBox="1"/>
          <p:nvPr/>
        </p:nvSpPr>
        <p:spPr>
          <a:xfrm>
            <a:off x="7360920" y="2743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1"/>
          <p:cNvSpPr txBox="1"/>
          <p:nvPr/>
        </p:nvSpPr>
        <p:spPr>
          <a:xfrm>
            <a:off x="7818120" y="2743200"/>
            <a:ext cx="914400" cy="38404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Stent</a:t>
            </a:r>
            <a:endParaRPr lang="en-US" sz="1400" dirty="0"/>
          </a:p>
        </p:txBody>
      </p:sp>
      <p:sp>
        <p:nvSpPr>
          <p:cNvPr id="29" name="Text 22"/>
          <p:cNvSpPr txBox="1"/>
          <p:nvPr/>
        </p:nvSpPr>
        <p:spPr>
          <a:xfrm>
            <a:off x="7360920" y="3218688"/>
            <a:ext cx="1371600" cy="7315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Conventional PCI; flow restored</a:t>
            </a:r>
            <a:endParaRPr lang="en-US" sz="1100" dirty="0"/>
          </a:p>
        </p:txBody>
      </p:sp>
      <p:sp>
        <p:nvSpPr>
          <p:cNvPr id="30" name="Text 23"/>
          <p:cNvSpPr txBox="1"/>
          <p:nvPr/>
        </p:nvSpPr>
        <p:spPr>
          <a:xfrm>
            <a:off x="457200" y="4389120"/>
            <a:ext cx="8229600" cy="22860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Schematic illustrations (not to scale).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Trial design</a:t>
            </a:r>
            <a:endParaRPr lang="en-US" sz="2800" dirty="0"/>
          </a:p>
        </p:txBody>
      </p:sp>
      <p:sp>
        <p:nvSpPr>
          <p:cNvPr id="3" name="Text 1"/>
          <p:cNvSpPr txBox="1"/>
          <p:nvPr/>
        </p:nvSpPr>
        <p:spPr>
          <a:xfrm>
            <a:off x="457200" y="470916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NATURE Trial · Journal Club · Cardiac Centre, BVH Bahawalpur</a:t>
            </a:r>
            <a:endParaRPr lang="en-US" sz="900" dirty="0"/>
          </a:p>
        </p:txBody>
      </p:sp>
      <p:sp>
        <p:nvSpPr>
          <p:cNvPr id="4" name="Text 2"/>
          <p:cNvSpPr txBox="1"/>
          <p:nvPr/>
        </p:nvSpPr>
        <p:spPr>
          <a:xfrm>
            <a:off x="8229600" y="4709160"/>
            <a:ext cx="457200" cy="228600"/>
          </a:xfrm>
          <a:prstGeom prst="rect">
            <a:avLst/>
          </a:prstGeom>
          <a:noFill/>
          <a:ln/>
        </p:spPr>
        <p:txBody>
          <a:bodyPr wrap="square" lIns="0" tIns="0" rIns="0" bIns="0" rtlCol="0" anchor="ctr"/>
          <a:lstStyle/>
          <a:p>
            <a:pPr algn="r" indent="0" marL="0">
              <a:buNone/>
            </a:pPr>
            <a:r>
              <a:rPr lang="en-US" sz="900" b="1" dirty="0">
                <a:solidFill>
                  <a:srgbClr val="8C1D40"/>
                </a:solidFill>
                <a:latin typeface="Calibri" pitchFamily="34" charset="0"/>
                <a:ea typeface="Calibri" pitchFamily="34" charset="-122"/>
                <a:cs typeface="Calibri" pitchFamily="34" charset="-120"/>
              </a:rPr>
              <a:t>5</a:t>
            </a:r>
            <a:endParaRPr lang="en-US" sz="900" dirty="0"/>
          </a:p>
        </p:txBody>
      </p:sp>
      <p:sp>
        <p:nvSpPr>
          <p:cNvPr id="6" name="Shape 3"/>
          <p:cNvSpPr/>
          <p:nvPr/>
        </p:nvSpPr>
        <p:spPr>
          <a:xfrm>
            <a:off x="457200" y="1097280"/>
            <a:ext cx="4937760" cy="640080"/>
          </a:xfrm>
          <a:prstGeom prst="roundRect">
            <a:avLst>
              <a:gd name="adj" fmla="val 11429"/>
            </a:avLst>
          </a:prstGeom>
          <a:solidFill>
            <a:srgbClr val="1F2937"/>
          </a:solidFill>
          <a:ln w="12700">
            <a:solidFill>
              <a:srgbClr val="1F2937"/>
            </a:solidFill>
            <a:prstDash val="solid"/>
          </a:ln>
        </p:spPr>
      </p:sp>
      <p:sp>
        <p:nvSpPr>
          <p:cNvPr id="7" name="Text 4"/>
          <p:cNvSpPr txBox="1"/>
          <p:nvPr/>
        </p:nvSpPr>
        <p:spPr>
          <a:xfrm>
            <a:off x="457200" y="1097280"/>
            <a:ext cx="493776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154 STEMI patients with large thrombus · 11 centres</a:t>
            </a:r>
            <a:endParaRPr lang="en-US" sz="1500" dirty="0"/>
          </a:p>
        </p:txBody>
      </p:sp>
      <p:pic>
        <p:nvPicPr>
          <p:cNvPr id="8" name="Image 0" descr="preencoded.png">    </p:cNvPr>
          <p:cNvPicPr>
            <a:picLocks noChangeAspect="1"/>
          </p:cNvPicPr>
          <p:nvPr/>
        </p:nvPicPr>
        <p:blipFill>
          <a:blip r:embed="rId1"/>
          <a:stretch>
            <a:fillRect/>
          </a:stretch>
        </p:blipFill>
        <p:spPr>
          <a:xfrm>
            <a:off x="2816352" y="1828800"/>
            <a:ext cx="219456" cy="219456"/>
          </a:xfrm>
          <a:prstGeom prst="rect">
            <a:avLst/>
          </a:prstGeom>
        </p:spPr>
      </p:pic>
      <p:sp>
        <p:nvSpPr>
          <p:cNvPr id="9" name="Text 5"/>
          <p:cNvSpPr txBox="1"/>
          <p:nvPr/>
        </p:nvSpPr>
        <p:spPr>
          <a:xfrm>
            <a:off x="1554480" y="2103120"/>
            <a:ext cx="2743200" cy="365760"/>
          </a:xfrm>
          <a:prstGeom prst="rect">
            <a:avLst/>
          </a:prstGeom>
          <a:noFill/>
          <a:ln/>
        </p:spPr>
        <p:txBody>
          <a:bodyPr wrap="square" lIns="0" tIns="0" rIns="0" bIns="0" rtlCol="0" anchor="ctr"/>
          <a:lstStyle/>
          <a:p>
            <a:pPr algn="ctr" indent="0" marL="0">
              <a:buNone/>
            </a:pPr>
            <a:r>
              <a:rPr lang="en-US" sz="1300" b="1" dirty="0">
                <a:solidFill>
                  <a:srgbClr val="8C1D40"/>
                </a:solidFill>
                <a:latin typeface="Calibri" pitchFamily="34" charset="0"/>
                <a:ea typeface="Calibri" pitchFamily="34" charset="-122"/>
                <a:cs typeface="Calibri" pitchFamily="34" charset="-120"/>
              </a:rPr>
              <a:t>Randomised 1 : 1</a:t>
            </a:r>
            <a:endParaRPr lang="en-US" sz="1300" dirty="0"/>
          </a:p>
        </p:txBody>
      </p:sp>
      <p:pic>
        <p:nvPicPr>
          <p:cNvPr id="10" name="Image 1" descr="preencoded.png">    </p:cNvPr>
          <p:cNvPicPr>
            <a:picLocks noChangeAspect="1"/>
          </p:cNvPicPr>
          <p:nvPr/>
        </p:nvPicPr>
        <p:blipFill>
          <a:blip r:embed="rId2"/>
          <a:stretch>
            <a:fillRect/>
          </a:stretch>
        </p:blipFill>
        <p:spPr>
          <a:xfrm>
            <a:off x="1554480" y="2542032"/>
            <a:ext cx="219456" cy="219456"/>
          </a:xfrm>
          <a:prstGeom prst="rect">
            <a:avLst/>
          </a:prstGeom>
        </p:spPr>
      </p:pic>
      <p:pic>
        <p:nvPicPr>
          <p:cNvPr id="11" name="Image 2" descr="preencoded.png">    </p:cNvPr>
          <p:cNvPicPr>
            <a:picLocks noChangeAspect="1"/>
          </p:cNvPicPr>
          <p:nvPr/>
        </p:nvPicPr>
        <p:blipFill>
          <a:blip r:embed="rId3"/>
          <a:stretch>
            <a:fillRect/>
          </a:stretch>
        </p:blipFill>
        <p:spPr>
          <a:xfrm>
            <a:off x="4078224" y="2542032"/>
            <a:ext cx="219456" cy="219456"/>
          </a:xfrm>
          <a:prstGeom prst="rect">
            <a:avLst/>
          </a:prstGeom>
        </p:spPr>
      </p:pic>
      <p:sp>
        <p:nvSpPr>
          <p:cNvPr id="12" name="Shape 6"/>
          <p:cNvSpPr/>
          <p:nvPr/>
        </p:nvSpPr>
        <p:spPr>
          <a:xfrm>
            <a:off x="457200" y="2834640"/>
            <a:ext cx="2377440" cy="914400"/>
          </a:xfrm>
          <a:prstGeom prst="roundRect">
            <a:avLst>
              <a:gd name="adj" fmla="val 8000"/>
            </a:avLst>
          </a:prstGeom>
          <a:solidFill>
            <a:srgbClr val="8C1D40"/>
          </a:solidFill>
          <a:ln w="12700">
            <a:solidFill>
              <a:srgbClr val="8C1D40"/>
            </a:solidFill>
            <a:prstDash val="solid"/>
          </a:ln>
        </p:spPr>
      </p:sp>
      <p:sp>
        <p:nvSpPr>
          <p:cNvPr id="13" name="Text 7"/>
          <p:cNvSpPr txBox="1"/>
          <p:nvPr/>
        </p:nvSpPr>
        <p:spPr>
          <a:xfrm>
            <a:off x="457200" y="2834640"/>
            <a:ext cx="237744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enVast thrombectomy</a:t>
            </a:r>
            <a:endParaRPr lang="en-US" sz="1400" dirty="0"/>
          </a:p>
          <a:p>
            <a:pPr algn="ctr" indent="0" marL="0">
              <a:buNone/>
            </a:pPr>
            <a:r>
              <a:rPr lang="en-US" sz="1200" dirty="0">
                <a:solidFill>
                  <a:srgbClr val="FFFFFF"/>
                </a:solidFill>
                <a:latin typeface="Calibri" pitchFamily="34" charset="0"/>
                <a:ea typeface="Calibri" pitchFamily="34" charset="-122"/>
                <a:cs typeface="Calibri" pitchFamily="34" charset="-120"/>
              </a:rPr>
              <a:t>then conventional PCI</a:t>
            </a:r>
            <a:endParaRPr lang="en-US" sz="1400" dirty="0"/>
          </a:p>
        </p:txBody>
      </p:sp>
      <p:sp>
        <p:nvSpPr>
          <p:cNvPr id="14" name="Shape 8"/>
          <p:cNvSpPr/>
          <p:nvPr/>
        </p:nvSpPr>
        <p:spPr>
          <a:xfrm>
            <a:off x="3017520" y="2834640"/>
            <a:ext cx="2377440" cy="914400"/>
          </a:xfrm>
          <a:prstGeom prst="roundRect">
            <a:avLst>
              <a:gd name="adj" fmla="val 8000"/>
            </a:avLst>
          </a:prstGeom>
          <a:solidFill>
            <a:srgbClr val="A3AAB6"/>
          </a:solidFill>
          <a:ln w="12700">
            <a:solidFill>
              <a:srgbClr val="A3AAB6"/>
            </a:solidFill>
            <a:prstDash val="solid"/>
          </a:ln>
        </p:spPr>
      </p:sp>
      <p:sp>
        <p:nvSpPr>
          <p:cNvPr id="15" name="Text 9"/>
          <p:cNvSpPr txBox="1"/>
          <p:nvPr/>
        </p:nvSpPr>
        <p:spPr>
          <a:xfrm>
            <a:off x="3017520" y="2834640"/>
            <a:ext cx="237744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Standard PCI</a:t>
            </a:r>
            <a:endParaRPr lang="en-US" sz="1400" dirty="0"/>
          </a:p>
          <a:p>
            <a:pPr algn="ctr" indent="0" marL="0">
              <a:buNone/>
            </a:pPr>
            <a:r>
              <a:rPr lang="en-US" sz="1200" dirty="0">
                <a:solidFill>
                  <a:srgbClr val="FFFFFF"/>
                </a:solidFill>
                <a:latin typeface="Calibri" pitchFamily="34" charset="0"/>
                <a:ea typeface="Calibri" pitchFamily="34" charset="-122"/>
                <a:cs typeface="Calibri" pitchFamily="34" charset="-120"/>
              </a:rPr>
              <a:t>standard of care</a:t>
            </a:r>
            <a:endParaRPr lang="en-US" sz="1400" dirty="0"/>
          </a:p>
        </p:txBody>
      </p:sp>
      <p:sp>
        <p:nvSpPr>
          <p:cNvPr id="16" name="Text 10"/>
          <p:cNvSpPr txBox="1"/>
          <p:nvPr/>
        </p:nvSpPr>
        <p:spPr>
          <a:xfrm>
            <a:off x="5852160" y="1097280"/>
            <a:ext cx="960120" cy="457200"/>
          </a:xfrm>
          <a:prstGeom prst="rect">
            <a:avLst/>
          </a:prstGeom>
          <a:noFill/>
          <a:ln/>
        </p:spPr>
        <p:txBody>
          <a:bodyPr wrap="square" lIns="0" tIns="0" rIns="0" bIns="0" rtlCol="0" anchor="ctr"/>
          <a:lstStyle/>
          <a:p>
            <a:pPr indent="0" marL="0">
              <a:buNone/>
            </a:pPr>
            <a:r>
              <a:rPr lang="en-US" sz="1200" b="1" dirty="0">
                <a:solidFill>
                  <a:srgbClr val="8C1D40"/>
                </a:solidFill>
                <a:latin typeface="Calibri" pitchFamily="34" charset="0"/>
                <a:ea typeface="Calibri" pitchFamily="34" charset="-122"/>
                <a:cs typeface="Calibri" pitchFamily="34" charset="-120"/>
              </a:rPr>
              <a:t>Type</a:t>
            </a:r>
            <a:endParaRPr lang="en-US" sz="1200" dirty="0"/>
          </a:p>
        </p:txBody>
      </p:sp>
      <p:sp>
        <p:nvSpPr>
          <p:cNvPr id="17" name="Text 11"/>
          <p:cNvSpPr txBox="1"/>
          <p:nvPr/>
        </p:nvSpPr>
        <p:spPr>
          <a:xfrm>
            <a:off x="6812280" y="1097280"/>
            <a:ext cx="187452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Prospective, multicentre, randomised</a:t>
            </a:r>
            <a:endParaRPr lang="en-US" sz="1200" dirty="0"/>
          </a:p>
        </p:txBody>
      </p:sp>
      <p:sp>
        <p:nvSpPr>
          <p:cNvPr id="18" name="Shape 12"/>
          <p:cNvSpPr/>
          <p:nvPr/>
        </p:nvSpPr>
        <p:spPr>
          <a:xfrm>
            <a:off x="5852160" y="1600200"/>
            <a:ext cx="2834640" cy="0"/>
          </a:xfrm>
          <a:prstGeom prst="line">
            <a:avLst/>
          </a:prstGeom>
          <a:noFill/>
          <a:ln w="12700">
            <a:solidFill>
              <a:srgbClr val="E5E7EB"/>
            </a:solidFill>
            <a:prstDash val="solid"/>
          </a:ln>
        </p:spPr>
      </p:sp>
      <p:sp>
        <p:nvSpPr>
          <p:cNvPr id="19" name="Text 13"/>
          <p:cNvSpPr txBox="1"/>
          <p:nvPr/>
        </p:nvSpPr>
        <p:spPr>
          <a:xfrm>
            <a:off x="5852160" y="1645920"/>
            <a:ext cx="960120" cy="457200"/>
          </a:xfrm>
          <a:prstGeom prst="rect">
            <a:avLst/>
          </a:prstGeom>
          <a:noFill/>
          <a:ln/>
        </p:spPr>
        <p:txBody>
          <a:bodyPr wrap="square" lIns="0" tIns="0" rIns="0" bIns="0" rtlCol="0" anchor="ctr"/>
          <a:lstStyle/>
          <a:p>
            <a:pPr indent="0" marL="0">
              <a:buNone/>
            </a:pPr>
            <a:r>
              <a:rPr lang="en-US" sz="1200" b="1" dirty="0">
                <a:solidFill>
                  <a:srgbClr val="8C1D40"/>
                </a:solidFill>
                <a:latin typeface="Calibri" pitchFamily="34" charset="0"/>
                <a:ea typeface="Calibri" pitchFamily="34" charset="-122"/>
                <a:cs typeface="Calibri" pitchFamily="34" charset="-120"/>
              </a:rPr>
              <a:t>Hypothesis</a:t>
            </a:r>
            <a:endParaRPr lang="en-US" sz="1200" dirty="0"/>
          </a:p>
        </p:txBody>
      </p:sp>
      <p:sp>
        <p:nvSpPr>
          <p:cNvPr id="20" name="Text 14"/>
          <p:cNvSpPr txBox="1"/>
          <p:nvPr/>
        </p:nvSpPr>
        <p:spPr>
          <a:xfrm>
            <a:off x="6812280" y="1645920"/>
            <a:ext cx="187452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Superiority on infarct size</a:t>
            </a:r>
            <a:endParaRPr lang="en-US" sz="1200" dirty="0"/>
          </a:p>
        </p:txBody>
      </p:sp>
      <p:sp>
        <p:nvSpPr>
          <p:cNvPr id="21" name="Shape 15"/>
          <p:cNvSpPr/>
          <p:nvPr/>
        </p:nvSpPr>
        <p:spPr>
          <a:xfrm>
            <a:off x="5852160" y="2148840"/>
            <a:ext cx="2834640" cy="0"/>
          </a:xfrm>
          <a:prstGeom prst="line">
            <a:avLst/>
          </a:prstGeom>
          <a:noFill/>
          <a:ln w="12700">
            <a:solidFill>
              <a:srgbClr val="E5E7EB"/>
            </a:solidFill>
            <a:prstDash val="solid"/>
          </a:ln>
        </p:spPr>
      </p:sp>
      <p:sp>
        <p:nvSpPr>
          <p:cNvPr id="22" name="Text 16"/>
          <p:cNvSpPr txBox="1"/>
          <p:nvPr/>
        </p:nvSpPr>
        <p:spPr>
          <a:xfrm>
            <a:off x="5852160" y="2194560"/>
            <a:ext cx="960120" cy="457200"/>
          </a:xfrm>
          <a:prstGeom prst="rect">
            <a:avLst/>
          </a:prstGeom>
          <a:noFill/>
          <a:ln/>
        </p:spPr>
        <p:txBody>
          <a:bodyPr wrap="square" lIns="0" tIns="0" rIns="0" bIns="0" rtlCol="0" anchor="ctr"/>
          <a:lstStyle/>
          <a:p>
            <a:pPr indent="0" marL="0">
              <a:buNone/>
            </a:pPr>
            <a:r>
              <a:rPr lang="en-US" sz="1200" b="1" dirty="0">
                <a:solidFill>
                  <a:srgbClr val="8C1D40"/>
                </a:solidFill>
                <a:latin typeface="Calibri" pitchFamily="34" charset="0"/>
                <a:ea typeface="Calibri" pitchFamily="34" charset="-122"/>
                <a:cs typeface="Calibri" pitchFamily="34" charset="-120"/>
              </a:rPr>
              <a:t>PI</a:t>
            </a:r>
            <a:endParaRPr lang="en-US" sz="1200" dirty="0"/>
          </a:p>
        </p:txBody>
      </p:sp>
      <p:sp>
        <p:nvSpPr>
          <p:cNvPr id="23" name="Text 17"/>
          <p:cNvSpPr txBox="1"/>
          <p:nvPr/>
        </p:nvSpPr>
        <p:spPr>
          <a:xfrm>
            <a:off x="6812280" y="2194560"/>
            <a:ext cx="187452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Prof. Marco Valgimigli, Lugano</a:t>
            </a:r>
            <a:endParaRPr lang="en-US" sz="1200" dirty="0"/>
          </a:p>
        </p:txBody>
      </p:sp>
      <p:sp>
        <p:nvSpPr>
          <p:cNvPr id="24" name="Shape 18"/>
          <p:cNvSpPr/>
          <p:nvPr/>
        </p:nvSpPr>
        <p:spPr>
          <a:xfrm>
            <a:off x="5852160" y="2697480"/>
            <a:ext cx="2834640" cy="0"/>
          </a:xfrm>
          <a:prstGeom prst="line">
            <a:avLst/>
          </a:prstGeom>
          <a:noFill/>
          <a:ln w="12700">
            <a:solidFill>
              <a:srgbClr val="E5E7EB"/>
            </a:solidFill>
            <a:prstDash val="solid"/>
          </a:ln>
        </p:spPr>
      </p:sp>
      <p:sp>
        <p:nvSpPr>
          <p:cNvPr id="25" name="Text 19"/>
          <p:cNvSpPr txBox="1"/>
          <p:nvPr/>
        </p:nvSpPr>
        <p:spPr>
          <a:xfrm>
            <a:off x="5852160" y="2743200"/>
            <a:ext cx="960120" cy="457200"/>
          </a:xfrm>
          <a:prstGeom prst="rect">
            <a:avLst/>
          </a:prstGeom>
          <a:noFill/>
          <a:ln/>
        </p:spPr>
        <p:txBody>
          <a:bodyPr wrap="square" lIns="0" tIns="0" rIns="0" bIns="0" rtlCol="0" anchor="ctr"/>
          <a:lstStyle/>
          <a:p>
            <a:pPr indent="0" marL="0">
              <a:buNone/>
            </a:pPr>
            <a:r>
              <a:rPr lang="en-US" sz="1200" b="1" dirty="0">
                <a:solidFill>
                  <a:srgbClr val="8C1D40"/>
                </a:solidFill>
                <a:latin typeface="Calibri" pitchFamily="34" charset="0"/>
                <a:ea typeface="Calibri" pitchFamily="34" charset="-122"/>
                <a:cs typeface="Calibri" pitchFamily="34" charset="-120"/>
              </a:rPr>
              <a:t>Sponsor</a:t>
            </a:r>
            <a:endParaRPr lang="en-US" sz="1200" dirty="0"/>
          </a:p>
        </p:txBody>
      </p:sp>
      <p:sp>
        <p:nvSpPr>
          <p:cNvPr id="26" name="Text 20"/>
          <p:cNvSpPr txBox="1"/>
          <p:nvPr/>
        </p:nvSpPr>
        <p:spPr>
          <a:xfrm>
            <a:off x="6812280" y="2743200"/>
            <a:ext cx="187452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Vesalio</a:t>
            </a:r>
            <a:endParaRPr lang="en-US" sz="1200" dirty="0"/>
          </a:p>
        </p:txBody>
      </p:sp>
      <p:sp>
        <p:nvSpPr>
          <p:cNvPr id="27" name="Shape 21"/>
          <p:cNvSpPr/>
          <p:nvPr/>
        </p:nvSpPr>
        <p:spPr>
          <a:xfrm>
            <a:off x="5852160" y="3246120"/>
            <a:ext cx="2834640" cy="0"/>
          </a:xfrm>
          <a:prstGeom prst="line">
            <a:avLst/>
          </a:prstGeom>
          <a:noFill/>
          <a:ln w="12700">
            <a:solidFill>
              <a:srgbClr val="E5E7EB"/>
            </a:solidFill>
            <a:prstDash val="solid"/>
          </a:ln>
        </p:spPr>
      </p:sp>
      <p:sp>
        <p:nvSpPr>
          <p:cNvPr id="28" name="Text 22"/>
          <p:cNvSpPr txBox="1"/>
          <p:nvPr/>
        </p:nvSpPr>
        <p:spPr>
          <a:xfrm>
            <a:off x="5852160" y="3291840"/>
            <a:ext cx="960120" cy="457200"/>
          </a:xfrm>
          <a:prstGeom prst="rect">
            <a:avLst/>
          </a:prstGeom>
          <a:noFill/>
          <a:ln/>
        </p:spPr>
        <p:txBody>
          <a:bodyPr wrap="square" lIns="0" tIns="0" rIns="0" bIns="0" rtlCol="0" anchor="ctr"/>
          <a:lstStyle/>
          <a:p>
            <a:pPr indent="0" marL="0">
              <a:buNone/>
            </a:pPr>
            <a:r>
              <a:rPr lang="en-US" sz="1200" b="1" dirty="0">
                <a:solidFill>
                  <a:srgbClr val="8C1D40"/>
                </a:solidFill>
                <a:latin typeface="Calibri" pitchFamily="34" charset="0"/>
                <a:ea typeface="Calibri" pitchFamily="34" charset="-122"/>
                <a:cs typeface="Calibri" pitchFamily="34" charset="-120"/>
              </a:rPr>
              <a:t>Registry</a:t>
            </a:r>
            <a:endParaRPr lang="en-US" sz="1200" dirty="0"/>
          </a:p>
        </p:txBody>
      </p:sp>
      <p:sp>
        <p:nvSpPr>
          <p:cNvPr id="29" name="Text 23"/>
          <p:cNvSpPr txBox="1"/>
          <p:nvPr/>
        </p:nvSpPr>
        <p:spPr>
          <a:xfrm>
            <a:off x="6812280" y="3291840"/>
            <a:ext cx="187452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NCT04969471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Inclusion criteria</a:t>
            </a:r>
            <a:endParaRPr lang="en-US" sz="2800" dirty="0"/>
          </a:p>
        </p:txBody>
      </p:sp>
      <p:sp>
        <p:nvSpPr>
          <p:cNvPr id="3" name="Text 1"/>
          <p:cNvSpPr txBox="1"/>
          <p:nvPr/>
        </p:nvSpPr>
        <p:spPr>
          <a:xfrm>
            <a:off x="457200" y="470916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NATURE Trial · Journal Club · Cardiac Centre, BVH Bahawalpur</a:t>
            </a:r>
            <a:endParaRPr lang="en-US" sz="900" dirty="0"/>
          </a:p>
        </p:txBody>
      </p:sp>
      <p:sp>
        <p:nvSpPr>
          <p:cNvPr id="4" name="Text 2"/>
          <p:cNvSpPr txBox="1"/>
          <p:nvPr/>
        </p:nvSpPr>
        <p:spPr>
          <a:xfrm>
            <a:off x="8229600" y="4709160"/>
            <a:ext cx="457200" cy="228600"/>
          </a:xfrm>
          <a:prstGeom prst="rect">
            <a:avLst/>
          </a:prstGeom>
          <a:noFill/>
          <a:ln/>
        </p:spPr>
        <p:txBody>
          <a:bodyPr wrap="square" lIns="0" tIns="0" rIns="0" bIns="0" rtlCol="0" anchor="ctr"/>
          <a:lstStyle/>
          <a:p>
            <a:pPr algn="r" indent="0" marL="0">
              <a:buNone/>
            </a:pPr>
            <a:r>
              <a:rPr lang="en-US" sz="900" b="1" dirty="0">
                <a:solidFill>
                  <a:srgbClr val="8C1D40"/>
                </a:solidFill>
                <a:latin typeface="Calibri" pitchFamily="34" charset="0"/>
                <a:ea typeface="Calibri" pitchFamily="34" charset="-122"/>
                <a:cs typeface="Calibri" pitchFamily="34" charset="-120"/>
              </a:rPr>
              <a:t>6</a:t>
            </a:r>
            <a:endParaRPr lang="en-US" sz="900" dirty="0"/>
          </a:p>
        </p:txBody>
      </p:sp>
      <p:sp>
        <p:nvSpPr>
          <p:cNvPr id="6" name="Shape 3"/>
          <p:cNvSpPr/>
          <p:nvPr/>
        </p:nvSpPr>
        <p:spPr>
          <a:xfrm>
            <a:off x="457200" y="1097280"/>
            <a:ext cx="365760" cy="365760"/>
          </a:xfrm>
          <a:prstGeom prst="ellipse">
            <a:avLst/>
          </a:prstGeom>
          <a:solidFill>
            <a:srgbClr val="8C1D40"/>
          </a:solidFill>
          <a:ln w="12700">
            <a:solidFill>
              <a:srgbClr val="8C1D40"/>
            </a:solidFill>
            <a:prstDash val="solid"/>
          </a:ln>
        </p:spPr>
      </p:sp>
      <p:pic>
        <p:nvPicPr>
          <p:cNvPr id="7" name="Image 0" descr="preencoded.png">    </p:cNvPr>
          <p:cNvPicPr>
            <a:picLocks noChangeAspect="1"/>
          </p:cNvPicPr>
          <p:nvPr/>
        </p:nvPicPr>
        <p:blipFill>
          <a:blip r:embed="rId1"/>
          <a:stretch>
            <a:fillRect/>
          </a:stretch>
        </p:blipFill>
        <p:spPr>
          <a:xfrm>
            <a:off x="555955" y="1196035"/>
            <a:ext cx="168250" cy="168250"/>
          </a:xfrm>
          <a:prstGeom prst="rect">
            <a:avLst/>
          </a:prstGeom>
        </p:spPr>
      </p:pic>
      <p:sp>
        <p:nvSpPr>
          <p:cNvPr id="8" name="Text 4"/>
          <p:cNvSpPr txBox="1"/>
          <p:nvPr/>
        </p:nvSpPr>
        <p:spPr>
          <a:xfrm>
            <a:off x="1005840" y="1161288"/>
            <a:ext cx="4480560" cy="3657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Age ≥ 18 years</a:t>
            </a:r>
            <a:endParaRPr lang="en-US" sz="1400" dirty="0"/>
          </a:p>
        </p:txBody>
      </p:sp>
      <p:sp>
        <p:nvSpPr>
          <p:cNvPr id="9" name="Shape 5"/>
          <p:cNvSpPr/>
          <p:nvPr/>
        </p:nvSpPr>
        <p:spPr>
          <a:xfrm>
            <a:off x="457200" y="1737360"/>
            <a:ext cx="365760" cy="365760"/>
          </a:xfrm>
          <a:prstGeom prst="ellipse">
            <a:avLst/>
          </a:prstGeom>
          <a:solidFill>
            <a:srgbClr val="8C1D40"/>
          </a:solidFill>
          <a:ln w="12700">
            <a:solidFill>
              <a:srgbClr val="8C1D40"/>
            </a:solidFill>
            <a:prstDash val="solid"/>
          </a:ln>
        </p:spPr>
      </p:sp>
      <p:pic>
        <p:nvPicPr>
          <p:cNvPr id="10" name="Image 1" descr="preencoded.png">    </p:cNvPr>
          <p:cNvPicPr>
            <a:picLocks noChangeAspect="1"/>
          </p:cNvPicPr>
          <p:nvPr/>
        </p:nvPicPr>
        <p:blipFill>
          <a:blip r:embed="rId2"/>
          <a:stretch>
            <a:fillRect/>
          </a:stretch>
        </p:blipFill>
        <p:spPr>
          <a:xfrm>
            <a:off x="555955" y="1836115"/>
            <a:ext cx="168250" cy="168250"/>
          </a:xfrm>
          <a:prstGeom prst="rect">
            <a:avLst/>
          </a:prstGeom>
        </p:spPr>
      </p:pic>
      <p:sp>
        <p:nvSpPr>
          <p:cNvPr id="11" name="Text 6"/>
          <p:cNvSpPr txBox="1"/>
          <p:nvPr/>
        </p:nvSpPr>
        <p:spPr>
          <a:xfrm>
            <a:off x="1005840" y="1801368"/>
            <a:ext cx="4480560" cy="6858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Chest pain &gt; 20 min with ST elevation ≥ 1 mm in ≥ 2 contiguous leads, or infero-lateral MI with ST depression ≥ 1 mm in ≥ 2 of V1–V3 and a positive terminal T wave</a:t>
            </a:r>
            <a:endParaRPr lang="en-US" sz="1400" dirty="0"/>
          </a:p>
        </p:txBody>
      </p:sp>
      <p:sp>
        <p:nvSpPr>
          <p:cNvPr id="12" name="Shape 7"/>
          <p:cNvSpPr/>
          <p:nvPr/>
        </p:nvSpPr>
        <p:spPr>
          <a:xfrm>
            <a:off x="457200" y="2697480"/>
            <a:ext cx="365760" cy="365760"/>
          </a:xfrm>
          <a:prstGeom prst="ellipse">
            <a:avLst/>
          </a:prstGeom>
          <a:solidFill>
            <a:srgbClr val="8C1D40"/>
          </a:solidFill>
          <a:ln w="12700">
            <a:solidFill>
              <a:srgbClr val="8C1D40"/>
            </a:solidFill>
            <a:prstDash val="solid"/>
          </a:ln>
        </p:spPr>
      </p:sp>
      <p:pic>
        <p:nvPicPr>
          <p:cNvPr id="13" name="Image 2" descr="preencoded.png">    </p:cNvPr>
          <p:cNvPicPr>
            <a:picLocks noChangeAspect="1"/>
          </p:cNvPicPr>
          <p:nvPr/>
        </p:nvPicPr>
        <p:blipFill>
          <a:blip r:embed="rId3"/>
          <a:stretch>
            <a:fillRect/>
          </a:stretch>
        </p:blipFill>
        <p:spPr>
          <a:xfrm>
            <a:off x="555955" y="2796235"/>
            <a:ext cx="168250" cy="168250"/>
          </a:xfrm>
          <a:prstGeom prst="rect">
            <a:avLst/>
          </a:prstGeom>
        </p:spPr>
      </p:pic>
      <p:sp>
        <p:nvSpPr>
          <p:cNvPr id="14" name="Text 8"/>
          <p:cNvSpPr txBox="1"/>
          <p:nvPr/>
        </p:nvSpPr>
        <p:spPr>
          <a:xfrm>
            <a:off x="1005840" y="2761488"/>
            <a:ext cx="4480560" cy="475488"/>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TIMI thrombus grade ≥ 3 in the infarct-related artery (re-confirmed after wiring if TIMI 0 flow)</a:t>
            </a:r>
            <a:endParaRPr lang="en-US" sz="1400" dirty="0"/>
          </a:p>
        </p:txBody>
      </p:sp>
      <p:sp>
        <p:nvSpPr>
          <p:cNvPr id="15" name="Shape 9"/>
          <p:cNvSpPr/>
          <p:nvPr/>
        </p:nvSpPr>
        <p:spPr>
          <a:xfrm>
            <a:off x="457200" y="3447288"/>
            <a:ext cx="365760" cy="365760"/>
          </a:xfrm>
          <a:prstGeom prst="ellipse">
            <a:avLst/>
          </a:prstGeom>
          <a:solidFill>
            <a:srgbClr val="8C1D40"/>
          </a:solidFill>
          <a:ln w="12700">
            <a:solidFill>
              <a:srgbClr val="8C1D40"/>
            </a:solidFill>
            <a:prstDash val="solid"/>
          </a:ln>
        </p:spPr>
      </p:sp>
      <p:pic>
        <p:nvPicPr>
          <p:cNvPr id="16" name="Image 3" descr="preencoded.png">    </p:cNvPr>
          <p:cNvPicPr>
            <a:picLocks noChangeAspect="1"/>
          </p:cNvPicPr>
          <p:nvPr/>
        </p:nvPicPr>
        <p:blipFill>
          <a:blip r:embed="rId4"/>
          <a:stretch>
            <a:fillRect/>
          </a:stretch>
        </p:blipFill>
        <p:spPr>
          <a:xfrm>
            <a:off x="555955" y="3546043"/>
            <a:ext cx="168250" cy="168250"/>
          </a:xfrm>
          <a:prstGeom prst="rect">
            <a:avLst/>
          </a:prstGeom>
        </p:spPr>
      </p:pic>
      <p:sp>
        <p:nvSpPr>
          <p:cNvPr id="17" name="Text 10"/>
          <p:cNvSpPr txBox="1"/>
          <p:nvPr/>
        </p:nvSpPr>
        <p:spPr>
          <a:xfrm>
            <a:off x="1005840" y="3511296"/>
            <a:ext cx="4480560" cy="3657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Intervention started within 8 hours of symptom onset</a:t>
            </a:r>
            <a:endParaRPr lang="en-US" sz="1400" dirty="0"/>
          </a:p>
        </p:txBody>
      </p:sp>
      <p:sp>
        <p:nvSpPr>
          <p:cNvPr id="18" name="Shape 11"/>
          <p:cNvSpPr/>
          <p:nvPr/>
        </p:nvSpPr>
        <p:spPr>
          <a:xfrm>
            <a:off x="457200" y="4087368"/>
            <a:ext cx="365760" cy="365760"/>
          </a:xfrm>
          <a:prstGeom prst="ellipse">
            <a:avLst/>
          </a:prstGeom>
          <a:solidFill>
            <a:srgbClr val="8C1D40"/>
          </a:solidFill>
          <a:ln w="12700">
            <a:solidFill>
              <a:srgbClr val="8C1D40"/>
            </a:solidFill>
            <a:prstDash val="solid"/>
          </a:ln>
        </p:spPr>
      </p:sp>
      <p:pic>
        <p:nvPicPr>
          <p:cNvPr id="19" name="Image 4" descr="preencoded.png">    </p:cNvPr>
          <p:cNvPicPr>
            <a:picLocks noChangeAspect="1"/>
          </p:cNvPicPr>
          <p:nvPr/>
        </p:nvPicPr>
        <p:blipFill>
          <a:blip r:embed="rId5"/>
          <a:stretch>
            <a:fillRect/>
          </a:stretch>
        </p:blipFill>
        <p:spPr>
          <a:xfrm>
            <a:off x="555955" y="4186123"/>
            <a:ext cx="168250" cy="168250"/>
          </a:xfrm>
          <a:prstGeom prst="rect">
            <a:avLst/>
          </a:prstGeom>
        </p:spPr>
      </p:pic>
      <p:sp>
        <p:nvSpPr>
          <p:cNvPr id="20" name="Text 12"/>
          <p:cNvSpPr txBox="1"/>
          <p:nvPr/>
        </p:nvSpPr>
        <p:spPr>
          <a:xfrm>
            <a:off x="1005840" y="4151376"/>
            <a:ext cx="4480560" cy="3657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Informed consent before the procedure</a:t>
            </a:r>
            <a:endParaRPr lang="en-US" sz="1400" dirty="0"/>
          </a:p>
        </p:txBody>
      </p:sp>
      <p:sp>
        <p:nvSpPr>
          <p:cNvPr id="21" name="Shape 13"/>
          <p:cNvSpPr/>
          <p:nvPr/>
        </p:nvSpPr>
        <p:spPr>
          <a:xfrm>
            <a:off x="5852160" y="1097280"/>
            <a:ext cx="2834640" cy="3383280"/>
          </a:xfrm>
          <a:prstGeom prst="roundRect">
            <a:avLst>
              <a:gd name="adj" fmla="val 2581"/>
            </a:avLst>
          </a:prstGeom>
          <a:solidFill>
            <a:srgbClr val="F8F0F3"/>
          </a:solidFill>
          <a:ln w="12700">
            <a:solidFill>
              <a:srgbClr val="F8F0F3"/>
            </a:solidFill>
            <a:prstDash val="solid"/>
          </a:ln>
        </p:spPr>
      </p:sp>
      <p:pic>
        <p:nvPicPr>
          <p:cNvPr id="22" name="Image 5" descr="preencoded.png">    </p:cNvPr>
          <p:cNvPicPr>
            <a:picLocks noChangeAspect="1"/>
          </p:cNvPicPr>
          <p:nvPr/>
        </p:nvPicPr>
        <p:blipFill>
          <a:blip r:embed="rId6"/>
          <a:stretch>
            <a:fillRect/>
          </a:stretch>
        </p:blipFill>
        <p:spPr>
          <a:xfrm>
            <a:off x="6080760" y="1298448"/>
            <a:ext cx="347472" cy="347472"/>
          </a:xfrm>
          <a:prstGeom prst="rect">
            <a:avLst/>
          </a:prstGeom>
        </p:spPr>
      </p:pic>
      <p:sp>
        <p:nvSpPr>
          <p:cNvPr id="23" name="Text 14"/>
          <p:cNvSpPr txBox="1"/>
          <p:nvPr/>
        </p:nvSpPr>
        <p:spPr>
          <a:xfrm>
            <a:off x="6537960" y="1298448"/>
            <a:ext cx="2011680" cy="347472"/>
          </a:xfrm>
          <a:prstGeom prst="rect">
            <a:avLst/>
          </a:prstGeom>
          <a:noFill/>
          <a:ln/>
        </p:spPr>
        <p:txBody>
          <a:bodyPr wrap="square" lIns="0" tIns="0" rIns="0" bIns="0" rtlCol="0" anchor="ctr"/>
          <a:lstStyle/>
          <a:p>
            <a:pPr indent="0" marL="0">
              <a:buNone/>
            </a:pPr>
            <a:r>
              <a:rPr lang="en-US" sz="1500" b="1" dirty="0">
                <a:solidFill>
                  <a:srgbClr val="8C1D40"/>
                </a:solidFill>
                <a:latin typeface="Cambria" pitchFamily="34" charset="0"/>
                <a:ea typeface="Cambria" pitchFamily="34" charset="-122"/>
                <a:cs typeface="Cambria" pitchFamily="34" charset="-120"/>
              </a:rPr>
              <a:t>Key point</a:t>
            </a:r>
            <a:endParaRPr lang="en-US" sz="1500" dirty="0"/>
          </a:p>
        </p:txBody>
      </p:sp>
      <p:sp>
        <p:nvSpPr>
          <p:cNvPr id="24" name="Text 15"/>
          <p:cNvSpPr txBox="1"/>
          <p:nvPr/>
        </p:nvSpPr>
        <p:spPr>
          <a:xfrm>
            <a:off x="6080760" y="1828800"/>
            <a:ext cx="2468880" cy="36576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TIMI thrombus grade ≥ 3</a:t>
            </a:r>
            <a:endParaRPr lang="en-US" sz="1700" dirty="0"/>
          </a:p>
        </p:txBody>
      </p:sp>
      <p:sp>
        <p:nvSpPr>
          <p:cNvPr id="25" name="Text 16"/>
          <p:cNvSpPr txBox="1"/>
          <p:nvPr/>
        </p:nvSpPr>
        <p:spPr>
          <a:xfrm>
            <a:off x="6080760" y="2286000"/>
            <a:ext cx="2423160" cy="20116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definite clot longer than half the vessel diameter. These patients are the most likely to embolise clot during PCI, so they have the most to gain from thrombectomy.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Exclusion criteria</a:t>
            </a:r>
            <a:endParaRPr lang="en-US" sz="2800" dirty="0"/>
          </a:p>
        </p:txBody>
      </p:sp>
      <p:sp>
        <p:nvSpPr>
          <p:cNvPr id="3" name="Text 1"/>
          <p:cNvSpPr txBox="1"/>
          <p:nvPr/>
        </p:nvSpPr>
        <p:spPr>
          <a:xfrm>
            <a:off x="457200" y="470916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NATURE Trial · Journal Club · Cardiac Centre, BVH Bahawalpur</a:t>
            </a:r>
            <a:endParaRPr lang="en-US" sz="900" dirty="0"/>
          </a:p>
        </p:txBody>
      </p:sp>
      <p:sp>
        <p:nvSpPr>
          <p:cNvPr id="4" name="Text 2"/>
          <p:cNvSpPr txBox="1"/>
          <p:nvPr/>
        </p:nvSpPr>
        <p:spPr>
          <a:xfrm>
            <a:off x="8229600" y="4709160"/>
            <a:ext cx="457200" cy="228600"/>
          </a:xfrm>
          <a:prstGeom prst="rect">
            <a:avLst/>
          </a:prstGeom>
          <a:noFill/>
          <a:ln/>
        </p:spPr>
        <p:txBody>
          <a:bodyPr wrap="square" lIns="0" tIns="0" rIns="0" bIns="0" rtlCol="0" anchor="ctr"/>
          <a:lstStyle/>
          <a:p>
            <a:pPr algn="r" indent="0" marL="0">
              <a:buNone/>
            </a:pPr>
            <a:r>
              <a:rPr lang="en-US" sz="900" b="1" dirty="0">
                <a:solidFill>
                  <a:srgbClr val="8C1D40"/>
                </a:solidFill>
                <a:latin typeface="Calibri" pitchFamily="34" charset="0"/>
                <a:ea typeface="Calibri" pitchFamily="34" charset="-122"/>
                <a:cs typeface="Calibri" pitchFamily="34" charset="-120"/>
              </a:rPr>
              <a:t>7</a:t>
            </a:r>
            <a:endParaRPr lang="en-US" sz="900" dirty="0"/>
          </a:p>
        </p:txBody>
      </p:sp>
      <p:sp>
        <p:nvSpPr>
          <p:cNvPr id="6" name="Shape 3"/>
          <p:cNvSpPr/>
          <p:nvPr/>
        </p:nvSpPr>
        <p:spPr>
          <a:xfrm>
            <a:off x="457200" y="1097280"/>
            <a:ext cx="347472" cy="347472"/>
          </a:xfrm>
          <a:prstGeom prst="ellipse">
            <a:avLst/>
          </a:prstGeom>
          <a:solidFill>
            <a:srgbClr val="A3AAB6"/>
          </a:solidFill>
          <a:ln w="12700">
            <a:solidFill>
              <a:srgbClr val="A3AAB6"/>
            </a:solidFill>
            <a:prstDash val="solid"/>
          </a:ln>
        </p:spPr>
      </p:sp>
      <p:pic>
        <p:nvPicPr>
          <p:cNvPr id="7" name="Image 0" descr="preencoded.png">    </p:cNvPr>
          <p:cNvPicPr>
            <a:picLocks noChangeAspect="1"/>
          </p:cNvPicPr>
          <p:nvPr/>
        </p:nvPicPr>
        <p:blipFill>
          <a:blip r:embed="rId1"/>
          <a:stretch>
            <a:fillRect/>
          </a:stretch>
        </p:blipFill>
        <p:spPr>
          <a:xfrm>
            <a:off x="551017" y="1191097"/>
            <a:ext cx="159837" cy="159837"/>
          </a:xfrm>
          <a:prstGeom prst="rect">
            <a:avLst/>
          </a:prstGeom>
        </p:spPr>
      </p:pic>
      <p:sp>
        <p:nvSpPr>
          <p:cNvPr id="8" name="Text 4"/>
          <p:cNvSpPr txBox="1"/>
          <p:nvPr/>
        </p:nvSpPr>
        <p:spPr>
          <a:xfrm>
            <a:off x="1005840" y="1152144"/>
            <a:ext cx="4480560" cy="3657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Unconscious patient</a:t>
            </a:r>
            <a:endParaRPr lang="en-US" sz="1400" dirty="0"/>
          </a:p>
        </p:txBody>
      </p:sp>
      <p:sp>
        <p:nvSpPr>
          <p:cNvPr id="9" name="Shape 5"/>
          <p:cNvSpPr/>
          <p:nvPr/>
        </p:nvSpPr>
        <p:spPr>
          <a:xfrm>
            <a:off x="457200" y="1554480"/>
            <a:ext cx="347472" cy="347472"/>
          </a:xfrm>
          <a:prstGeom prst="ellipse">
            <a:avLst/>
          </a:prstGeom>
          <a:solidFill>
            <a:srgbClr val="A3AAB6"/>
          </a:solidFill>
          <a:ln w="12700">
            <a:solidFill>
              <a:srgbClr val="A3AAB6"/>
            </a:solidFill>
            <a:prstDash val="solid"/>
          </a:ln>
        </p:spPr>
      </p:sp>
      <p:pic>
        <p:nvPicPr>
          <p:cNvPr id="10" name="Image 1" descr="preencoded.png">    </p:cNvPr>
          <p:cNvPicPr>
            <a:picLocks noChangeAspect="1"/>
          </p:cNvPicPr>
          <p:nvPr/>
        </p:nvPicPr>
        <p:blipFill>
          <a:blip r:embed="rId2"/>
          <a:stretch>
            <a:fillRect/>
          </a:stretch>
        </p:blipFill>
        <p:spPr>
          <a:xfrm>
            <a:off x="551017" y="1648297"/>
            <a:ext cx="159837" cy="159837"/>
          </a:xfrm>
          <a:prstGeom prst="rect">
            <a:avLst/>
          </a:prstGeom>
        </p:spPr>
      </p:pic>
      <p:sp>
        <p:nvSpPr>
          <p:cNvPr id="11" name="Text 6"/>
          <p:cNvSpPr txBox="1"/>
          <p:nvPr/>
        </p:nvSpPr>
        <p:spPr>
          <a:xfrm>
            <a:off x="1005840" y="1609344"/>
            <a:ext cx="4480560" cy="3657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Infarct-related artery &lt; 2.5 mm (visual estimate)</a:t>
            </a:r>
            <a:endParaRPr lang="en-US" sz="1400" dirty="0"/>
          </a:p>
        </p:txBody>
      </p:sp>
      <p:sp>
        <p:nvSpPr>
          <p:cNvPr id="12" name="Shape 7"/>
          <p:cNvSpPr/>
          <p:nvPr/>
        </p:nvSpPr>
        <p:spPr>
          <a:xfrm>
            <a:off x="457200" y="2011680"/>
            <a:ext cx="347472" cy="347472"/>
          </a:xfrm>
          <a:prstGeom prst="ellipse">
            <a:avLst/>
          </a:prstGeom>
          <a:solidFill>
            <a:srgbClr val="A3AAB6"/>
          </a:solidFill>
          <a:ln w="12700">
            <a:solidFill>
              <a:srgbClr val="A3AAB6"/>
            </a:solidFill>
            <a:prstDash val="solid"/>
          </a:ln>
        </p:spPr>
      </p:sp>
      <p:pic>
        <p:nvPicPr>
          <p:cNvPr id="13" name="Image 2" descr="preencoded.png">    </p:cNvPr>
          <p:cNvPicPr>
            <a:picLocks noChangeAspect="1"/>
          </p:cNvPicPr>
          <p:nvPr/>
        </p:nvPicPr>
        <p:blipFill>
          <a:blip r:embed="rId3"/>
          <a:stretch>
            <a:fillRect/>
          </a:stretch>
        </p:blipFill>
        <p:spPr>
          <a:xfrm>
            <a:off x="551017" y="2105497"/>
            <a:ext cx="159837" cy="159837"/>
          </a:xfrm>
          <a:prstGeom prst="rect">
            <a:avLst/>
          </a:prstGeom>
        </p:spPr>
      </p:pic>
      <p:sp>
        <p:nvSpPr>
          <p:cNvPr id="14" name="Text 8"/>
          <p:cNvSpPr txBox="1"/>
          <p:nvPr/>
        </p:nvSpPr>
        <p:spPr>
          <a:xfrm>
            <a:off x="1005840" y="2066544"/>
            <a:ext cx="4480560" cy="566928"/>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Severe calcification or extreme tortuosity at or proximal to the culprit lesion</a:t>
            </a:r>
            <a:endParaRPr lang="en-US" sz="1400" dirty="0"/>
          </a:p>
        </p:txBody>
      </p:sp>
      <p:sp>
        <p:nvSpPr>
          <p:cNvPr id="15" name="Shape 9"/>
          <p:cNvSpPr/>
          <p:nvPr/>
        </p:nvSpPr>
        <p:spPr>
          <a:xfrm>
            <a:off x="457200" y="2670048"/>
            <a:ext cx="347472" cy="347472"/>
          </a:xfrm>
          <a:prstGeom prst="ellipse">
            <a:avLst/>
          </a:prstGeom>
          <a:solidFill>
            <a:srgbClr val="A3AAB6"/>
          </a:solidFill>
          <a:ln w="12700">
            <a:solidFill>
              <a:srgbClr val="A3AAB6"/>
            </a:solidFill>
            <a:prstDash val="solid"/>
          </a:ln>
        </p:spPr>
      </p:sp>
      <p:pic>
        <p:nvPicPr>
          <p:cNvPr id="16" name="Image 3" descr="preencoded.png">    </p:cNvPr>
          <p:cNvPicPr>
            <a:picLocks noChangeAspect="1"/>
          </p:cNvPicPr>
          <p:nvPr/>
        </p:nvPicPr>
        <p:blipFill>
          <a:blip r:embed="rId4"/>
          <a:stretch>
            <a:fillRect/>
          </a:stretch>
        </p:blipFill>
        <p:spPr>
          <a:xfrm>
            <a:off x="551017" y="2763865"/>
            <a:ext cx="159837" cy="159837"/>
          </a:xfrm>
          <a:prstGeom prst="rect">
            <a:avLst/>
          </a:prstGeom>
        </p:spPr>
      </p:pic>
      <p:sp>
        <p:nvSpPr>
          <p:cNvPr id="17" name="Text 10"/>
          <p:cNvSpPr txBox="1"/>
          <p:nvPr/>
        </p:nvSpPr>
        <p:spPr>
          <a:xfrm>
            <a:off x="1005840" y="2724912"/>
            <a:ext cx="4480560" cy="3657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Stent thrombosis as the culprit lesion</a:t>
            </a:r>
            <a:endParaRPr lang="en-US" sz="1400" dirty="0"/>
          </a:p>
        </p:txBody>
      </p:sp>
      <p:sp>
        <p:nvSpPr>
          <p:cNvPr id="18" name="Shape 11"/>
          <p:cNvSpPr/>
          <p:nvPr/>
        </p:nvSpPr>
        <p:spPr>
          <a:xfrm>
            <a:off x="457200" y="3127248"/>
            <a:ext cx="347472" cy="347472"/>
          </a:xfrm>
          <a:prstGeom prst="ellipse">
            <a:avLst/>
          </a:prstGeom>
          <a:solidFill>
            <a:srgbClr val="A3AAB6"/>
          </a:solidFill>
          <a:ln w="12700">
            <a:solidFill>
              <a:srgbClr val="A3AAB6"/>
            </a:solidFill>
            <a:prstDash val="solid"/>
          </a:ln>
        </p:spPr>
      </p:sp>
      <p:pic>
        <p:nvPicPr>
          <p:cNvPr id="19" name="Image 4" descr="preencoded.png">    </p:cNvPr>
          <p:cNvPicPr>
            <a:picLocks noChangeAspect="1"/>
          </p:cNvPicPr>
          <p:nvPr/>
        </p:nvPicPr>
        <p:blipFill>
          <a:blip r:embed="rId5"/>
          <a:stretch>
            <a:fillRect/>
          </a:stretch>
        </p:blipFill>
        <p:spPr>
          <a:xfrm>
            <a:off x="551017" y="3221065"/>
            <a:ext cx="159837" cy="159837"/>
          </a:xfrm>
          <a:prstGeom prst="rect">
            <a:avLst/>
          </a:prstGeom>
        </p:spPr>
      </p:pic>
      <p:sp>
        <p:nvSpPr>
          <p:cNvPr id="20" name="Text 12"/>
          <p:cNvSpPr txBox="1"/>
          <p:nvPr/>
        </p:nvSpPr>
        <p:spPr>
          <a:xfrm>
            <a:off x="1005840" y="3182112"/>
            <a:ext cx="4480560" cy="3657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Previous MI in the same territory</a:t>
            </a:r>
            <a:endParaRPr lang="en-US" sz="1400" dirty="0"/>
          </a:p>
        </p:txBody>
      </p:sp>
      <p:sp>
        <p:nvSpPr>
          <p:cNvPr id="21" name="Shape 13"/>
          <p:cNvSpPr/>
          <p:nvPr/>
        </p:nvSpPr>
        <p:spPr>
          <a:xfrm>
            <a:off x="457200" y="3584448"/>
            <a:ext cx="347472" cy="347472"/>
          </a:xfrm>
          <a:prstGeom prst="ellipse">
            <a:avLst/>
          </a:prstGeom>
          <a:solidFill>
            <a:srgbClr val="A3AAB6"/>
          </a:solidFill>
          <a:ln w="12700">
            <a:solidFill>
              <a:srgbClr val="A3AAB6"/>
            </a:solidFill>
            <a:prstDash val="solid"/>
          </a:ln>
        </p:spPr>
      </p:sp>
      <p:pic>
        <p:nvPicPr>
          <p:cNvPr id="22" name="Image 5" descr="preencoded.png">    </p:cNvPr>
          <p:cNvPicPr>
            <a:picLocks noChangeAspect="1"/>
          </p:cNvPicPr>
          <p:nvPr/>
        </p:nvPicPr>
        <p:blipFill>
          <a:blip r:embed="rId6"/>
          <a:stretch>
            <a:fillRect/>
          </a:stretch>
        </p:blipFill>
        <p:spPr>
          <a:xfrm>
            <a:off x="551017" y="3678265"/>
            <a:ext cx="159837" cy="159837"/>
          </a:xfrm>
          <a:prstGeom prst="rect">
            <a:avLst/>
          </a:prstGeom>
        </p:spPr>
      </p:pic>
      <p:sp>
        <p:nvSpPr>
          <p:cNvPr id="23" name="Text 14"/>
          <p:cNvSpPr txBox="1"/>
          <p:nvPr/>
        </p:nvSpPr>
        <p:spPr>
          <a:xfrm>
            <a:off x="1005840" y="3639312"/>
            <a:ext cx="4480560" cy="3657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Women of child-bearing potential</a:t>
            </a:r>
            <a:endParaRPr lang="en-US" sz="1400" dirty="0"/>
          </a:p>
        </p:txBody>
      </p:sp>
      <p:sp>
        <p:nvSpPr>
          <p:cNvPr id="24" name="Shape 15"/>
          <p:cNvSpPr/>
          <p:nvPr/>
        </p:nvSpPr>
        <p:spPr>
          <a:xfrm>
            <a:off x="457200" y="4041648"/>
            <a:ext cx="347472" cy="347472"/>
          </a:xfrm>
          <a:prstGeom prst="ellipse">
            <a:avLst/>
          </a:prstGeom>
          <a:solidFill>
            <a:srgbClr val="A3AAB6"/>
          </a:solidFill>
          <a:ln w="12700">
            <a:solidFill>
              <a:srgbClr val="A3AAB6"/>
            </a:solidFill>
            <a:prstDash val="solid"/>
          </a:ln>
        </p:spPr>
      </p:sp>
      <p:pic>
        <p:nvPicPr>
          <p:cNvPr id="25" name="Image 6" descr="preencoded.png">    </p:cNvPr>
          <p:cNvPicPr>
            <a:picLocks noChangeAspect="1"/>
          </p:cNvPicPr>
          <p:nvPr/>
        </p:nvPicPr>
        <p:blipFill>
          <a:blip r:embed="rId7"/>
          <a:stretch>
            <a:fillRect/>
          </a:stretch>
        </p:blipFill>
        <p:spPr>
          <a:xfrm>
            <a:off x="551017" y="4135465"/>
            <a:ext cx="159837" cy="159837"/>
          </a:xfrm>
          <a:prstGeom prst="rect">
            <a:avLst/>
          </a:prstGeom>
        </p:spPr>
      </p:pic>
      <p:sp>
        <p:nvSpPr>
          <p:cNvPr id="26" name="Text 16"/>
          <p:cNvSpPr txBox="1"/>
          <p:nvPr/>
        </p:nvSpPr>
        <p:spPr>
          <a:xfrm>
            <a:off x="1005840" y="4096512"/>
            <a:ext cx="4480560" cy="3657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Participation in another interventional trial</a:t>
            </a:r>
            <a:endParaRPr lang="en-US" sz="1400" dirty="0"/>
          </a:p>
        </p:txBody>
      </p:sp>
      <p:sp>
        <p:nvSpPr>
          <p:cNvPr id="27" name="Shape 17"/>
          <p:cNvSpPr/>
          <p:nvPr/>
        </p:nvSpPr>
        <p:spPr>
          <a:xfrm>
            <a:off x="5852160" y="1097280"/>
            <a:ext cx="2834640" cy="3383280"/>
          </a:xfrm>
          <a:prstGeom prst="roundRect">
            <a:avLst>
              <a:gd name="adj" fmla="val 2581"/>
            </a:avLst>
          </a:prstGeom>
          <a:solidFill>
            <a:srgbClr val="F8F0F3"/>
          </a:solidFill>
          <a:ln w="12700">
            <a:solidFill>
              <a:srgbClr val="F8F0F3"/>
            </a:solidFill>
            <a:prstDash val="solid"/>
          </a:ln>
        </p:spPr>
      </p:sp>
      <p:pic>
        <p:nvPicPr>
          <p:cNvPr id="28" name="Image 7" descr="preencoded.png">    </p:cNvPr>
          <p:cNvPicPr>
            <a:picLocks noChangeAspect="1"/>
          </p:cNvPicPr>
          <p:nvPr/>
        </p:nvPicPr>
        <p:blipFill>
          <a:blip r:embed="rId8"/>
          <a:stretch>
            <a:fillRect/>
          </a:stretch>
        </p:blipFill>
        <p:spPr>
          <a:xfrm>
            <a:off x="6080760" y="1298448"/>
            <a:ext cx="347472" cy="347472"/>
          </a:xfrm>
          <a:prstGeom prst="rect">
            <a:avLst/>
          </a:prstGeom>
        </p:spPr>
      </p:pic>
      <p:sp>
        <p:nvSpPr>
          <p:cNvPr id="29" name="Text 18"/>
          <p:cNvSpPr txBox="1"/>
          <p:nvPr/>
        </p:nvSpPr>
        <p:spPr>
          <a:xfrm>
            <a:off x="6537960" y="1298448"/>
            <a:ext cx="2103120" cy="347472"/>
          </a:xfrm>
          <a:prstGeom prst="rect">
            <a:avLst/>
          </a:prstGeom>
          <a:noFill/>
          <a:ln/>
        </p:spPr>
        <p:txBody>
          <a:bodyPr wrap="square" lIns="0" tIns="0" rIns="0" bIns="0" rtlCol="0" anchor="ctr"/>
          <a:lstStyle/>
          <a:p>
            <a:pPr indent="0" marL="0">
              <a:buNone/>
            </a:pPr>
            <a:r>
              <a:rPr lang="en-US" sz="1500" b="1" dirty="0">
                <a:solidFill>
                  <a:srgbClr val="8C1D40"/>
                </a:solidFill>
                <a:latin typeface="Cambria" pitchFamily="34" charset="0"/>
                <a:ea typeface="Cambria" pitchFamily="34" charset="-122"/>
                <a:cs typeface="Cambria" pitchFamily="34" charset="-120"/>
              </a:rPr>
              <a:t>Why these exclusions?</a:t>
            </a:r>
            <a:endParaRPr lang="en-US" sz="1500" dirty="0"/>
          </a:p>
        </p:txBody>
      </p:sp>
      <p:sp>
        <p:nvSpPr>
          <p:cNvPr id="30" name="Text 19"/>
          <p:cNvSpPr txBox="1"/>
          <p:nvPr/>
        </p:nvSpPr>
        <p:spPr>
          <a:xfrm>
            <a:off x="6080760" y="1828800"/>
            <a:ext cx="2423160" cy="24688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Small, calcified or tortuous vessels: hard to deliver a retriever safely</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Stent thrombosis and prior MI in the same territory would confound infarct size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Endpoints</a:t>
            </a:r>
            <a:endParaRPr lang="en-US" sz="2800" dirty="0"/>
          </a:p>
        </p:txBody>
      </p:sp>
      <p:sp>
        <p:nvSpPr>
          <p:cNvPr id="3" name="Text 1"/>
          <p:cNvSpPr txBox="1"/>
          <p:nvPr/>
        </p:nvSpPr>
        <p:spPr>
          <a:xfrm>
            <a:off x="457200" y="470916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NATURE Trial · Journal Club · Cardiac Centre, BVH Bahawalpur</a:t>
            </a:r>
            <a:endParaRPr lang="en-US" sz="900" dirty="0"/>
          </a:p>
        </p:txBody>
      </p:sp>
      <p:sp>
        <p:nvSpPr>
          <p:cNvPr id="4" name="Text 2"/>
          <p:cNvSpPr txBox="1"/>
          <p:nvPr/>
        </p:nvSpPr>
        <p:spPr>
          <a:xfrm>
            <a:off x="8229600" y="4709160"/>
            <a:ext cx="457200" cy="228600"/>
          </a:xfrm>
          <a:prstGeom prst="rect">
            <a:avLst/>
          </a:prstGeom>
          <a:noFill/>
          <a:ln/>
        </p:spPr>
        <p:txBody>
          <a:bodyPr wrap="square" lIns="0" tIns="0" rIns="0" bIns="0" rtlCol="0" anchor="ctr"/>
          <a:lstStyle/>
          <a:p>
            <a:pPr algn="r" indent="0" marL="0">
              <a:buNone/>
            </a:pPr>
            <a:r>
              <a:rPr lang="en-US" sz="900" b="1" dirty="0">
                <a:solidFill>
                  <a:srgbClr val="8C1D40"/>
                </a:solidFill>
                <a:latin typeface="Calibri" pitchFamily="34" charset="0"/>
                <a:ea typeface="Calibri" pitchFamily="34" charset="-122"/>
                <a:cs typeface="Calibri" pitchFamily="34" charset="-120"/>
              </a:rPr>
              <a:t>8</a:t>
            </a:r>
            <a:endParaRPr lang="en-US" sz="900" dirty="0"/>
          </a:p>
        </p:txBody>
      </p:sp>
      <p:sp>
        <p:nvSpPr>
          <p:cNvPr id="6" name="Shape 3"/>
          <p:cNvSpPr/>
          <p:nvPr/>
        </p:nvSpPr>
        <p:spPr>
          <a:xfrm>
            <a:off x="457200" y="1188720"/>
            <a:ext cx="2606040" cy="2514600"/>
          </a:xfrm>
          <a:prstGeom prst="roundRect">
            <a:avLst>
              <a:gd name="adj" fmla="val 2909"/>
            </a:avLst>
          </a:prstGeom>
          <a:solidFill>
            <a:srgbClr val="F8F0F3"/>
          </a:solidFill>
          <a:ln w="12700">
            <a:solidFill>
              <a:srgbClr val="F8F0F3"/>
            </a:solidFill>
            <a:prstDash val="solid"/>
          </a:ln>
        </p:spPr>
      </p:sp>
      <p:sp>
        <p:nvSpPr>
          <p:cNvPr id="7" name="Shape 4"/>
          <p:cNvSpPr/>
          <p:nvPr/>
        </p:nvSpPr>
        <p:spPr>
          <a:xfrm>
            <a:off x="731520" y="1463040"/>
            <a:ext cx="731520" cy="73152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914400" y="1645920"/>
            <a:ext cx="365760" cy="365760"/>
          </a:xfrm>
          <a:prstGeom prst="rect">
            <a:avLst/>
          </a:prstGeom>
        </p:spPr>
      </p:pic>
      <p:sp>
        <p:nvSpPr>
          <p:cNvPr id="9" name="Text 5"/>
          <p:cNvSpPr txBox="1"/>
          <p:nvPr/>
        </p:nvSpPr>
        <p:spPr>
          <a:xfrm>
            <a:off x="731520" y="2423160"/>
            <a:ext cx="2103120" cy="411480"/>
          </a:xfrm>
          <a:prstGeom prst="rect">
            <a:avLst/>
          </a:prstGeom>
          <a:noFill/>
          <a:ln/>
        </p:spPr>
        <p:txBody>
          <a:bodyPr wrap="square" lIns="0" tIns="0" rIns="0" bIns="0" rtlCol="0" anchor="ctr"/>
          <a:lstStyle/>
          <a:p>
            <a:pPr indent="0" marL="0">
              <a:buNone/>
            </a:pPr>
            <a:r>
              <a:rPr lang="en-US" sz="2000" b="1" dirty="0">
                <a:solidFill>
                  <a:srgbClr val="8C1D40"/>
                </a:solidFill>
                <a:latin typeface="Cambria" pitchFamily="34" charset="0"/>
                <a:ea typeface="Cambria" pitchFamily="34" charset="-122"/>
                <a:cs typeface="Cambria" pitchFamily="34" charset="-120"/>
              </a:rPr>
              <a:t>Primary</a:t>
            </a:r>
            <a:endParaRPr lang="en-US" sz="2000" dirty="0"/>
          </a:p>
        </p:txBody>
      </p:sp>
      <p:sp>
        <p:nvSpPr>
          <p:cNvPr id="10" name="Text 6"/>
          <p:cNvSpPr txBox="1"/>
          <p:nvPr/>
        </p:nvSpPr>
        <p:spPr>
          <a:xfrm>
            <a:off x="731520" y="2880360"/>
            <a:ext cx="2103120" cy="10972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Infarct size by CK-MB area under the curve</a:t>
            </a:r>
            <a:endParaRPr lang="en-US" sz="1400" dirty="0"/>
          </a:p>
        </p:txBody>
      </p:sp>
      <p:sp>
        <p:nvSpPr>
          <p:cNvPr id="11" name="Shape 7"/>
          <p:cNvSpPr/>
          <p:nvPr/>
        </p:nvSpPr>
        <p:spPr>
          <a:xfrm>
            <a:off x="3264408" y="1188720"/>
            <a:ext cx="2606040" cy="2514600"/>
          </a:xfrm>
          <a:prstGeom prst="roundRect">
            <a:avLst>
              <a:gd name="adj" fmla="val 2909"/>
            </a:avLst>
          </a:prstGeom>
          <a:solidFill>
            <a:srgbClr val="F8F0F3"/>
          </a:solidFill>
          <a:ln w="12700">
            <a:solidFill>
              <a:srgbClr val="F8F0F3"/>
            </a:solidFill>
            <a:prstDash val="solid"/>
          </a:ln>
        </p:spPr>
      </p:sp>
      <p:sp>
        <p:nvSpPr>
          <p:cNvPr id="12" name="Shape 8"/>
          <p:cNvSpPr/>
          <p:nvPr/>
        </p:nvSpPr>
        <p:spPr>
          <a:xfrm>
            <a:off x="3538728" y="1463040"/>
            <a:ext cx="731520" cy="731520"/>
          </a:xfrm>
          <a:prstGeom prst="ellipse">
            <a:avLst/>
          </a:prstGeom>
          <a:solidFill>
            <a:srgbClr val="FFFFFF"/>
          </a:solidFill>
          <a:ln w="12700">
            <a:solidFill>
              <a:srgbClr val="FFFFFF"/>
            </a:solidFill>
            <a:prstDash val="solid"/>
          </a:ln>
        </p:spPr>
      </p:sp>
      <p:pic>
        <p:nvPicPr>
          <p:cNvPr id="13" name="Image 1" descr="preencoded.png">    </p:cNvPr>
          <p:cNvPicPr>
            <a:picLocks noChangeAspect="1"/>
          </p:cNvPicPr>
          <p:nvPr/>
        </p:nvPicPr>
        <p:blipFill>
          <a:blip r:embed="rId2"/>
          <a:stretch>
            <a:fillRect/>
          </a:stretch>
        </p:blipFill>
        <p:spPr>
          <a:xfrm>
            <a:off x="3721608" y="1645920"/>
            <a:ext cx="365760" cy="365760"/>
          </a:xfrm>
          <a:prstGeom prst="rect">
            <a:avLst/>
          </a:prstGeom>
        </p:spPr>
      </p:pic>
      <p:sp>
        <p:nvSpPr>
          <p:cNvPr id="14" name="Text 9"/>
          <p:cNvSpPr txBox="1"/>
          <p:nvPr/>
        </p:nvSpPr>
        <p:spPr>
          <a:xfrm>
            <a:off x="3538728" y="2423160"/>
            <a:ext cx="2103120" cy="411480"/>
          </a:xfrm>
          <a:prstGeom prst="rect">
            <a:avLst/>
          </a:prstGeom>
          <a:noFill/>
          <a:ln/>
        </p:spPr>
        <p:txBody>
          <a:bodyPr wrap="square" lIns="0" tIns="0" rIns="0" bIns="0" rtlCol="0" anchor="ctr"/>
          <a:lstStyle/>
          <a:p>
            <a:pPr indent="0" marL="0">
              <a:buNone/>
            </a:pPr>
            <a:r>
              <a:rPr lang="en-US" sz="2000" b="1" dirty="0">
                <a:solidFill>
                  <a:srgbClr val="8C1D40"/>
                </a:solidFill>
                <a:latin typeface="Cambria" pitchFamily="34" charset="0"/>
                <a:ea typeface="Cambria" pitchFamily="34" charset="-122"/>
                <a:cs typeface="Cambria" pitchFamily="34" charset="-120"/>
              </a:rPr>
              <a:t>Secondary</a:t>
            </a:r>
            <a:endParaRPr lang="en-US" sz="2000" dirty="0"/>
          </a:p>
        </p:txBody>
      </p:sp>
      <p:sp>
        <p:nvSpPr>
          <p:cNvPr id="15" name="Text 10"/>
          <p:cNvSpPr txBox="1"/>
          <p:nvPr/>
        </p:nvSpPr>
        <p:spPr>
          <a:xfrm>
            <a:off x="3538728" y="2880360"/>
            <a:ext cx="2103120" cy="10972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Infarct size on cardiac MRI (% of LV mass) at day 3</a:t>
            </a:r>
            <a:endParaRPr lang="en-US" sz="1400" dirty="0"/>
          </a:p>
        </p:txBody>
      </p:sp>
      <p:sp>
        <p:nvSpPr>
          <p:cNvPr id="16" name="Shape 11"/>
          <p:cNvSpPr/>
          <p:nvPr/>
        </p:nvSpPr>
        <p:spPr>
          <a:xfrm>
            <a:off x="6071616" y="1188720"/>
            <a:ext cx="2606040" cy="2514600"/>
          </a:xfrm>
          <a:prstGeom prst="roundRect">
            <a:avLst>
              <a:gd name="adj" fmla="val 2909"/>
            </a:avLst>
          </a:prstGeom>
          <a:solidFill>
            <a:srgbClr val="F8F0F3"/>
          </a:solidFill>
          <a:ln w="12700">
            <a:solidFill>
              <a:srgbClr val="F8F0F3"/>
            </a:solidFill>
            <a:prstDash val="solid"/>
          </a:ln>
        </p:spPr>
      </p:sp>
      <p:sp>
        <p:nvSpPr>
          <p:cNvPr id="17" name="Shape 12"/>
          <p:cNvSpPr/>
          <p:nvPr/>
        </p:nvSpPr>
        <p:spPr>
          <a:xfrm>
            <a:off x="6345936" y="1463040"/>
            <a:ext cx="731520" cy="73152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528816" y="1645920"/>
            <a:ext cx="365760" cy="365760"/>
          </a:xfrm>
          <a:prstGeom prst="rect">
            <a:avLst/>
          </a:prstGeom>
        </p:spPr>
      </p:pic>
      <p:sp>
        <p:nvSpPr>
          <p:cNvPr id="19" name="Text 13"/>
          <p:cNvSpPr txBox="1"/>
          <p:nvPr/>
        </p:nvSpPr>
        <p:spPr>
          <a:xfrm>
            <a:off x="6345936" y="2423160"/>
            <a:ext cx="2103120" cy="411480"/>
          </a:xfrm>
          <a:prstGeom prst="rect">
            <a:avLst/>
          </a:prstGeom>
          <a:noFill/>
          <a:ln/>
        </p:spPr>
        <p:txBody>
          <a:bodyPr wrap="square" lIns="0" tIns="0" rIns="0" bIns="0" rtlCol="0" anchor="ctr"/>
          <a:lstStyle/>
          <a:p>
            <a:pPr indent="0" marL="0">
              <a:buNone/>
            </a:pPr>
            <a:r>
              <a:rPr lang="en-US" sz="2000" b="1" dirty="0">
                <a:solidFill>
                  <a:srgbClr val="8C1D40"/>
                </a:solidFill>
                <a:latin typeface="Cambria" pitchFamily="34" charset="0"/>
                <a:ea typeface="Cambria" pitchFamily="34" charset="-122"/>
                <a:cs typeface="Cambria" pitchFamily="34" charset="-120"/>
              </a:rPr>
              <a:t>Safety</a:t>
            </a:r>
            <a:endParaRPr lang="en-US" sz="2000" dirty="0"/>
          </a:p>
        </p:txBody>
      </p:sp>
      <p:sp>
        <p:nvSpPr>
          <p:cNvPr id="20" name="Text 14"/>
          <p:cNvSpPr txBox="1"/>
          <p:nvPr/>
        </p:nvSpPr>
        <p:spPr>
          <a:xfrm>
            <a:off x="6345936" y="2880360"/>
            <a:ext cx="2103120" cy="10972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Death, stroke and MACE at 30 days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Primary endpoint: met</a:t>
            </a:r>
            <a:endParaRPr lang="en-US" sz="2800" dirty="0"/>
          </a:p>
        </p:txBody>
      </p:sp>
      <p:sp>
        <p:nvSpPr>
          <p:cNvPr id="3" name="Text 1"/>
          <p:cNvSpPr txBox="1"/>
          <p:nvPr/>
        </p:nvSpPr>
        <p:spPr>
          <a:xfrm>
            <a:off x="457200" y="470916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NATURE Trial · Journal Club · Cardiac Centre, BVH Bahawalpur</a:t>
            </a:r>
            <a:endParaRPr lang="en-US" sz="900" dirty="0"/>
          </a:p>
        </p:txBody>
      </p:sp>
      <p:sp>
        <p:nvSpPr>
          <p:cNvPr id="4" name="Text 2"/>
          <p:cNvSpPr txBox="1"/>
          <p:nvPr/>
        </p:nvSpPr>
        <p:spPr>
          <a:xfrm>
            <a:off x="8229600" y="4709160"/>
            <a:ext cx="457200" cy="228600"/>
          </a:xfrm>
          <a:prstGeom prst="rect">
            <a:avLst/>
          </a:prstGeom>
          <a:noFill/>
          <a:ln/>
        </p:spPr>
        <p:txBody>
          <a:bodyPr wrap="square" lIns="0" tIns="0" rIns="0" bIns="0" rtlCol="0" anchor="ctr"/>
          <a:lstStyle/>
          <a:p>
            <a:pPr algn="r" indent="0" marL="0">
              <a:buNone/>
            </a:pPr>
            <a:r>
              <a:rPr lang="en-US" sz="900" b="1" dirty="0">
                <a:solidFill>
                  <a:srgbClr val="8C1D40"/>
                </a:solidFill>
                <a:latin typeface="Calibri" pitchFamily="34" charset="0"/>
                <a:ea typeface="Calibri" pitchFamily="34" charset="-122"/>
                <a:cs typeface="Calibri" pitchFamily="34" charset="-120"/>
              </a:rPr>
              <a:t>9</a:t>
            </a:r>
            <a:endParaRPr lang="en-US" sz="900" dirty="0"/>
          </a:p>
        </p:txBody>
      </p:sp>
      <p:sp>
        <p:nvSpPr>
          <p:cNvPr id="6" name="Text 3"/>
          <p:cNvSpPr txBox="1"/>
          <p:nvPr/>
        </p:nvSpPr>
        <p:spPr>
          <a:xfrm>
            <a:off x="457200" y="1234440"/>
            <a:ext cx="3657600" cy="1097280"/>
          </a:xfrm>
          <a:prstGeom prst="rect">
            <a:avLst/>
          </a:prstGeom>
          <a:noFill/>
          <a:ln/>
        </p:spPr>
        <p:txBody>
          <a:bodyPr wrap="square" lIns="0" tIns="0" rIns="0" bIns="0" rtlCol="0" anchor="ctr"/>
          <a:lstStyle/>
          <a:p>
            <a:pPr indent="0" marL="0">
              <a:buNone/>
            </a:pPr>
            <a:r>
              <a:rPr lang="en-US" sz="8000" b="1" dirty="0">
                <a:solidFill>
                  <a:srgbClr val="8C1D40"/>
                </a:solidFill>
                <a:latin typeface="Cambria" pitchFamily="34" charset="0"/>
                <a:ea typeface="Cambria" pitchFamily="34" charset="-122"/>
                <a:cs typeface="Cambria" pitchFamily="34" charset="-120"/>
              </a:rPr>
              <a:t>26%</a:t>
            </a:r>
            <a:endParaRPr lang="en-US" sz="8000" dirty="0"/>
          </a:p>
        </p:txBody>
      </p:sp>
      <p:sp>
        <p:nvSpPr>
          <p:cNvPr id="7" name="Text 4"/>
          <p:cNvSpPr txBox="1"/>
          <p:nvPr/>
        </p:nvSpPr>
        <p:spPr>
          <a:xfrm>
            <a:off x="457200" y="2377440"/>
            <a:ext cx="3566160" cy="68580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relative reduction in infarct size (CK-MB AUC) with enVast versus standard PCI</a:t>
            </a:r>
            <a:endParaRPr lang="en-US" sz="1500" dirty="0"/>
          </a:p>
        </p:txBody>
      </p:sp>
      <p:sp>
        <p:nvSpPr>
          <p:cNvPr id="8" name="Shape 5"/>
          <p:cNvSpPr/>
          <p:nvPr/>
        </p:nvSpPr>
        <p:spPr>
          <a:xfrm>
            <a:off x="457200" y="3291840"/>
            <a:ext cx="1645920" cy="502920"/>
          </a:xfrm>
          <a:prstGeom prst="roundRect">
            <a:avLst>
              <a:gd name="adj" fmla="val 14545"/>
            </a:avLst>
          </a:prstGeom>
          <a:solidFill>
            <a:srgbClr val="F8F0F3"/>
          </a:solidFill>
          <a:ln w="12700">
            <a:solidFill>
              <a:srgbClr val="F8F0F3"/>
            </a:solidFill>
            <a:prstDash val="solid"/>
          </a:ln>
        </p:spPr>
      </p:sp>
      <p:sp>
        <p:nvSpPr>
          <p:cNvPr id="9" name="Text 6"/>
          <p:cNvSpPr txBox="1"/>
          <p:nvPr/>
        </p:nvSpPr>
        <p:spPr>
          <a:xfrm>
            <a:off x="457200" y="3291840"/>
            <a:ext cx="1645920" cy="502920"/>
          </a:xfrm>
          <a:prstGeom prst="rect">
            <a:avLst/>
          </a:prstGeom>
          <a:noFill/>
          <a:ln/>
        </p:spPr>
        <p:txBody>
          <a:bodyPr wrap="square" lIns="0" tIns="0" rIns="0" bIns="0" rtlCol="0" anchor="ctr"/>
          <a:lstStyle/>
          <a:p>
            <a:pPr algn="ctr" indent="0" marL="0">
              <a:buNone/>
            </a:pPr>
            <a:r>
              <a:rPr lang="en-US" sz="1600" b="1" dirty="0">
                <a:solidFill>
                  <a:srgbClr val="8C1D40"/>
                </a:solidFill>
                <a:latin typeface="Calibri" pitchFamily="34" charset="0"/>
                <a:ea typeface="Calibri" pitchFamily="34" charset="-122"/>
                <a:cs typeface="Calibri" pitchFamily="34" charset="-120"/>
              </a:rPr>
              <a:t>P = 0.001</a:t>
            </a:r>
            <a:endParaRPr lang="en-US" sz="1600" dirty="0"/>
          </a:p>
        </p:txBody>
      </p:sp>
      <p:graphicFrame>
        <p:nvGraphicFramePr>
          <p:cNvPr id="10" name="Chart 0" descr=""/>
          <p:cNvGraphicFramePr/>
          <p:nvPr/>
        </p:nvGraphicFramePr>
        <p:xfrm>
          <a:off x="4572000" y="1097280"/>
          <a:ext cx="4114800" cy="33832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Secondary endpoint: cardiac MRI</a:t>
            </a:r>
            <a:endParaRPr lang="en-US" sz="2800" dirty="0"/>
          </a:p>
        </p:txBody>
      </p:sp>
      <p:sp>
        <p:nvSpPr>
          <p:cNvPr id="3" name="Text 1"/>
          <p:cNvSpPr txBox="1"/>
          <p:nvPr/>
        </p:nvSpPr>
        <p:spPr>
          <a:xfrm>
            <a:off x="457200" y="470916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NATURE Trial · Journal Club · Cardiac Centre, BVH Bahawalpur</a:t>
            </a:r>
            <a:endParaRPr lang="en-US" sz="900" dirty="0"/>
          </a:p>
        </p:txBody>
      </p:sp>
      <p:sp>
        <p:nvSpPr>
          <p:cNvPr id="4" name="Text 2"/>
          <p:cNvSpPr txBox="1"/>
          <p:nvPr/>
        </p:nvSpPr>
        <p:spPr>
          <a:xfrm>
            <a:off x="8229600" y="4709160"/>
            <a:ext cx="457200" cy="228600"/>
          </a:xfrm>
          <a:prstGeom prst="rect">
            <a:avLst/>
          </a:prstGeom>
          <a:noFill/>
          <a:ln/>
        </p:spPr>
        <p:txBody>
          <a:bodyPr wrap="square" lIns="0" tIns="0" rIns="0" bIns="0" rtlCol="0" anchor="ctr"/>
          <a:lstStyle/>
          <a:p>
            <a:pPr algn="r" indent="0" marL="0">
              <a:buNone/>
            </a:pPr>
            <a:r>
              <a:rPr lang="en-US" sz="900" b="1" dirty="0">
                <a:solidFill>
                  <a:srgbClr val="8C1D40"/>
                </a:solidFill>
                <a:latin typeface="Calibri" pitchFamily="34" charset="0"/>
                <a:ea typeface="Calibri" pitchFamily="34" charset="-122"/>
                <a:cs typeface="Calibri" pitchFamily="34" charset="-120"/>
              </a:rPr>
              <a:t>10</a:t>
            </a:r>
            <a:endParaRPr lang="en-US" sz="900" dirty="0"/>
          </a:p>
        </p:txBody>
      </p:sp>
      <p:sp>
        <p:nvSpPr>
          <p:cNvPr id="6" name="Text 3"/>
          <p:cNvSpPr txBox="1"/>
          <p:nvPr/>
        </p:nvSpPr>
        <p:spPr>
          <a:xfrm>
            <a:off x="457200" y="1234440"/>
            <a:ext cx="5486400" cy="36576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CK-MB AUC (primary)</a:t>
            </a:r>
            <a:endParaRPr lang="en-US" sz="1700" dirty="0"/>
          </a:p>
        </p:txBody>
      </p:sp>
      <p:sp>
        <p:nvSpPr>
          <p:cNvPr id="7" name="Text 4"/>
          <p:cNvSpPr txBox="1"/>
          <p:nvPr/>
        </p:nvSpPr>
        <p:spPr>
          <a:xfrm>
            <a:off x="6217920" y="1234440"/>
            <a:ext cx="2468880" cy="365760"/>
          </a:xfrm>
          <a:prstGeom prst="rect">
            <a:avLst/>
          </a:prstGeom>
          <a:noFill/>
          <a:ln/>
        </p:spPr>
        <p:txBody>
          <a:bodyPr wrap="square" lIns="0" tIns="0" rIns="0" bIns="0" rtlCol="0" anchor="ctr"/>
          <a:lstStyle/>
          <a:p>
            <a:pPr algn="r" indent="0" marL="0">
              <a:buNone/>
            </a:pPr>
            <a:r>
              <a:rPr lang="en-US" sz="2000" b="1" dirty="0">
                <a:solidFill>
                  <a:srgbClr val="8C1D40"/>
                </a:solidFill>
                <a:latin typeface="Cambria" pitchFamily="34" charset="0"/>
                <a:ea typeface="Cambria" pitchFamily="34" charset="-122"/>
                <a:cs typeface="Cambria" pitchFamily="34" charset="-120"/>
              </a:rPr>
              <a:t>26% smaller</a:t>
            </a:r>
            <a:endParaRPr lang="en-US" sz="2000" dirty="0"/>
          </a:p>
        </p:txBody>
      </p:sp>
      <p:sp>
        <p:nvSpPr>
          <p:cNvPr id="8" name="Text 5"/>
          <p:cNvSpPr txBox="1"/>
          <p:nvPr/>
        </p:nvSpPr>
        <p:spPr>
          <a:xfrm>
            <a:off x="457200" y="1691640"/>
            <a:ext cx="128016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Standard PCI</a:t>
            </a:r>
            <a:endParaRPr lang="en-US" sz="1100" dirty="0"/>
          </a:p>
        </p:txBody>
      </p:sp>
      <p:sp>
        <p:nvSpPr>
          <p:cNvPr id="9" name="Shape 6"/>
          <p:cNvSpPr/>
          <p:nvPr/>
        </p:nvSpPr>
        <p:spPr>
          <a:xfrm>
            <a:off x="1783080" y="1709928"/>
            <a:ext cx="6903720" cy="237744"/>
          </a:xfrm>
          <a:prstGeom prst="rect">
            <a:avLst/>
          </a:prstGeom>
          <a:solidFill>
            <a:srgbClr val="A3AAB6"/>
          </a:solidFill>
          <a:ln w="12700">
            <a:solidFill>
              <a:srgbClr val="A3AAB6"/>
            </a:solidFill>
            <a:prstDash val="solid"/>
          </a:ln>
        </p:spPr>
      </p:sp>
      <p:sp>
        <p:nvSpPr>
          <p:cNvPr id="10" name="Text 7"/>
          <p:cNvSpPr txBox="1"/>
          <p:nvPr/>
        </p:nvSpPr>
        <p:spPr>
          <a:xfrm>
            <a:off x="457200" y="2039112"/>
            <a:ext cx="128016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enVast + PCI</a:t>
            </a:r>
            <a:endParaRPr lang="en-US" sz="1100" dirty="0"/>
          </a:p>
        </p:txBody>
      </p:sp>
      <p:sp>
        <p:nvSpPr>
          <p:cNvPr id="11" name="Shape 8"/>
          <p:cNvSpPr/>
          <p:nvPr/>
        </p:nvSpPr>
        <p:spPr>
          <a:xfrm>
            <a:off x="1783080" y="2057400"/>
            <a:ext cx="5108753" cy="237744"/>
          </a:xfrm>
          <a:prstGeom prst="rect">
            <a:avLst/>
          </a:prstGeom>
          <a:solidFill>
            <a:srgbClr val="8C1D40"/>
          </a:solidFill>
          <a:ln w="12700">
            <a:solidFill>
              <a:srgbClr val="8C1D40"/>
            </a:solidFill>
            <a:prstDash val="solid"/>
          </a:ln>
        </p:spPr>
      </p:sp>
      <p:sp>
        <p:nvSpPr>
          <p:cNvPr id="12" name="Text 9"/>
          <p:cNvSpPr txBox="1"/>
          <p:nvPr/>
        </p:nvSpPr>
        <p:spPr>
          <a:xfrm>
            <a:off x="7028993" y="2039112"/>
            <a:ext cx="1645920" cy="274320"/>
          </a:xfrm>
          <a:prstGeom prst="rect">
            <a:avLst/>
          </a:prstGeom>
          <a:noFill/>
          <a:ln/>
        </p:spPr>
        <p:txBody>
          <a:bodyPr wrap="square" lIns="0" tIns="0" rIns="0" bIns="0" rtlCol="0" anchor="ctr"/>
          <a:lstStyle/>
          <a:p>
            <a:pPr indent="0" marL="0">
              <a:buNone/>
            </a:pPr>
            <a:r>
              <a:rPr lang="en-US" sz="1100" i="1" dirty="0">
                <a:solidFill>
                  <a:srgbClr val="1F2937"/>
                </a:solidFill>
                <a:latin typeface="Calibri" pitchFamily="34" charset="0"/>
                <a:ea typeface="Calibri" pitchFamily="34" charset="-122"/>
                <a:cs typeface="Calibri" pitchFamily="34" charset="-120"/>
              </a:rPr>
              <a:t>Significant, P = 0.001</a:t>
            </a:r>
            <a:endParaRPr lang="en-US" sz="1100" dirty="0"/>
          </a:p>
        </p:txBody>
      </p:sp>
      <p:sp>
        <p:nvSpPr>
          <p:cNvPr id="13" name="Text 10"/>
          <p:cNvSpPr txBox="1"/>
          <p:nvPr/>
        </p:nvSpPr>
        <p:spPr>
          <a:xfrm>
            <a:off x="457200" y="2743200"/>
            <a:ext cx="5486400" cy="36576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Cardiac MRI at day 3 (secondary)</a:t>
            </a:r>
            <a:endParaRPr lang="en-US" sz="1700" dirty="0"/>
          </a:p>
        </p:txBody>
      </p:sp>
      <p:sp>
        <p:nvSpPr>
          <p:cNvPr id="14" name="Text 11"/>
          <p:cNvSpPr txBox="1"/>
          <p:nvPr/>
        </p:nvSpPr>
        <p:spPr>
          <a:xfrm>
            <a:off x="6217920" y="2743200"/>
            <a:ext cx="2468880" cy="365760"/>
          </a:xfrm>
          <a:prstGeom prst="rect">
            <a:avLst/>
          </a:prstGeom>
          <a:noFill/>
          <a:ln/>
        </p:spPr>
        <p:txBody>
          <a:bodyPr wrap="square" lIns="0" tIns="0" rIns="0" bIns="0" rtlCol="0" anchor="ctr"/>
          <a:lstStyle/>
          <a:p>
            <a:pPr algn="r" indent="0" marL="0">
              <a:buNone/>
            </a:pPr>
            <a:r>
              <a:rPr lang="en-US" sz="2000" b="1" dirty="0">
                <a:solidFill>
                  <a:srgbClr val="8C1D40"/>
                </a:solidFill>
                <a:latin typeface="Cambria" pitchFamily="34" charset="0"/>
                <a:ea typeface="Cambria" pitchFamily="34" charset="-122"/>
                <a:cs typeface="Cambria" pitchFamily="34" charset="-120"/>
              </a:rPr>
              <a:t>25% smaller</a:t>
            </a:r>
            <a:endParaRPr lang="en-US" sz="2000" dirty="0"/>
          </a:p>
        </p:txBody>
      </p:sp>
      <p:sp>
        <p:nvSpPr>
          <p:cNvPr id="15" name="Text 12"/>
          <p:cNvSpPr txBox="1"/>
          <p:nvPr/>
        </p:nvSpPr>
        <p:spPr>
          <a:xfrm>
            <a:off x="457200" y="3200400"/>
            <a:ext cx="128016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Standard PCI</a:t>
            </a:r>
            <a:endParaRPr lang="en-US" sz="1100" dirty="0"/>
          </a:p>
        </p:txBody>
      </p:sp>
      <p:sp>
        <p:nvSpPr>
          <p:cNvPr id="16" name="Shape 13"/>
          <p:cNvSpPr/>
          <p:nvPr/>
        </p:nvSpPr>
        <p:spPr>
          <a:xfrm>
            <a:off x="1783080" y="3218688"/>
            <a:ext cx="6903720" cy="237744"/>
          </a:xfrm>
          <a:prstGeom prst="rect">
            <a:avLst/>
          </a:prstGeom>
          <a:solidFill>
            <a:srgbClr val="A3AAB6"/>
          </a:solidFill>
          <a:ln w="12700">
            <a:solidFill>
              <a:srgbClr val="A3AAB6"/>
            </a:solidFill>
            <a:prstDash val="solid"/>
          </a:ln>
        </p:spPr>
      </p:sp>
      <p:sp>
        <p:nvSpPr>
          <p:cNvPr id="17" name="Text 14"/>
          <p:cNvSpPr txBox="1"/>
          <p:nvPr/>
        </p:nvSpPr>
        <p:spPr>
          <a:xfrm>
            <a:off x="457200" y="3547872"/>
            <a:ext cx="128016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enVast + PCI</a:t>
            </a:r>
            <a:endParaRPr lang="en-US" sz="1100" dirty="0"/>
          </a:p>
        </p:txBody>
      </p:sp>
      <p:sp>
        <p:nvSpPr>
          <p:cNvPr id="18" name="Shape 15"/>
          <p:cNvSpPr/>
          <p:nvPr/>
        </p:nvSpPr>
        <p:spPr>
          <a:xfrm>
            <a:off x="1783080" y="3566160"/>
            <a:ext cx="5177790" cy="237744"/>
          </a:xfrm>
          <a:prstGeom prst="rect">
            <a:avLst/>
          </a:prstGeom>
          <a:solidFill>
            <a:srgbClr val="8C1D40"/>
          </a:solidFill>
          <a:ln w="12700">
            <a:solidFill>
              <a:srgbClr val="8C1D40"/>
            </a:solidFill>
            <a:prstDash val="solid"/>
          </a:ln>
        </p:spPr>
      </p:sp>
      <p:sp>
        <p:nvSpPr>
          <p:cNvPr id="19" name="Text 16"/>
          <p:cNvSpPr txBox="1"/>
          <p:nvPr/>
        </p:nvSpPr>
        <p:spPr>
          <a:xfrm>
            <a:off x="7098030" y="3547872"/>
            <a:ext cx="1645920" cy="274320"/>
          </a:xfrm>
          <a:prstGeom prst="rect">
            <a:avLst/>
          </a:prstGeom>
          <a:noFill/>
          <a:ln/>
        </p:spPr>
        <p:txBody>
          <a:bodyPr wrap="square" lIns="0" tIns="0" rIns="0" bIns="0" rtlCol="0" anchor="ctr"/>
          <a:lstStyle/>
          <a:p>
            <a:pPr indent="0" marL="0">
              <a:buNone/>
            </a:pPr>
            <a:r>
              <a:rPr lang="en-US" sz="1100" i="1" dirty="0">
                <a:solidFill>
                  <a:srgbClr val="1F2937"/>
                </a:solidFill>
                <a:latin typeface="Calibri" pitchFamily="34" charset="0"/>
                <a:ea typeface="Calibri" pitchFamily="34" charset="-122"/>
                <a:cs typeface="Calibri" pitchFamily="34" charset="-120"/>
              </a:rPr>
              <a:t>Trend in the same direction</a:t>
            </a:r>
            <a:endParaRPr lang="en-US" sz="1100" dirty="0"/>
          </a:p>
        </p:txBody>
      </p:sp>
      <p:sp>
        <p:nvSpPr>
          <p:cNvPr id="20" name="Text 17"/>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Two different measures, a blood test and imaging, point the same way.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Safety at 30 days</a:t>
            </a:r>
            <a:endParaRPr lang="en-US" sz="2800" dirty="0"/>
          </a:p>
        </p:txBody>
      </p:sp>
      <p:sp>
        <p:nvSpPr>
          <p:cNvPr id="3" name="Text 1"/>
          <p:cNvSpPr txBox="1"/>
          <p:nvPr/>
        </p:nvSpPr>
        <p:spPr>
          <a:xfrm>
            <a:off x="457200" y="470916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NATURE Trial · Journal Club · Cardiac Centre, BVH Bahawalpur</a:t>
            </a:r>
            <a:endParaRPr lang="en-US" sz="900" dirty="0"/>
          </a:p>
        </p:txBody>
      </p:sp>
      <p:sp>
        <p:nvSpPr>
          <p:cNvPr id="4" name="Text 2"/>
          <p:cNvSpPr txBox="1"/>
          <p:nvPr/>
        </p:nvSpPr>
        <p:spPr>
          <a:xfrm>
            <a:off x="8229600" y="4709160"/>
            <a:ext cx="457200" cy="228600"/>
          </a:xfrm>
          <a:prstGeom prst="rect">
            <a:avLst/>
          </a:prstGeom>
          <a:noFill/>
          <a:ln/>
        </p:spPr>
        <p:txBody>
          <a:bodyPr wrap="square" lIns="0" tIns="0" rIns="0" bIns="0" rtlCol="0" anchor="ctr"/>
          <a:lstStyle/>
          <a:p>
            <a:pPr algn="r" indent="0" marL="0">
              <a:buNone/>
            </a:pPr>
            <a:r>
              <a:rPr lang="en-US" sz="900" b="1" dirty="0">
                <a:solidFill>
                  <a:srgbClr val="8C1D40"/>
                </a:solidFill>
                <a:latin typeface="Calibri" pitchFamily="34" charset="0"/>
                <a:ea typeface="Calibri" pitchFamily="34" charset="-122"/>
                <a:cs typeface="Calibri" pitchFamily="34" charset="-120"/>
              </a:rPr>
              <a:t>11</a:t>
            </a:r>
            <a:endParaRPr lang="en-US" sz="900" dirty="0"/>
          </a:p>
        </p:txBody>
      </p:sp>
      <p:graphicFrame>
        <p:nvGraphicFramePr>
          <p:cNvPr id="6" name="Chart 0" descr=""/>
          <p:cNvGraphicFramePr/>
          <p:nvPr/>
        </p:nvGraphicFramePr>
        <p:xfrm>
          <a:off x="365760" y="105156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5943600" y="1188720"/>
            <a:ext cx="2743200" cy="3200400"/>
          </a:xfrm>
          <a:prstGeom prst="roundRect">
            <a:avLst>
              <a:gd name="adj" fmla="val 2667"/>
            </a:avLst>
          </a:prstGeom>
          <a:solidFill>
            <a:srgbClr val="F8F0F3"/>
          </a:solidFill>
          <a:ln w="12700">
            <a:solidFill>
              <a:srgbClr val="F8F0F3"/>
            </a:solidFill>
            <a:prstDash val="solid"/>
          </a:ln>
        </p:spPr>
      </p:sp>
      <p:sp>
        <p:nvSpPr>
          <p:cNvPr id="8" name="Text 4"/>
          <p:cNvSpPr txBox="1"/>
          <p:nvPr/>
        </p:nvSpPr>
        <p:spPr>
          <a:xfrm>
            <a:off x="6172200" y="1371600"/>
            <a:ext cx="2331720" cy="731520"/>
          </a:xfrm>
          <a:prstGeom prst="rect">
            <a:avLst/>
          </a:prstGeom>
          <a:noFill/>
          <a:ln/>
        </p:spPr>
        <p:txBody>
          <a:bodyPr wrap="square" lIns="0" tIns="0" rIns="0" bIns="0" rtlCol="0" anchor="t"/>
          <a:lstStyle/>
          <a:p>
            <a:pPr indent="0" marL="0">
              <a:buNone/>
            </a:pPr>
            <a:r>
              <a:rPr lang="en-US" sz="1600" b="1" dirty="0">
                <a:solidFill>
                  <a:srgbClr val="8C1D40"/>
                </a:solidFill>
                <a:latin typeface="Cambria" pitchFamily="34" charset="0"/>
                <a:ea typeface="Cambria" pitchFamily="34" charset="-122"/>
                <a:cs typeface="Cambria" pitchFamily="34" charset="-120"/>
              </a:rPr>
              <a:t>No strokes and no deaths with enVast</a:t>
            </a:r>
            <a:endParaRPr lang="en-US" sz="1600" dirty="0"/>
          </a:p>
        </p:txBody>
      </p:sp>
      <p:sp>
        <p:nvSpPr>
          <p:cNvPr id="9" name="Text 5"/>
          <p:cNvSpPr txBox="1"/>
          <p:nvPr/>
        </p:nvSpPr>
        <p:spPr>
          <a:xfrm>
            <a:off x="6172200" y="2194560"/>
            <a:ext cx="233172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Important because aspiration in TOTAL increased stroke</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Very few events overall</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The trial was not powered for clinical outcomes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Strengths</a:t>
            </a:r>
            <a:endParaRPr lang="en-US" sz="2800" dirty="0"/>
          </a:p>
        </p:txBody>
      </p:sp>
      <p:sp>
        <p:nvSpPr>
          <p:cNvPr id="3" name="Text 1"/>
          <p:cNvSpPr txBox="1"/>
          <p:nvPr/>
        </p:nvSpPr>
        <p:spPr>
          <a:xfrm>
            <a:off x="457200" y="470916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NATURE Trial · Journal Club · Cardiac Centre, BVH Bahawalpur</a:t>
            </a:r>
            <a:endParaRPr lang="en-US" sz="900" dirty="0"/>
          </a:p>
        </p:txBody>
      </p:sp>
      <p:sp>
        <p:nvSpPr>
          <p:cNvPr id="4" name="Text 2"/>
          <p:cNvSpPr txBox="1"/>
          <p:nvPr/>
        </p:nvSpPr>
        <p:spPr>
          <a:xfrm>
            <a:off x="8229600" y="4709160"/>
            <a:ext cx="457200" cy="228600"/>
          </a:xfrm>
          <a:prstGeom prst="rect">
            <a:avLst/>
          </a:prstGeom>
          <a:noFill/>
          <a:ln/>
        </p:spPr>
        <p:txBody>
          <a:bodyPr wrap="square" lIns="0" tIns="0" rIns="0" bIns="0" rtlCol="0" anchor="ctr"/>
          <a:lstStyle/>
          <a:p>
            <a:pPr algn="r" indent="0" marL="0">
              <a:buNone/>
            </a:pPr>
            <a:r>
              <a:rPr lang="en-US" sz="900" b="1" dirty="0">
                <a:solidFill>
                  <a:srgbClr val="8C1D40"/>
                </a:solidFill>
                <a:latin typeface="Calibri" pitchFamily="34" charset="0"/>
                <a:ea typeface="Calibri" pitchFamily="34" charset="-122"/>
                <a:cs typeface="Calibri" pitchFamily="34" charset="-120"/>
              </a:rPr>
              <a:t>12</a:t>
            </a:r>
            <a:endParaRPr lang="en-US" sz="900" dirty="0"/>
          </a:p>
        </p:txBody>
      </p:sp>
      <p:sp>
        <p:nvSpPr>
          <p:cNvPr id="6" name="Shape 3"/>
          <p:cNvSpPr/>
          <p:nvPr/>
        </p:nvSpPr>
        <p:spPr>
          <a:xfrm>
            <a:off x="457200" y="1234440"/>
            <a:ext cx="4023360" cy="1280160"/>
          </a:xfrm>
          <a:prstGeom prst="roundRect">
            <a:avLst>
              <a:gd name="adj" fmla="val 5714"/>
            </a:avLst>
          </a:prstGeom>
          <a:solidFill>
            <a:srgbClr val="F8F0F3"/>
          </a:solidFill>
          <a:ln w="12700">
            <a:solidFill>
              <a:srgbClr val="F8F0F3"/>
            </a:solidFill>
            <a:prstDash val="solid"/>
          </a:ln>
        </p:spPr>
      </p:sp>
      <p:sp>
        <p:nvSpPr>
          <p:cNvPr id="7" name="Shape 4"/>
          <p:cNvSpPr/>
          <p:nvPr/>
        </p:nvSpPr>
        <p:spPr>
          <a:xfrm>
            <a:off x="731520" y="1508760"/>
            <a:ext cx="411480" cy="411480"/>
          </a:xfrm>
          <a:prstGeom prst="ellipse">
            <a:avLst/>
          </a:prstGeom>
          <a:solidFill>
            <a:srgbClr val="8C1D40"/>
          </a:solidFill>
          <a:ln w="12700">
            <a:solidFill>
              <a:srgbClr val="8C1D40"/>
            </a:solidFill>
            <a:prstDash val="solid"/>
          </a:ln>
        </p:spPr>
      </p:sp>
      <p:pic>
        <p:nvPicPr>
          <p:cNvPr id="8" name="Image 0" descr="preencoded.png">    </p:cNvPr>
          <p:cNvPicPr>
            <a:picLocks noChangeAspect="1"/>
          </p:cNvPicPr>
          <p:nvPr/>
        </p:nvPicPr>
        <p:blipFill>
          <a:blip r:embed="rId1"/>
          <a:stretch>
            <a:fillRect/>
          </a:stretch>
        </p:blipFill>
        <p:spPr>
          <a:xfrm>
            <a:off x="842620" y="1619860"/>
            <a:ext cx="189281" cy="189281"/>
          </a:xfrm>
          <a:prstGeom prst="rect">
            <a:avLst/>
          </a:prstGeom>
        </p:spPr>
      </p:pic>
      <p:sp>
        <p:nvSpPr>
          <p:cNvPr id="9" name="Text 5"/>
          <p:cNvSpPr txBox="1"/>
          <p:nvPr/>
        </p:nvSpPr>
        <p:spPr>
          <a:xfrm>
            <a:off x="1325880" y="1508760"/>
            <a:ext cx="3017520" cy="411480"/>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Randomised, multicentre</a:t>
            </a:r>
            <a:endParaRPr lang="en-US" sz="1600" dirty="0"/>
          </a:p>
        </p:txBody>
      </p:sp>
      <p:sp>
        <p:nvSpPr>
          <p:cNvPr id="10" name="Text 6"/>
          <p:cNvSpPr txBox="1"/>
          <p:nvPr/>
        </p:nvSpPr>
        <p:spPr>
          <a:xfrm>
            <a:off x="1325880" y="1965960"/>
            <a:ext cx="3017520" cy="54864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11 centres, 1:1 allocation</a:t>
            </a:r>
            <a:endParaRPr lang="en-US" sz="1300" dirty="0"/>
          </a:p>
        </p:txBody>
      </p:sp>
      <p:sp>
        <p:nvSpPr>
          <p:cNvPr id="11" name="Shape 7"/>
          <p:cNvSpPr/>
          <p:nvPr/>
        </p:nvSpPr>
        <p:spPr>
          <a:xfrm>
            <a:off x="4663440" y="1234440"/>
            <a:ext cx="4023360" cy="1280160"/>
          </a:xfrm>
          <a:prstGeom prst="roundRect">
            <a:avLst>
              <a:gd name="adj" fmla="val 5714"/>
            </a:avLst>
          </a:prstGeom>
          <a:solidFill>
            <a:srgbClr val="F8F0F3"/>
          </a:solidFill>
          <a:ln w="12700">
            <a:solidFill>
              <a:srgbClr val="F8F0F3"/>
            </a:solidFill>
            <a:prstDash val="solid"/>
          </a:ln>
        </p:spPr>
      </p:sp>
      <p:sp>
        <p:nvSpPr>
          <p:cNvPr id="12" name="Shape 8"/>
          <p:cNvSpPr/>
          <p:nvPr/>
        </p:nvSpPr>
        <p:spPr>
          <a:xfrm>
            <a:off x="4937760" y="1508760"/>
            <a:ext cx="411480" cy="411480"/>
          </a:xfrm>
          <a:prstGeom prst="ellipse">
            <a:avLst/>
          </a:prstGeom>
          <a:solidFill>
            <a:srgbClr val="8C1D40"/>
          </a:solidFill>
          <a:ln w="12700">
            <a:solidFill>
              <a:srgbClr val="8C1D40"/>
            </a:solidFill>
            <a:prstDash val="solid"/>
          </a:ln>
        </p:spPr>
      </p:sp>
      <p:pic>
        <p:nvPicPr>
          <p:cNvPr id="13" name="Image 1" descr="preencoded.png">    </p:cNvPr>
          <p:cNvPicPr>
            <a:picLocks noChangeAspect="1"/>
          </p:cNvPicPr>
          <p:nvPr/>
        </p:nvPicPr>
        <p:blipFill>
          <a:blip r:embed="rId2"/>
          <a:stretch>
            <a:fillRect/>
          </a:stretch>
        </p:blipFill>
        <p:spPr>
          <a:xfrm>
            <a:off x="5048860" y="1619860"/>
            <a:ext cx="189281" cy="189281"/>
          </a:xfrm>
          <a:prstGeom prst="rect">
            <a:avLst/>
          </a:prstGeom>
        </p:spPr>
      </p:pic>
      <p:sp>
        <p:nvSpPr>
          <p:cNvPr id="14" name="Text 9"/>
          <p:cNvSpPr txBox="1"/>
          <p:nvPr/>
        </p:nvSpPr>
        <p:spPr>
          <a:xfrm>
            <a:off x="5532120" y="1508760"/>
            <a:ext cx="3017520" cy="411480"/>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Right population</a:t>
            </a:r>
            <a:endParaRPr lang="en-US" sz="1600" dirty="0"/>
          </a:p>
        </p:txBody>
      </p:sp>
      <p:sp>
        <p:nvSpPr>
          <p:cNvPr id="15" name="Text 10"/>
          <p:cNvSpPr txBox="1"/>
          <p:nvPr/>
        </p:nvSpPr>
        <p:spPr>
          <a:xfrm>
            <a:off x="5532120" y="1965960"/>
            <a:ext cx="3017520" cy="54864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Only patients with a large thrombus</a:t>
            </a:r>
            <a:endParaRPr lang="en-US" sz="1300" dirty="0"/>
          </a:p>
        </p:txBody>
      </p:sp>
      <p:sp>
        <p:nvSpPr>
          <p:cNvPr id="16" name="Shape 11"/>
          <p:cNvSpPr/>
          <p:nvPr/>
        </p:nvSpPr>
        <p:spPr>
          <a:xfrm>
            <a:off x="457200" y="2743200"/>
            <a:ext cx="4023360" cy="1280160"/>
          </a:xfrm>
          <a:prstGeom prst="roundRect">
            <a:avLst>
              <a:gd name="adj" fmla="val 5714"/>
            </a:avLst>
          </a:prstGeom>
          <a:solidFill>
            <a:srgbClr val="F8F0F3"/>
          </a:solidFill>
          <a:ln w="12700">
            <a:solidFill>
              <a:srgbClr val="F8F0F3"/>
            </a:solidFill>
            <a:prstDash val="solid"/>
          </a:ln>
        </p:spPr>
      </p:sp>
      <p:sp>
        <p:nvSpPr>
          <p:cNvPr id="17" name="Shape 12"/>
          <p:cNvSpPr/>
          <p:nvPr/>
        </p:nvSpPr>
        <p:spPr>
          <a:xfrm>
            <a:off x="731520" y="3017520"/>
            <a:ext cx="411480" cy="411480"/>
          </a:xfrm>
          <a:prstGeom prst="ellipse">
            <a:avLst/>
          </a:prstGeom>
          <a:solidFill>
            <a:srgbClr val="8C1D40"/>
          </a:solidFill>
          <a:ln w="12700">
            <a:solidFill>
              <a:srgbClr val="8C1D40"/>
            </a:solidFill>
            <a:prstDash val="solid"/>
          </a:ln>
        </p:spPr>
      </p:sp>
      <p:pic>
        <p:nvPicPr>
          <p:cNvPr id="18" name="Image 2" descr="preencoded.png">    </p:cNvPr>
          <p:cNvPicPr>
            <a:picLocks noChangeAspect="1"/>
          </p:cNvPicPr>
          <p:nvPr/>
        </p:nvPicPr>
        <p:blipFill>
          <a:blip r:embed="rId3"/>
          <a:stretch>
            <a:fillRect/>
          </a:stretch>
        </p:blipFill>
        <p:spPr>
          <a:xfrm>
            <a:off x="842620" y="3128620"/>
            <a:ext cx="189281" cy="189281"/>
          </a:xfrm>
          <a:prstGeom prst="rect">
            <a:avLst/>
          </a:prstGeom>
        </p:spPr>
      </p:pic>
      <p:sp>
        <p:nvSpPr>
          <p:cNvPr id="19" name="Text 13"/>
          <p:cNvSpPr txBox="1"/>
          <p:nvPr/>
        </p:nvSpPr>
        <p:spPr>
          <a:xfrm>
            <a:off x="1325880" y="3017520"/>
            <a:ext cx="3017520" cy="411480"/>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Consistent results</a:t>
            </a:r>
            <a:endParaRPr lang="en-US" sz="1600" dirty="0"/>
          </a:p>
        </p:txBody>
      </p:sp>
      <p:sp>
        <p:nvSpPr>
          <p:cNvPr id="20" name="Text 14"/>
          <p:cNvSpPr txBox="1"/>
          <p:nvPr/>
        </p:nvSpPr>
        <p:spPr>
          <a:xfrm>
            <a:off x="1325880" y="3474720"/>
            <a:ext cx="3017520" cy="54864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CK-MB and cardiac MRI agree</a:t>
            </a:r>
            <a:endParaRPr lang="en-US" sz="1300" dirty="0"/>
          </a:p>
        </p:txBody>
      </p:sp>
      <p:sp>
        <p:nvSpPr>
          <p:cNvPr id="21" name="Shape 15"/>
          <p:cNvSpPr/>
          <p:nvPr/>
        </p:nvSpPr>
        <p:spPr>
          <a:xfrm>
            <a:off x="4663440" y="2743200"/>
            <a:ext cx="4023360" cy="1280160"/>
          </a:xfrm>
          <a:prstGeom prst="roundRect">
            <a:avLst>
              <a:gd name="adj" fmla="val 5714"/>
            </a:avLst>
          </a:prstGeom>
          <a:solidFill>
            <a:srgbClr val="F8F0F3"/>
          </a:solidFill>
          <a:ln w="12700">
            <a:solidFill>
              <a:srgbClr val="F8F0F3"/>
            </a:solidFill>
            <a:prstDash val="solid"/>
          </a:ln>
        </p:spPr>
      </p:sp>
      <p:sp>
        <p:nvSpPr>
          <p:cNvPr id="22" name="Shape 16"/>
          <p:cNvSpPr/>
          <p:nvPr/>
        </p:nvSpPr>
        <p:spPr>
          <a:xfrm>
            <a:off x="4937760" y="3017520"/>
            <a:ext cx="411480" cy="411480"/>
          </a:xfrm>
          <a:prstGeom prst="ellipse">
            <a:avLst/>
          </a:prstGeom>
          <a:solidFill>
            <a:srgbClr val="8C1D40"/>
          </a:solidFill>
          <a:ln w="12700">
            <a:solidFill>
              <a:srgbClr val="8C1D40"/>
            </a:solidFill>
            <a:prstDash val="solid"/>
          </a:ln>
        </p:spPr>
      </p:sp>
      <p:pic>
        <p:nvPicPr>
          <p:cNvPr id="23" name="Image 3" descr="preencoded.png">    </p:cNvPr>
          <p:cNvPicPr>
            <a:picLocks noChangeAspect="1"/>
          </p:cNvPicPr>
          <p:nvPr/>
        </p:nvPicPr>
        <p:blipFill>
          <a:blip r:embed="rId4"/>
          <a:stretch>
            <a:fillRect/>
          </a:stretch>
        </p:blipFill>
        <p:spPr>
          <a:xfrm>
            <a:off x="5048860" y="3128620"/>
            <a:ext cx="189281" cy="189281"/>
          </a:xfrm>
          <a:prstGeom prst="rect">
            <a:avLst/>
          </a:prstGeom>
        </p:spPr>
      </p:pic>
      <p:sp>
        <p:nvSpPr>
          <p:cNvPr id="24" name="Text 17"/>
          <p:cNvSpPr txBox="1"/>
          <p:nvPr/>
        </p:nvSpPr>
        <p:spPr>
          <a:xfrm>
            <a:off x="5532120" y="3017520"/>
            <a:ext cx="3017520" cy="411480"/>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Safe early course</a:t>
            </a:r>
            <a:endParaRPr lang="en-US" sz="1600" dirty="0"/>
          </a:p>
        </p:txBody>
      </p:sp>
      <p:sp>
        <p:nvSpPr>
          <p:cNvPr id="25" name="Text 18"/>
          <p:cNvSpPr txBox="1"/>
          <p:nvPr/>
        </p:nvSpPr>
        <p:spPr>
          <a:xfrm>
            <a:off x="5532120" y="3474720"/>
            <a:ext cx="3017520" cy="54864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No stroke or death with enVast at 30 days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Limitations</a:t>
            </a:r>
            <a:endParaRPr lang="en-US" sz="2800" dirty="0"/>
          </a:p>
        </p:txBody>
      </p:sp>
      <p:sp>
        <p:nvSpPr>
          <p:cNvPr id="3" name="Text 1"/>
          <p:cNvSpPr txBox="1"/>
          <p:nvPr/>
        </p:nvSpPr>
        <p:spPr>
          <a:xfrm>
            <a:off x="457200" y="470916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NATURE Trial · Journal Club · Cardiac Centre, BVH Bahawalpur</a:t>
            </a:r>
            <a:endParaRPr lang="en-US" sz="900" dirty="0"/>
          </a:p>
        </p:txBody>
      </p:sp>
      <p:sp>
        <p:nvSpPr>
          <p:cNvPr id="4" name="Text 2"/>
          <p:cNvSpPr txBox="1"/>
          <p:nvPr/>
        </p:nvSpPr>
        <p:spPr>
          <a:xfrm>
            <a:off x="8229600" y="4709160"/>
            <a:ext cx="457200" cy="228600"/>
          </a:xfrm>
          <a:prstGeom prst="rect">
            <a:avLst/>
          </a:prstGeom>
          <a:noFill/>
          <a:ln/>
        </p:spPr>
        <p:txBody>
          <a:bodyPr wrap="square" lIns="0" tIns="0" rIns="0" bIns="0" rtlCol="0" anchor="ctr"/>
          <a:lstStyle/>
          <a:p>
            <a:pPr algn="r" indent="0" marL="0">
              <a:buNone/>
            </a:pPr>
            <a:r>
              <a:rPr lang="en-US" sz="900" b="1" dirty="0">
                <a:solidFill>
                  <a:srgbClr val="8C1D40"/>
                </a:solidFill>
                <a:latin typeface="Calibri" pitchFamily="34" charset="0"/>
                <a:ea typeface="Calibri" pitchFamily="34" charset="-122"/>
                <a:cs typeface="Calibri" pitchFamily="34" charset="-120"/>
              </a:rPr>
              <a:t>13</a:t>
            </a:r>
            <a:endParaRPr lang="en-US" sz="900" dirty="0"/>
          </a:p>
        </p:txBody>
      </p:sp>
      <p:sp>
        <p:nvSpPr>
          <p:cNvPr id="6" name="Shape 3"/>
          <p:cNvSpPr/>
          <p:nvPr/>
        </p:nvSpPr>
        <p:spPr>
          <a:xfrm>
            <a:off x="457200" y="1234440"/>
            <a:ext cx="4023360" cy="1280160"/>
          </a:xfrm>
          <a:prstGeom prst="roundRect">
            <a:avLst>
              <a:gd name="adj" fmla="val 5714"/>
            </a:avLst>
          </a:prstGeom>
          <a:solidFill>
            <a:srgbClr val="FFFFFF"/>
          </a:solidFill>
          <a:ln w="15875">
            <a:solidFill>
              <a:srgbClr val="E5E7EB"/>
            </a:solidFill>
            <a:prstDash val="solid"/>
          </a:ln>
        </p:spPr>
      </p:sp>
      <p:sp>
        <p:nvSpPr>
          <p:cNvPr id="7" name="Shape 4"/>
          <p:cNvSpPr/>
          <p:nvPr/>
        </p:nvSpPr>
        <p:spPr>
          <a:xfrm>
            <a:off x="731520" y="1508760"/>
            <a:ext cx="411480" cy="411480"/>
          </a:xfrm>
          <a:prstGeom prst="ellipse">
            <a:avLst/>
          </a:prstGeom>
          <a:solidFill>
            <a:srgbClr val="A3AAB6"/>
          </a:solidFill>
          <a:ln w="12700">
            <a:solidFill>
              <a:srgbClr val="A3AAB6"/>
            </a:solidFill>
            <a:prstDash val="solid"/>
          </a:ln>
        </p:spPr>
      </p:sp>
      <p:sp>
        <p:nvSpPr>
          <p:cNvPr id="8" name="Text 5"/>
          <p:cNvSpPr txBox="1"/>
          <p:nvPr/>
        </p:nvSpPr>
        <p:spPr>
          <a:xfrm>
            <a:off x="731520" y="150876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325880" y="1508760"/>
            <a:ext cx="3017520" cy="411480"/>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Small trial</a:t>
            </a:r>
            <a:endParaRPr lang="en-US" sz="1600" dirty="0"/>
          </a:p>
        </p:txBody>
      </p:sp>
      <p:sp>
        <p:nvSpPr>
          <p:cNvPr id="10" name="Text 7"/>
          <p:cNvSpPr txBox="1"/>
          <p:nvPr/>
        </p:nvSpPr>
        <p:spPr>
          <a:xfrm>
            <a:off x="1325880" y="1965960"/>
            <a:ext cx="3017520" cy="54864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Only 154 patients</a:t>
            </a:r>
            <a:endParaRPr lang="en-US" sz="1300" dirty="0"/>
          </a:p>
        </p:txBody>
      </p:sp>
      <p:sp>
        <p:nvSpPr>
          <p:cNvPr id="11" name="Shape 8"/>
          <p:cNvSpPr/>
          <p:nvPr/>
        </p:nvSpPr>
        <p:spPr>
          <a:xfrm>
            <a:off x="4663440" y="1234440"/>
            <a:ext cx="4023360" cy="1280160"/>
          </a:xfrm>
          <a:prstGeom prst="roundRect">
            <a:avLst>
              <a:gd name="adj" fmla="val 5714"/>
            </a:avLst>
          </a:prstGeom>
          <a:solidFill>
            <a:srgbClr val="FFFFFF"/>
          </a:solidFill>
          <a:ln w="15875">
            <a:solidFill>
              <a:srgbClr val="E5E7EB"/>
            </a:solidFill>
            <a:prstDash val="solid"/>
          </a:ln>
        </p:spPr>
      </p:sp>
      <p:sp>
        <p:nvSpPr>
          <p:cNvPr id="12" name="Shape 9"/>
          <p:cNvSpPr/>
          <p:nvPr/>
        </p:nvSpPr>
        <p:spPr>
          <a:xfrm>
            <a:off x="4937760" y="1508760"/>
            <a:ext cx="411480" cy="411480"/>
          </a:xfrm>
          <a:prstGeom prst="ellipse">
            <a:avLst/>
          </a:prstGeom>
          <a:solidFill>
            <a:srgbClr val="A3AAB6"/>
          </a:solidFill>
          <a:ln w="12700">
            <a:solidFill>
              <a:srgbClr val="A3AAB6"/>
            </a:solidFill>
            <a:prstDash val="solid"/>
          </a:ln>
        </p:spPr>
      </p:sp>
      <p:sp>
        <p:nvSpPr>
          <p:cNvPr id="13" name="Text 10"/>
          <p:cNvSpPr txBox="1"/>
          <p:nvPr/>
        </p:nvSpPr>
        <p:spPr>
          <a:xfrm>
            <a:off x="4937760" y="150876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5532120" y="1508760"/>
            <a:ext cx="3017520" cy="411480"/>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Surrogate endpoint</a:t>
            </a:r>
            <a:endParaRPr lang="en-US" sz="1600" dirty="0"/>
          </a:p>
        </p:txBody>
      </p:sp>
      <p:sp>
        <p:nvSpPr>
          <p:cNvPr id="15" name="Text 12"/>
          <p:cNvSpPr txBox="1"/>
          <p:nvPr/>
        </p:nvSpPr>
        <p:spPr>
          <a:xfrm>
            <a:off x="5532120" y="1965960"/>
            <a:ext cx="3017520" cy="54864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Infarct size, not death or heart failure</a:t>
            </a:r>
            <a:endParaRPr lang="en-US" sz="1300" dirty="0"/>
          </a:p>
        </p:txBody>
      </p:sp>
      <p:sp>
        <p:nvSpPr>
          <p:cNvPr id="16" name="Shape 13"/>
          <p:cNvSpPr/>
          <p:nvPr/>
        </p:nvSpPr>
        <p:spPr>
          <a:xfrm>
            <a:off x="457200" y="2743200"/>
            <a:ext cx="4023360" cy="1280160"/>
          </a:xfrm>
          <a:prstGeom prst="roundRect">
            <a:avLst>
              <a:gd name="adj" fmla="val 5714"/>
            </a:avLst>
          </a:prstGeom>
          <a:solidFill>
            <a:srgbClr val="FFFFFF"/>
          </a:solidFill>
          <a:ln w="15875">
            <a:solidFill>
              <a:srgbClr val="E5E7EB"/>
            </a:solidFill>
            <a:prstDash val="solid"/>
          </a:ln>
        </p:spPr>
      </p:sp>
      <p:sp>
        <p:nvSpPr>
          <p:cNvPr id="17" name="Shape 14"/>
          <p:cNvSpPr/>
          <p:nvPr/>
        </p:nvSpPr>
        <p:spPr>
          <a:xfrm>
            <a:off x="731520" y="3017520"/>
            <a:ext cx="411480" cy="411480"/>
          </a:xfrm>
          <a:prstGeom prst="ellipse">
            <a:avLst/>
          </a:prstGeom>
          <a:solidFill>
            <a:srgbClr val="A3AAB6"/>
          </a:solidFill>
          <a:ln w="12700">
            <a:solidFill>
              <a:srgbClr val="A3AAB6"/>
            </a:solidFill>
            <a:prstDash val="solid"/>
          </a:ln>
        </p:spPr>
      </p:sp>
      <p:sp>
        <p:nvSpPr>
          <p:cNvPr id="18" name="Text 15"/>
          <p:cNvSpPr txBox="1"/>
          <p:nvPr/>
        </p:nvSpPr>
        <p:spPr>
          <a:xfrm>
            <a:off x="731520" y="30175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txBox="1"/>
          <p:nvPr/>
        </p:nvSpPr>
        <p:spPr>
          <a:xfrm>
            <a:off x="1325880" y="3017520"/>
            <a:ext cx="3017520" cy="411480"/>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Operators not blinded</a:t>
            </a:r>
            <a:endParaRPr lang="en-US" sz="1600" dirty="0"/>
          </a:p>
        </p:txBody>
      </p:sp>
      <p:sp>
        <p:nvSpPr>
          <p:cNvPr id="20" name="Text 17"/>
          <p:cNvSpPr txBox="1"/>
          <p:nvPr/>
        </p:nvSpPr>
        <p:spPr>
          <a:xfrm>
            <a:off x="1325880" y="3474720"/>
            <a:ext cx="3017520" cy="54864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Device use cannot be hidden</a:t>
            </a:r>
            <a:endParaRPr lang="en-US" sz="1300" dirty="0"/>
          </a:p>
        </p:txBody>
      </p:sp>
      <p:sp>
        <p:nvSpPr>
          <p:cNvPr id="21" name="Shape 18"/>
          <p:cNvSpPr/>
          <p:nvPr/>
        </p:nvSpPr>
        <p:spPr>
          <a:xfrm>
            <a:off x="4663440" y="2743200"/>
            <a:ext cx="4023360" cy="1280160"/>
          </a:xfrm>
          <a:prstGeom prst="roundRect">
            <a:avLst>
              <a:gd name="adj" fmla="val 5714"/>
            </a:avLst>
          </a:prstGeom>
          <a:solidFill>
            <a:srgbClr val="FFFFFF"/>
          </a:solidFill>
          <a:ln w="15875">
            <a:solidFill>
              <a:srgbClr val="E5E7EB"/>
            </a:solidFill>
            <a:prstDash val="solid"/>
          </a:ln>
        </p:spPr>
      </p:sp>
      <p:sp>
        <p:nvSpPr>
          <p:cNvPr id="22" name="Shape 19"/>
          <p:cNvSpPr/>
          <p:nvPr/>
        </p:nvSpPr>
        <p:spPr>
          <a:xfrm>
            <a:off x="4937760" y="3017520"/>
            <a:ext cx="411480" cy="411480"/>
          </a:xfrm>
          <a:prstGeom prst="ellipse">
            <a:avLst/>
          </a:prstGeom>
          <a:solidFill>
            <a:srgbClr val="A3AAB6"/>
          </a:solidFill>
          <a:ln w="12700">
            <a:solidFill>
              <a:srgbClr val="A3AAB6"/>
            </a:solidFill>
            <a:prstDash val="solid"/>
          </a:ln>
        </p:spPr>
      </p:sp>
      <p:sp>
        <p:nvSpPr>
          <p:cNvPr id="23" name="Text 20"/>
          <p:cNvSpPr txBox="1"/>
          <p:nvPr/>
        </p:nvSpPr>
        <p:spPr>
          <a:xfrm>
            <a:off x="4937760" y="30175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1"/>
          <p:cNvSpPr txBox="1"/>
          <p:nvPr/>
        </p:nvSpPr>
        <p:spPr>
          <a:xfrm>
            <a:off x="5532120" y="3017520"/>
            <a:ext cx="3017520" cy="411480"/>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MRI only a trend</a:t>
            </a:r>
            <a:endParaRPr lang="en-US" sz="1600" dirty="0"/>
          </a:p>
        </p:txBody>
      </p:sp>
      <p:sp>
        <p:nvSpPr>
          <p:cNvPr id="25" name="Text 22"/>
          <p:cNvSpPr txBox="1"/>
          <p:nvPr/>
        </p:nvSpPr>
        <p:spPr>
          <a:xfrm>
            <a:off x="5532120" y="3474720"/>
            <a:ext cx="3017520" cy="54864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Industry-funded; needs independent confirmation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Conclusion</a:t>
            </a:r>
            <a:endParaRPr lang="en-US" sz="2800" dirty="0"/>
          </a:p>
        </p:txBody>
      </p:sp>
      <p:sp>
        <p:nvSpPr>
          <p:cNvPr id="3" name="Text 1"/>
          <p:cNvSpPr txBox="1"/>
          <p:nvPr/>
        </p:nvSpPr>
        <p:spPr>
          <a:xfrm>
            <a:off x="457200" y="470916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NATURE Trial · Journal Club · Cardiac Centre, BVH Bahawalpur</a:t>
            </a:r>
            <a:endParaRPr lang="en-US" sz="900" dirty="0"/>
          </a:p>
        </p:txBody>
      </p:sp>
      <p:sp>
        <p:nvSpPr>
          <p:cNvPr id="4" name="Text 2"/>
          <p:cNvSpPr txBox="1"/>
          <p:nvPr/>
        </p:nvSpPr>
        <p:spPr>
          <a:xfrm>
            <a:off x="8229600" y="4709160"/>
            <a:ext cx="457200" cy="228600"/>
          </a:xfrm>
          <a:prstGeom prst="rect">
            <a:avLst/>
          </a:prstGeom>
          <a:noFill/>
          <a:ln/>
        </p:spPr>
        <p:txBody>
          <a:bodyPr wrap="square" lIns="0" tIns="0" rIns="0" bIns="0" rtlCol="0" anchor="ctr"/>
          <a:lstStyle/>
          <a:p>
            <a:pPr algn="r" indent="0" marL="0">
              <a:buNone/>
            </a:pPr>
            <a:r>
              <a:rPr lang="en-US" sz="900" b="1" dirty="0">
                <a:solidFill>
                  <a:srgbClr val="8C1D40"/>
                </a:solidFill>
                <a:latin typeface="Calibri" pitchFamily="34" charset="0"/>
                <a:ea typeface="Calibri" pitchFamily="34" charset="-122"/>
                <a:cs typeface="Calibri" pitchFamily="34" charset="-120"/>
              </a:rPr>
              <a:t>14</a:t>
            </a:r>
            <a:endParaRPr lang="en-US" sz="900" dirty="0"/>
          </a:p>
        </p:txBody>
      </p:sp>
      <p:sp>
        <p:nvSpPr>
          <p:cNvPr id="6" name="Shape 3"/>
          <p:cNvSpPr/>
          <p:nvPr/>
        </p:nvSpPr>
        <p:spPr>
          <a:xfrm>
            <a:off x="457200" y="1097280"/>
            <a:ext cx="8229600" cy="1371600"/>
          </a:xfrm>
          <a:prstGeom prst="roundRect">
            <a:avLst>
              <a:gd name="adj" fmla="val 5333"/>
            </a:avLst>
          </a:prstGeom>
          <a:solidFill>
            <a:srgbClr val="8C1D40"/>
          </a:solidFill>
          <a:ln w="12700">
            <a:solidFill>
              <a:srgbClr val="8C1D40"/>
            </a:solidFill>
            <a:prstDash val="solid"/>
          </a:ln>
        </p:spPr>
      </p:sp>
      <p:sp>
        <p:nvSpPr>
          <p:cNvPr id="7" name="Text 4"/>
          <p:cNvSpPr txBox="1"/>
          <p:nvPr/>
        </p:nvSpPr>
        <p:spPr>
          <a:xfrm>
            <a:off x="731520" y="1097280"/>
            <a:ext cx="7680960" cy="1371600"/>
          </a:xfrm>
          <a:prstGeom prst="rect">
            <a:avLst/>
          </a:prstGeom>
          <a:noFill/>
          <a:ln/>
        </p:spPr>
        <p:txBody>
          <a:bodyPr wrap="square" lIns="0" tIns="0" rIns="0" bIns="0" rtlCol="0" anchor="ctr"/>
          <a:lstStyle/>
          <a:p>
            <a:pPr indent="0" marL="0">
              <a:buNone/>
            </a:pPr>
            <a:r>
              <a:rPr lang="en-US" sz="1900" i="1" dirty="0">
                <a:solidFill>
                  <a:srgbClr val="FFFFFF"/>
                </a:solidFill>
                <a:latin typeface="Cambria" pitchFamily="34" charset="0"/>
                <a:ea typeface="Cambria" pitchFamily="34" charset="-122"/>
                <a:cs typeface="Cambria" pitchFamily="34" charset="-120"/>
              </a:rPr>
              <a:t>In STEMI with a large thrombus, enVast thrombectomy before PCI was superior to standard PCI in reducing infarct size, with no early safety concern.</a:t>
            </a:r>
            <a:endParaRPr lang="en-US" sz="1900" dirty="0"/>
          </a:p>
        </p:txBody>
      </p:sp>
      <p:sp>
        <p:nvSpPr>
          <p:cNvPr id="8" name="Text 5"/>
          <p:cNvSpPr txBox="1"/>
          <p:nvPr/>
        </p:nvSpPr>
        <p:spPr>
          <a:xfrm>
            <a:off x="457200" y="2743200"/>
            <a:ext cx="4023360" cy="365760"/>
          </a:xfrm>
          <a:prstGeom prst="rect">
            <a:avLst/>
          </a:prstGeom>
          <a:noFill/>
          <a:ln/>
        </p:spPr>
        <p:txBody>
          <a:bodyPr wrap="square" lIns="0" tIns="0" rIns="0" bIns="0" rtlCol="0" anchor="ctr"/>
          <a:lstStyle/>
          <a:p>
            <a:pPr indent="0" marL="0">
              <a:buNone/>
            </a:pPr>
            <a:r>
              <a:rPr lang="en-US" sz="1700" b="1" dirty="0">
                <a:solidFill>
                  <a:srgbClr val="8C1D40"/>
                </a:solidFill>
                <a:latin typeface="Cambria" pitchFamily="34" charset="0"/>
                <a:ea typeface="Cambria" pitchFamily="34" charset="-122"/>
                <a:cs typeface="Cambria" pitchFamily="34" charset="-120"/>
              </a:rPr>
              <a:t>Today</a:t>
            </a:r>
            <a:endParaRPr lang="en-US" sz="1700" dirty="0"/>
          </a:p>
        </p:txBody>
      </p:sp>
      <p:sp>
        <p:nvSpPr>
          <p:cNvPr id="9" name="Text 6"/>
          <p:cNvSpPr txBox="1"/>
          <p:nvPr/>
        </p:nvSpPr>
        <p:spPr>
          <a:xfrm>
            <a:off x="457200" y="3154680"/>
            <a:ext cx="3931920" cy="10972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Promising for selected large-thrombus cases, but not yet routine. Guidelines are unchanged.</a:t>
            </a:r>
            <a:endParaRPr lang="en-US" sz="1400" dirty="0"/>
          </a:p>
        </p:txBody>
      </p:sp>
      <p:sp>
        <p:nvSpPr>
          <p:cNvPr id="10" name="Text 7"/>
          <p:cNvSpPr txBox="1"/>
          <p:nvPr/>
        </p:nvSpPr>
        <p:spPr>
          <a:xfrm>
            <a:off x="4663440" y="2743200"/>
            <a:ext cx="4023360" cy="365760"/>
          </a:xfrm>
          <a:prstGeom prst="rect">
            <a:avLst/>
          </a:prstGeom>
          <a:noFill/>
          <a:ln/>
        </p:spPr>
        <p:txBody>
          <a:bodyPr wrap="square" lIns="0" tIns="0" rIns="0" bIns="0" rtlCol="0" anchor="ctr"/>
          <a:lstStyle/>
          <a:p>
            <a:pPr indent="0" marL="0">
              <a:buNone/>
            </a:pPr>
            <a:r>
              <a:rPr lang="en-US" sz="1700" b="1" dirty="0">
                <a:solidFill>
                  <a:srgbClr val="8C1D40"/>
                </a:solidFill>
                <a:latin typeface="Cambria" pitchFamily="34" charset="0"/>
                <a:ea typeface="Cambria" pitchFamily="34" charset="-122"/>
                <a:cs typeface="Cambria" pitchFamily="34" charset="-120"/>
              </a:rPr>
              <a:t>Next</a:t>
            </a:r>
            <a:endParaRPr lang="en-US" sz="1700" dirty="0"/>
          </a:p>
        </p:txBody>
      </p:sp>
      <p:sp>
        <p:nvSpPr>
          <p:cNvPr id="11" name="Text 8"/>
          <p:cNvSpPr txBox="1"/>
          <p:nvPr/>
        </p:nvSpPr>
        <p:spPr>
          <a:xfrm>
            <a:off x="4663440" y="3154680"/>
            <a:ext cx="3931920" cy="10972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 larger trial with hard outcomes: death, heart failure and stroke.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Take-home for our cath lab</a:t>
            </a:r>
            <a:endParaRPr lang="en-US" sz="2800" dirty="0"/>
          </a:p>
        </p:txBody>
      </p:sp>
      <p:sp>
        <p:nvSpPr>
          <p:cNvPr id="3" name="Text 1"/>
          <p:cNvSpPr txBox="1"/>
          <p:nvPr/>
        </p:nvSpPr>
        <p:spPr>
          <a:xfrm>
            <a:off x="457200" y="470916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NATURE Trial · Journal Club · Cardiac Centre, BVH Bahawalpur</a:t>
            </a:r>
            <a:endParaRPr lang="en-US" sz="900" dirty="0"/>
          </a:p>
        </p:txBody>
      </p:sp>
      <p:sp>
        <p:nvSpPr>
          <p:cNvPr id="4" name="Text 2"/>
          <p:cNvSpPr txBox="1"/>
          <p:nvPr/>
        </p:nvSpPr>
        <p:spPr>
          <a:xfrm>
            <a:off x="8229600" y="4709160"/>
            <a:ext cx="457200" cy="228600"/>
          </a:xfrm>
          <a:prstGeom prst="rect">
            <a:avLst/>
          </a:prstGeom>
          <a:noFill/>
          <a:ln/>
        </p:spPr>
        <p:txBody>
          <a:bodyPr wrap="square" lIns="0" tIns="0" rIns="0" bIns="0" rtlCol="0" anchor="ctr"/>
          <a:lstStyle/>
          <a:p>
            <a:pPr algn="r" indent="0" marL="0">
              <a:buNone/>
            </a:pPr>
            <a:r>
              <a:rPr lang="en-US" sz="900" b="1" dirty="0">
                <a:solidFill>
                  <a:srgbClr val="8C1D40"/>
                </a:solidFill>
                <a:latin typeface="Calibri" pitchFamily="34" charset="0"/>
                <a:ea typeface="Calibri" pitchFamily="34" charset="-122"/>
                <a:cs typeface="Calibri" pitchFamily="34" charset="-120"/>
              </a:rPr>
              <a:t>15</a:t>
            </a:r>
            <a:endParaRPr lang="en-US" sz="900" dirty="0"/>
          </a:p>
        </p:txBody>
      </p:sp>
      <p:sp>
        <p:nvSpPr>
          <p:cNvPr id="6" name="Text 3"/>
          <p:cNvSpPr txBox="1"/>
          <p:nvPr/>
        </p:nvSpPr>
        <p:spPr>
          <a:xfrm>
            <a:off x="457200" y="1234440"/>
            <a:ext cx="914400" cy="731520"/>
          </a:xfrm>
          <a:prstGeom prst="rect">
            <a:avLst/>
          </a:prstGeom>
          <a:noFill/>
          <a:ln/>
        </p:spPr>
        <p:txBody>
          <a:bodyPr wrap="square" lIns="0" tIns="0" rIns="0" bIns="0" rtlCol="0" anchor="ctr"/>
          <a:lstStyle/>
          <a:p>
            <a:pPr indent="0" marL="0">
              <a:buNone/>
            </a:pPr>
            <a:r>
              <a:rPr lang="en-US" sz="3600" b="1" dirty="0">
                <a:solidFill>
                  <a:srgbClr val="8C1D40"/>
                </a:solidFill>
                <a:latin typeface="Cambria" pitchFamily="34" charset="0"/>
                <a:ea typeface="Cambria" pitchFamily="34" charset="-122"/>
                <a:cs typeface="Cambria" pitchFamily="34" charset="-120"/>
              </a:rPr>
              <a:t>01</a:t>
            </a:r>
            <a:endParaRPr lang="en-US" sz="3600" dirty="0"/>
          </a:p>
        </p:txBody>
      </p:sp>
      <p:sp>
        <p:nvSpPr>
          <p:cNvPr id="7" name="Text 4"/>
          <p:cNvSpPr txBox="1"/>
          <p:nvPr/>
        </p:nvSpPr>
        <p:spPr>
          <a:xfrm>
            <a:off x="1463040" y="1234440"/>
            <a:ext cx="7223760" cy="73152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Grade the thrombus (TIMI thrombus grade) in every STEMI</a:t>
            </a:r>
            <a:endParaRPr lang="en-US" sz="1700" dirty="0"/>
          </a:p>
        </p:txBody>
      </p:sp>
      <p:sp>
        <p:nvSpPr>
          <p:cNvPr id="8" name="Text 5"/>
          <p:cNvSpPr txBox="1"/>
          <p:nvPr/>
        </p:nvSpPr>
        <p:spPr>
          <a:xfrm>
            <a:off x="457200" y="2240280"/>
            <a:ext cx="914400" cy="731520"/>
          </a:xfrm>
          <a:prstGeom prst="rect">
            <a:avLst/>
          </a:prstGeom>
          <a:noFill/>
          <a:ln/>
        </p:spPr>
        <p:txBody>
          <a:bodyPr wrap="square" lIns="0" tIns="0" rIns="0" bIns="0" rtlCol="0" anchor="ctr"/>
          <a:lstStyle/>
          <a:p>
            <a:pPr indent="0" marL="0">
              <a:buNone/>
            </a:pPr>
            <a:r>
              <a:rPr lang="en-US" sz="3600" b="1" dirty="0">
                <a:solidFill>
                  <a:srgbClr val="8C1D40"/>
                </a:solidFill>
                <a:latin typeface="Cambria" pitchFamily="34" charset="0"/>
                <a:ea typeface="Cambria" pitchFamily="34" charset="-122"/>
                <a:cs typeface="Cambria" pitchFamily="34" charset="-120"/>
              </a:rPr>
              <a:t>02</a:t>
            </a:r>
            <a:endParaRPr lang="en-US" sz="3600" dirty="0"/>
          </a:p>
        </p:txBody>
      </p:sp>
      <p:sp>
        <p:nvSpPr>
          <p:cNvPr id="9" name="Text 6"/>
          <p:cNvSpPr txBox="1"/>
          <p:nvPr/>
        </p:nvSpPr>
        <p:spPr>
          <a:xfrm>
            <a:off x="1463040" y="2240280"/>
            <a:ext cx="7223760" cy="73152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Routine manual aspiration is still not recommended</a:t>
            </a:r>
            <a:endParaRPr lang="en-US" sz="1700" dirty="0"/>
          </a:p>
        </p:txBody>
      </p:sp>
      <p:sp>
        <p:nvSpPr>
          <p:cNvPr id="10" name="Text 7"/>
          <p:cNvSpPr txBox="1"/>
          <p:nvPr/>
        </p:nvSpPr>
        <p:spPr>
          <a:xfrm>
            <a:off x="457200" y="3246120"/>
            <a:ext cx="914400" cy="731520"/>
          </a:xfrm>
          <a:prstGeom prst="rect">
            <a:avLst/>
          </a:prstGeom>
          <a:noFill/>
          <a:ln/>
        </p:spPr>
        <p:txBody>
          <a:bodyPr wrap="square" lIns="0" tIns="0" rIns="0" bIns="0" rtlCol="0" anchor="ctr"/>
          <a:lstStyle/>
          <a:p>
            <a:pPr indent="0" marL="0">
              <a:buNone/>
            </a:pPr>
            <a:r>
              <a:rPr lang="en-US" sz="3600" b="1" dirty="0">
                <a:solidFill>
                  <a:srgbClr val="8C1D40"/>
                </a:solidFill>
                <a:latin typeface="Cambria" pitchFamily="34" charset="0"/>
                <a:ea typeface="Cambria" pitchFamily="34" charset="-122"/>
                <a:cs typeface="Cambria" pitchFamily="34" charset="-120"/>
              </a:rPr>
              <a:t>03</a:t>
            </a:r>
            <a:endParaRPr lang="en-US" sz="3600" dirty="0"/>
          </a:p>
        </p:txBody>
      </p:sp>
      <p:sp>
        <p:nvSpPr>
          <p:cNvPr id="11" name="Text 8"/>
          <p:cNvSpPr txBox="1"/>
          <p:nvPr/>
        </p:nvSpPr>
        <p:spPr>
          <a:xfrm>
            <a:off x="1463040" y="3246120"/>
            <a:ext cx="7223760" cy="731520"/>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Stent-retriever thrombectomy is promising for large thrombus, but awaits outcome data</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References</a:t>
            </a:r>
            <a:endParaRPr lang="en-US" sz="2800" dirty="0"/>
          </a:p>
        </p:txBody>
      </p:sp>
      <p:sp>
        <p:nvSpPr>
          <p:cNvPr id="3" name="Text 1"/>
          <p:cNvSpPr txBox="1"/>
          <p:nvPr/>
        </p:nvSpPr>
        <p:spPr>
          <a:xfrm>
            <a:off x="457200" y="470916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NATURE Trial · Journal Club · Cardiac Centre, BVH Bahawalpur</a:t>
            </a:r>
            <a:endParaRPr lang="en-US" sz="900" dirty="0"/>
          </a:p>
        </p:txBody>
      </p:sp>
      <p:sp>
        <p:nvSpPr>
          <p:cNvPr id="4" name="Text 2"/>
          <p:cNvSpPr txBox="1"/>
          <p:nvPr/>
        </p:nvSpPr>
        <p:spPr>
          <a:xfrm>
            <a:off x="8229600" y="4709160"/>
            <a:ext cx="457200" cy="228600"/>
          </a:xfrm>
          <a:prstGeom prst="rect">
            <a:avLst/>
          </a:prstGeom>
          <a:noFill/>
          <a:ln/>
        </p:spPr>
        <p:txBody>
          <a:bodyPr wrap="square" lIns="0" tIns="0" rIns="0" bIns="0" rtlCol="0" anchor="ctr"/>
          <a:lstStyle/>
          <a:p>
            <a:pPr algn="r" indent="0" marL="0">
              <a:buNone/>
            </a:pPr>
            <a:r>
              <a:rPr lang="en-US" sz="900" b="1" dirty="0">
                <a:solidFill>
                  <a:srgbClr val="8C1D40"/>
                </a:solidFill>
                <a:latin typeface="Calibri" pitchFamily="34" charset="0"/>
                <a:ea typeface="Calibri" pitchFamily="34" charset="-122"/>
                <a:cs typeface="Calibri" pitchFamily="34" charset="-120"/>
              </a:rPr>
              <a:t>16</a:t>
            </a:r>
            <a:endParaRPr lang="en-US" sz="900" dirty="0"/>
          </a:p>
        </p:txBody>
      </p:sp>
      <p:sp>
        <p:nvSpPr>
          <p:cNvPr id="6" name="Text 3"/>
          <p:cNvSpPr txBox="1"/>
          <p:nvPr/>
        </p:nvSpPr>
        <p:spPr>
          <a:xfrm>
            <a:off x="457200" y="1097280"/>
            <a:ext cx="8229600" cy="33832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Valgimigli M. NATURE trial. Late-Breaking Clinical Trial, ESC Congress 2026, Munich.</a:t>
            </a:r>
            <a:endParaRPr lang="en-US" sz="1300" dirty="0"/>
          </a:p>
          <a:p>
            <a:pPr marL="342900" indent="-342900">
              <a:spcAft>
                <a:spcPts val="8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Landi A, et al. Mechanical thrombectomy in STEMI with large thrombus burden: design and rationale of the NATURE trial. Cardiovasc Revasc Med. 2026.</a:t>
            </a:r>
            <a:endParaRPr lang="en-US" sz="1300" dirty="0"/>
          </a:p>
          <a:p>
            <a:pPr marL="342900" indent="-342900">
              <a:spcAft>
                <a:spcPts val="8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ClinicalTrials.gov NCT04969471: NATURE (enVast as an adjunct to PPCI in STEMI).</a:t>
            </a:r>
            <a:endParaRPr lang="en-US" sz="1300" dirty="0"/>
          </a:p>
          <a:p>
            <a:pPr marL="342900" indent="-342900">
              <a:spcAft>
                <a:spcPts val="8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Fröbert O, et al. Thrombus aspiration during STEMI (TASTE). N Engl J Med. 2013.</a:t>
            </a:r>
            <a:endParaRPr lang="en-US" sz="1300" dirty="0"/>
          </a:p>
          <a:p>
            <a:pPr marL="342900" indent="-342900">
              <a:spcAft>
                <a:spcPts val="8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Jolly SS, et al. Primary PCI with or without routine manual thrombectomy (TOTAL). N Engl J Med. 2015.</a:t>
            </a:r>
            <a:endParaRPr lang="en-US" sz="1300" dirty="0"/>
          </a:p>
          <a:p>
            <a:pPr marL="342900" indent="-342900">
              <a:spcAft>
                <a:spcPts val="8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Byrne RA, et al. 2023 ESC Guidelines for the management of acute coronary syndromes. Eur Heart J. 2023.</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8C1D40"/>
        </a:solidFill>
      </p:bgPr>
    </p:bg>
    <p:spTree>
      <p:nvGrpSpPr>
        <p:cNvPr id="1" name=""/>
        <p:cNvGrpSpPr/>
        <p:nvPr/>
      </p:nvGrpSpPr>
      <p:grpSpPr>
        <a:xfrm>
          <a:off x="0" y="0"/>
          <a:ext cx="0" cy="0"/>
          <a:chOff x="0" y="0"/>
          <a:chExt cx="0" cy="0"/>
        </a:xfrm>
      </p:grpSpPr>
      <p:sp>
        <p:nvSpPr>
          <p:cNvPr id="2" name="Text 0"/>
          <p:cNvSpPr txBox="1"/>
          <p:nvPr/>
        </p:nvSpPr>
        <p:spPr>
          <a:xfrm>
            <a:off x="457200" y="1417320"/>
            <a:ext cx="8229600" cy="100584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3" name="Text 1"/>
          <p:cNvSpPr txBox="1"/>
          <p:nvPr/>
        </p:nvSpPr>
        <p:spPr>
          <a:xfrm>
            <a:off x="457200" y="2468880"/>
            <a:ext cx="8229600" cy="457200"/>
          </a:xfrm>
          <a:prstGeom prst="rect">
            <a:avLst/>
          </a:prstGeom>
          <a:noFill/>
          <a:ln/>
        </p:spPr>
        <p:txBody>
          <a:bodyPr wrap="square" lIns="0" tIns="0" rIns="0" bIns="0" rtlCol="0" anchor="ctr"/>
          <a:lstStyle/>
          <a:p>
            <a:pPr algn="ctr" indent="0" marL="0">
              <a:buNone/>
            </a:pPr>
            <a:r>
              <a:rPr lang="en-US" sz="2000" dirty="0">
                <a:solidFill>
                  <a:srgbClr val="F3C9D5"/>
                </a:solidFill>
                <a:latin typeface="Calibri" pitchFamily="34" charset="0"/>
                <a:ea typeface="Calibri" pitchFamily="34" charset="-122"/>
                <a:cs typeface="Calibri" pitchFamily="34" charset="-120"/>
              </a:rPr>
              <a:t>Questions and discussion</a:t>
            </a:r>
            <a:endParaRPr lang="en-US" sz="2000" dirty="0"/>
          </a:p>
        </p:txBody>
      </p:sp>
      <p:sp>
        <p:nvSpPr>
          <p:cNvPr id="4" name="Text 2"/>
          <p:cNvSpPr txBox="1"/>
          <p:nvPr/>
        </p:nvSpPr>
        <p:spPr>
          <a:xfrm>
            <a:off x="457200" y="4023360"/>
            <a:ext cx="822960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Dr M. Waqas Saleem  ·  PGR Cardiology  ·  Cardiac Centre, BVH Bahawalpur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NATURE Trial — Journal Club</dc:title>
  <dc:subject>PptxGenJS Presentation</dc:subject>
  <dc:creator>Dr M. Waqas Saleem</dc:creator>
  <cp:lastModifiedBy>Dr M. Waqas Saleem</cp:lastModifiedBy>
  <cp:revision>1</cp:revision>
  <dcterms:created xsi:type="dcterms:W3CDTF">2026-09-30T17:50:23Z</dcterms:created>
  <dcterms:modified xsi:type="dcterms:W3CDTF">2026-09-30T17:50:23Z</dcterms:modified>
</cp:coreProperties>
</file>