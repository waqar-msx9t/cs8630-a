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9CFDA"/>
                </a:solidFill>
                <a:latin typeface="Calibri"/>
              </a:defRPr>
            </a:pPr>
            <a:r>
              <a:rPr sz="1100" b="0" i="0" u="none" strike="noStrike">
                <a:solidFill>
                  <a:srgbClr val="C9CFDA"/>
                </a:solidFill>
                <a:latin typeface="Calibri"/>
              </a:rPr>
              <a:t>Infarct size, indexed to control = 100</a:t>
            </a:r>
          </a:p>
        </c:rich>
      </c:tx>
      <c:layout/>
      <c:overlay val="0"/>
    </c:title>
    <c:autoTitleDeleted val="0"/>
    <c:plotArea>
      <c:layout/>
      <c:barChart>
        <c:barDir val="col"/>
        <c:grouping val="clustered"/>
        <c:varyColors val="0"/>
        <c:ser>
          <c:idx val="0"/>
          <c:order val="0"/>
          <c:tx>
            <c:strRef>
              <c:f>Sheet1!$B$1</c:f>
              <c:strCache>
                <c:ptCount val="1"/>
                <c:pt idx="0">
                  <c:v>Infarct size index</c:v>
                </c:pt>
              </c:strCache>
            </c:strRef>
          </c:tx>
          <c:spPr>
            <a:solidFill>
              <a:srgbClr val="8A93A6"/>
            </a:solidFill>
            <a:effectLst/>
          </c:spPr>
          <c:invertIfNegative val="0"/>
          <c:dLbls>
            <c:numFmt formatCode="#,##0" sourceLinked="0"/>
            <c:txPr>
              <a:bodyPr/>
              <a:lstStyle/>
              <a:p>
                <a:pPr>
                  <a:defRPr b="1" i="0" strike="noStrike" sz="14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93A6"/>
              </a:solidFill>
              <a:effectLst/>
            </c:spPr>
          </c:dPt>
          <c:dPt>
            <c:idx val="1"/>
            <c:invertIfNegative val="0"/>
            <c:bubble3D val="0"/>
            <c:spPr>
              <a:solidFill>
                <a:srgbClr val="1FA99C"/>
              </a:solidFill>
              <a:effectLst/>
            </c:spPr>
          </c:dPt>
          <c:cat>
            <c:multiLvlStrRef>
              <c:f>Sheet1!$A$2:$A$3</c:f>
              <c:multiLvlStrCache>
                <c:ptCount val="2"/>
                <c:lvl>
                  <c:pt idx="0">
                    <c:v>Standard PCI</c:v>
                  </c:pt>
                  <c:pt idx="1">
                    <c:v>enVast + PCI</c:v>
                  </c:pt>
                </c:lvl>
              </c:multiLvlStrCache>
            </c:multiLvlStrRef>
          </c:cat>
          <c:val>
            <c:numRef>
              <c:f>Sheet1!$B$2:$B$3</c:f>
              <c:numCache>
                <c:formatCode>General</c:formatCode>
                <c:ptCount val="2"/>
                <c:pt idx="0">
                  <c:v>100</c:v>
                </c:pt>
                <c:pt idx="1">
                  <c:v>74</c:v>
                </c:pt>
              </c:numCache>
            </c:numRef>
          </c:val>
        </c:ser>
        <c:dLbls>
          <c:numFmt formatCode="#,##0" sourceLinked="0"/>
          <c:txPr>
            <a:bodyPr/>
            <a:lstStyle/>
            <a:p>
              <a:pPr>
                <a:defRPr b="1" i="0" strike="noStrike" sz="1400" u="none">
                  <a:solidFill>
                    <a:srgbClr val="FFFFFF"/>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C9CFDA"/>
                </a:solidFill>
                <a:latin typeface="Calibri"/>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E1117"/>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E6778"/>
                </a:solidFill>
                <a:latin typeface="Calibri"/>
              </a:defRPr>
            </a:pPr>
            <a:r>
              <a:rPr sz="1100" b="0" i="0" u="none" strike="noStrike">
                <a:solidFill>
                  <a:srgbClr val="5E6778"/>
                </a:solidFill>
                <a:latin typeface="Calibri"/>
              </a:rPr>
              <a:t>Event rate at 30 days (%)</a:t>
            </a:r>
          </a:p>
        </c:rich>
      </c:tx>
      <c:layout/>
      <c:overlay val="0"/>
    </c:title>
    <c:autoTitleDeleted val="0"/>
    <c:plotArea>
      <c:layout/>
      <c:barChart>
        <c:barDir val="col"/>
        <c:grouping val="clustered"/>
        <c:varyColors val="0"/>
        <c:ser>
          <c:idx val="0"/>
          <c:order val="0"/>
          <c:tx>
            <c:strRef>
              <c:f>Sheet1!$B$1</c:f>
              <c:strCache>
                <c:ptCount val="1"/>
                <c:pt idx="0">
                  <c:v>enVast + PCI</c:v>
                </c:pt>
              </c:strCache>
            </c:strRef>
          </c:tx>
          <c:spPr>
            <a:solidFill>
              <a:srgbClr val="1FA99C"/>
            </a:solidFill>
            <a:effectLst/>
          </c:spPr>
          <c:invertIfNegative val="0"/>
          <c:dLbls>
            <c:numFmt formatCode="0.0&quot;%&quot;" sourceLinked="0"/>
            <c:txPr>
              <a:bodyPr/>
              <a:lstStyle/>
              <a:p>
                <a:pPr>
                  <a:defRPr b="1" i="0" strike="noStrike" sz="1200" u="none">
                    <a:solidFill>
                      <a:srgbClr val="1B2230"/>
                    </a:solidFill>
                    <a:latin typeface="Arial"/>
                  </a:defRPr>
                </a:pPr>
              </a:p>
            </c:txPr>
            <c:showLegendKey val="0"/>
            <c:showVal val="1"/>
            <c:showCatName val="0"/>
            <c:showSerName val="0"/>
            <c:showPercent val="0"/>
            <c:showBubbleSize val="0"/>
            <c:showLeaderLines val="0"/>
          </c:dLbls>
          <c:cat>
            <c:multiLvlStrRef>
              <c:f>Sheet1!$A$2:$A$4</c:f>
              <c:multiLvlStrCache>
                <c:ptCount val="3"/>
                <c:lvl>
                  <c:pt idx="0">
                    <c:v>Stroke</c:v>
                  </c:pt>
                  <c:pt idx="1">
                    <c:v>Death</c:v>
                  </c:pt>
                  <c:pt idx="2">
                    <c:v>MACE</c:v>
                  </c:pt>
                </c:lvl>
              </c:multiLvlStrCache>
            </c:multiLvlStrRef>
          </c:cat>
          <c:val>
            <c:numRef>
              <c:f>Sheet1!$B$2:$B$4</c:f>
              <c:numCache>
                <c:formatCode>General</c:formatCode>
                <c:ptCount val="3"/>
                <c:pt idx="0">
                  <c:v>0</c:v>
                </c:pt>
                <c:pt idx="1">
                  <c:v>0</c:v>
                </c:pt>
                <c:pt idx="2">
                  <c:v>1.3</c:v>
                </c:pt>
              </c:numCache>
            </c:numRef>
          </c:val>
        </c:ser>
        <c:ser>
          <c:idx val="1"/>
          <c:order val="1"/>
          <c:tx>
            <c:strRef>
              <c:f>Sheet1!$C$1</c:f>
              <c:strCache>
                <c:ptCount val="1"/>
                <c:pt idx="0">
                  <c:v>Standard PCI</c:v>
                </c:pt>
              </c:strCache>
            </c:strRef>
          </c:tx>
          <c:spPr>
            <a:solidFill>
              <a:srgbClr val="8A93A6"/>
            </a:solidFill>
            <a:effectLst/>
          </c:spPr>
          <c:invertIfNegative val="0"/>
          <c:dLbls>
            <c:numFmt formatCode="0.0&quot;%&quot;" sourceLinked="0"/>
            <c:txPr>
              <a:bodyPr/>
              <a:lstStyle/>
              <a:p>
                <a:pPr>
                  <a:defRPr b="1" i="0" strike="noStrike" sz="1200" u="none">
                    <a:solidFill>
                      <a:srgbClr val="1B2230"/>
                    </a:solidFill>
                    <a:latin typeface="Arial"/>
                  </a:defRPr>
                </a:pPr>
              </a:p>
            </c:txPr>
            <c:showLegendKey val="0"/>
            <c:showVal val="1"/>
            <c:showCatName val="0"/>
            <c:showSerName val="0"/>
            <c:showPercent val="0"/>
            <c:showBubbleSize val="0"/>
            <c:showLeaderLines val="0"/>
          </c:dLbls>
          <c:cat>
            <c:multiLvlStrRef>
              <c:f>Sheet1!$A$2:$A$4</c:f>
              <c:multiLvlStrCache>
                <c:ptCount val="3"/>
                <c:lvl>
                  <c:pt idx="0">
                    <c:v>Stroke</c:v>
                  </c:pt>
                  <c:pt idx="1">
                    <c:v>Death</c:v>
                  </c:pt>
                  <c:pt idx="2">
                    <c:v>MACE</c:v>
                  </c:pt>
                </c:lvl>
              </c:multiLvlStrCache>
            </c:multiLvlStrRef>
          </c:cat>
          <c:val>
            <c:numRef>
              <c:f>Sheet1!$C$2:$C$4</c:f>
              <c:numCache>
                <c:formatCode>General</c:formatCode>
                <c:ptCount val="3"/>
                <c:pt idx="0">
                  <c:v>1.3</c:v>
                </c:pt>
                <c:pt idx="1">
                  <c:v>2.6</c:v>
                </c:pt>
                <c:pt idx="2">
                  <c:v>3.8</c:v>
                </c:pt>
              </c:numCache>
            </c:numRef>
          </c:val>
        </c:ser>
        <c:dLbls>
          <c:numFmt formatCode="0.0&quot;%&quot;" sourceLinked="0"/>
          <c:txPr>
            <a:bodyPr/>
            <a:lstStyle/>
            <a:p>
              <a:pPr>
                <a:defRPr b="1" i="0" strike="noStrike" sz="1200" u="none">
                  <a:solidFill>
                    <a:srgbClr val="1B223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230"/>
                </a:solidFill>
                <a:latin typeface="Calibri"/>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B223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NATURE was presented as a late-breaking clinical trial at ESC Congress 2026 in Munich by Prof. Marco Valgimigli (Cardiocentro Ticino Institute, Lugano). It asks whether a coronary stent-retriever (enVast, Vesalio) used before conventional PCI can limit myocardial damage in STEMI patients with a large clot burden.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rationale: in patients with a large thrombus, PCI can push clot downstream, causing microvascular obstruction and larger infarcts. Manual aspiration was the obvious fix, but TASTE and TOTAL were neutral on hard outcomes and TOTAL raised a stroke signal, so guidelines advise against routine aspiration. NATURE tests a different mechanical approach — a stent-retriever — in a population selected for large thrombus.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enVast is Vesalio's coronary clot retriever, derived from the NeVa device used for stroke thrombectomy. The idea: remove the bulk of the clot as a whole rather than aspirate it, so less debris embolises when the lesion is subsequently treated with balloon and stent.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 patients at 11 centres were randomised 1:1 to enVast-assisted thrombectomy followed by conventional PCI, or to standard-of-care primary PCI. The design and rationale were published by Landi et al. in Cardiovascular Revascularization Medicine (March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Eligibility as listed on ClinicalTrials.gov (NCT04969471). The key enrichment criterion is a TIMI thrombus grade of 3 or more; in occluded vessels (grade 5, TIMI 0 flow) the grade had to be re-confirmed after wiring. Patients had to be treated within 8 hours of symptom onset. Exclusions remove small, heavily calcified or tortuous vessels where a retriever is hard to deliver, stent thrombosis, prior infarction in the same territory and unconscious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 thrombus grade 3 means a definite thrombus longer than half the vessel diameter; this is the population in which thrombectomy has the most to offer. The primary endpoint is a physiological one — enzymatic infarct size — backed by CMR infarct size as a secondary, with 30-day safety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trial met its primary endpoint: enzymatic infarct size by CK-MB area under the curve was about 26% lower with enVast (P = 0.001). The chart shows the relative effect indexed to control; absolute CK-MB values are in the primary presentation/publication.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CMR at day 3 showed about a 25% relative reduction in infarct size as a percentage of LV mass — a positive trend rather than a formally significant result, but concordant with the biomarker finding, which supports a real biological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30 days: stroke 0% vs 1.3%, death 0% vs 2.6%, MACE 1.3% vs 3.8% (enVast vs control). Reassuring given the stroke concern with aspiration in TOTAL — but these are very small numbers of events and should be treated as hypothesis-generating.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Strengths: randomisation, a targeted population, and concordant endpoints. Limitations: small, surrogate primary endpoint, inherent lack of operator blinding, CMR only a trend, and sponsor involvement. The next step must be an adequately powered trial with clinical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a significant reduction in enzymatic infarct size, a concordant MRI signal with no early safety penalty, and a result that applies to a selected population — large thrombus, early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NATURE met its superiority hypothesis on infarct size. enVast-assisted thrombectomy before PCI reduced infarct size in large-thrombus STEMI, and 30-day safety was reassuring. Because the trial was small and used a surrogate endpoint, it should not yet change routine practice; the next step is an outcomes 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for NATURE are taken from the ESC 2026 late-breaking presentation and sponsor/press reports; check the peer-reviewed publication for final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8A93A6"/>
                </a:solidFill>
                <a:latin typeface="Calibri" pitchFamily="34" charset="0"/>
                <a:ea typeface="Calibri" pitchFamily="34" charset="-122"/>
                <a:cs typeface="Calibri" pitchFamily="34" charset="-120"/>
              </a:rPr>
              <a:t>01 / 13</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8A93A6"/>
                </a:solidFill>
                <a:latin typeface="Calibri" pitchFamily="34" charset="0"/>
                <a:ea typeface="Calibri" pitchFamily="34" charset="-122"/>
                <a:cs typeface="Calibri" pitchFamily="34" charset="-120"/>
              </a:rPr>
              <a:t>NATURE · ESC 2026</a:t>
            </a:r>
            <a:endParaRPr lang="en-US" sz="900" dirty="0"/>
          </a:p>
        </p:txBody>
      </p:sp>
      <p:pic>
        <p:nvPicPr>
          <p:cNvPr id="5" name="Image 1" descr="preencoded.png">    </p:cNvPr>
          <p:cNvPicPr>
            <a:picLocks noChangeAspect="1"/>
          </p:cNvPicPr>
          <p:nvPr/>
        </p:nvPicPr>
        <p:blipFill>
          <a:blip r:embed="rId2">
            <a:alphaModFix amt="45000"/>
          </a:blip>
          <a:stretch>
            <a:fillRect/>
          </a:stretch>
        </p:blipFill>
        <p:spPr>
          <a:xfrm>
            <a:off x="-182880" y="2651760"/>
            <a:ext cx="9509760" cy="1051560"/>
          </a:xfrm>
          <a:prstGeom prst="rect">
            <a:avLst/>
          </a:prstGeom>
        </p:spPr>
      </p:pic>
      <p:sp>
        <p:nvSpPr>
          <p:cNvPr id="6" name="Text 2"/>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100" b="1" spc="400" kern="0" dirty="0">
                <a:solidFill>
                  <a:srgbClr val="F4B6BB"/>
                </a:solidFill>
                <a:latin typeface="Calibri" pitchFamily="34" charset="0"/>
                <a:ea typeface="Calibri" pitchFamily="34" charset="-122"/>
                <a:cs typeface="Calibri" pitchFamily="34" charset="-120"/>
              </a:rPr>
              <a:t>ESC CONGRESS 2026 · MUNICH · LATE-BREAKING CLINICAL TRIAL</a:t>
            </a:r>
            <a:endParaRPr lang="en-US" sz="1100" dirty="0"/>
          </a:p>
        </p:txBody>
      </p:sp>
      <p:sp>
        <p:nvSpPr>
          <p:cNvPr id="7" name="Text 3"/>
          <p:cNvSpPr txBox="1"/>
          <p:nvPr/>
        </p:nvSpPr>
        <p:spPr>
          <a:xfrm>
            <a:off x="548640" y="868680"/>
            <a:ext cx="8046720" cy="1188720"/>
          </a:xfrm>
          <a:prstGeom prst="rect">
            <a:avLst/>
          </a:prstGeom>
          <a:noFill/>
          <a:ln/>
        </p:spPr>
        <p:txBody>
          <a:bodyPr wrap="square" lIns="0" tIns="0" rIns="0" bIns="0" rtlCol="0" anchor="ctr"/>
          <a:lstStyle/>
          <a:p>
            <a:pPr indent="0" marL="0">
              <a:buNone/>
            </a:pPr>
            <a:r>
              <a:rPr lang="en-US" sz="8800" b="1" spc="600" kern="0" dirty="0">
                <a:solidFill>
                  <a:srgbClr val="FFFFFF"/>
                </a:solidFill>
                <a:latin typeface="Cambria" pitchFamily="34" charset="0"/>
                <a:ea typeface="Cambria" pitchFamily="34" charset="-122"/>
                <a:cs typeface="Cambria" pitchFamily="34" charset="-120"/>
              </a:rPr>
              <a:t>NATURE</a:t>
            </a:r>
            <a:endParaRPr lang="en-US" sz="8800" dirty="0"/>
          </a:p>
        </p:txBody>
      </p:sp>
      <p:sp>
        <p:nvSpPr>
          <p:cNvPr id="8" name="Text 4"/>
          <p:cNvSpPr txBox="1"/>
          <p:nvPr/>
        </p:nvSpPr>
        <p:spPr>
          <a:xfrm>
            <a:off x="548640" y="2011680"/>
            <a:ext cx="6583680" cy="731520"/>
          </a:xfrm>
          <a:prstGeom prst="rect">
            <a:avLst/>
          </a:prstGeom>
          <a:noFill/>
          <a:ln/>
        </p:spPr>
        <p:txBody>
          <a:bodyPr wrap="square" lIns="0" tIns="0" rIns="0" bIns="0" rtlCol="0" anchor="t"/>
          <a:lstStyle/>
          <a:p>
            <a:pPr indent="0" marL="0">
              <a:buNone/>
            </a:pPr>
            <a:r>
              <a:rPr lang="en-US" sz="1800" i="1" dirty="0">
                <a:solidFill>
                  <a:srgbClr val="F4B6BB"/>
                </a:solidFill>
                <a:latin typeface="Cambria" pitchFamily="34" charset="0"/>
                <a:ea typeface="Cambria" pitchFamily="34" charset="-122"/>
                <a:cs typeface="Cambria" pitchFamily="34" charset="-120"/>
              </a:rPr>
              <a:t>enVast-assisted mechanical thrombectomy versus standard primary PCI in STEMI with large thrombus burden</a:t>
            </a:r>
            <a:endParaRPr lang="en-US" sz="1800" dirty="0"/>
          </a:p>
        </p:txBody>
      </p:sp>
      <p:sp>
        <p:nvSpPr>
          <p:cNvPr id="9" name="Text 5"/>
          <p:cNvSpPr txBox="1"/>
          <p:nvPr/>
        </p:nvSpPr>
        <p:spPr>
          <a:xfrm>
            <a:off x="548640" y="3611880"/>
            <a:ext cx="1828800" cy="5029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154</a:t>
            </a:r>
            <a:endParaRPr lang="en-US" sz="3000" dirty="0"/>
          </a:p>
        </p:txBody>
      </p:sp>
      <p:sp>
        <p:nvSpPr>
          <p:cNvPr id="10" name="Text 6"/>
          <p:cNvSpPr txBox="1"/>
          <p:nvPr/>
        </p:nvSpPr>
        <p:spPr>
          <a:xfrm>
            <a:off x="548640" y="4114800"/>
            <a:ext cx="1828800" cy="228600"/>
          </a:xfrm>
          <a:prstGeom prst="rect">
            <a:avLst/>
          </a:prstGeom>
          <a:noFill/>
          <a:ln/>
        </p:spPr>
        <p:txBody>
          <a:bodyPr wrap="square" lIns="0" tIns="0" rIns="0" bIns="0" rtlCol="0" anchor="ctr"/>
          <a:lstStyle/>
          <a:p>
            <a:pPr indent="0" marL="0">
              <a:buNone/>
            </a:pPr>
            <a:r>
              <a:rPr lang="en-US" sz="1000" spc="300" kern="0" dirty="0">
                <a:solidFill>
                  <a:srgbClr val="8A93A6"/>
                </a:solidFill>
                <a:latin typeface="Calibri" pitchFamily="34" charset="0"/>
                <a:ea typeface="Calibri" pitchFamily="34" charset="-122"/>
                <a:cs typeface="Calibri" pitchFamily="34" charset="-120"/>
              </a:rPr>
              <a:t>PATIENTS</a:t>
            </a:r>
            <a:endParaRPr lang="en-US" sz="1000" dirty="0"/>
          </a:p>
        </p:txBody>
      </p:sp>
      <p:sp>
        <p:nvSpPr>
          <p:cNvPr id="11" name="Text 7"/>
          <p:cNvSpPr txBox="1"/>
          <p:nvPr/>
        </p:nvSpPr>
        <p:spPr>
          <a:xfrm>
            <a:off x="2560320" y="3611880"/>
            <a:ext cx="1828800" cy="5029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11</a:t>
            </a:r>
            <a:endParaRPr lang="en-US" sz="3000" dirty="0"/>
          </a:p>
        </p:txBody>
      </p:sp>
      <p:sp>
        <p:nvSpPr>
          <p:cNvPr id="12" name="Text 8"/>
          <p:cNvSpPr txBox="1"/>
          <p:nvPr/>
        </p:nvSpPr>
        <p:spPr>
          <a:xfrm>
            <a:off x="2560320" y="4114800"/>
            <a:ext cx="1828800" cy="228600"/>
          </a:xfrm>
          <a:prstGeom prst="rect">
            <a:avLst/>
          </a:prstGeom>
          <a:noFill/>
          <a:ln/>
        </p:spPr>
        <p:txBody>
          <a:bodyPr wrap="square" lIns="0" tIns="0" rIns="0" bIns="0" rtlCol="0" anchor="ctr"/>
          <a:lstStyle/>
          <a:p>
            <a:pPr indent="0" marL="0">
              <a:buNone/>
            </a:pPr>
            <a:r>
              <a:rPr lang="en-US" sz="1000" spc="300" kern="0" dirty="0">
                <a:solidFill>
                  <a:srgbClr val="8A93A6"/>
                </a:solidFill>
                <a:latin typeface="Calibri" pitchFamily="34" charset="0"/>
                <a:ea typeface="Calibri" pitchFamily="34" charset="-122"/>
                <a:cs typeface="Calibri" pitchFamily="34" charset="-120"/>
              </a:rPr>
              <a:t>CENTRES</a:t>
            </a:r>
            <a:endParaRPr lang="en-US" sz="1000" dirty="0"/>
          </a:p>
        </p:txBody>
      </p:sp>
      <p:sp>
        <p:nvSpPr>
          <p:cNvPr id="13" name="Text 9"/>
          <p:cNvSpPr txBox="1"/>
          <p:nvPr/>
        </p:nvSpPr>
        <p:spPr>
          <a:xfrm>
            <a:off x="4572000" y="3611880"/>
            <a:ext cx="1828800" cy="5029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1 : 1</a:t>
            </a:r>
            <a:endParaRPr lang="en-US" sz="3000" dirty="0"/>
          </a:p>
        </p:txBody>
      </p:sp>
      <p:sp>
        <p:nvSpPr>
          <p:cNvPr id="14" name="Text 10"/>
          <p:cNvSpPr txBox="1"/>
          <p:nvPr/>
        </p:nvSpPr>
        <p:spPr>
          <a:xfrm>
            <a:off x="4572000" y="4114800"/>
            <a:ext cx="1828800" cy="228600"/>
          </a:xfrm>
          <a:prstGeom prst="rect">
            <a:avLst/>
          </a:prstGeom>
          <a:noFill/>
          <a:ln/>
        </p:spPr>
        <p:txBody>
          <a:bodyPr wrap="square" lIns="0" tIns="0" rIns="0" bIns="0" rtlCol="0" anchor="ctr"/>
          <a:lstStyle/>
          <a:p>
            <a:pPr indent="0" marL="0">
              <a:buNone/>
            </a:pPr>
            <a:r>
              <a:rPr lang="en-US" sz="1000" spc="300" kern="0" dirty="0">
                <a:solidFill>
                  <a:srgbClr val="8A93A6"/>
                </a:solidFill>
                <a:latin typeface="Calibri" pitchFamily="34" charset="0"/>
                <a:ea typeface="Calibri" pitchFamily="34" charset="-122"/>
                <a:cs typeface="Calibri" pitchFamily="34" charset="-120"/>
              </a:rPr>
              <a:t>RANDOMISED</a:t>
            </a:r>
            <a:endParaRPr lang="en-US" sz="1000" dirty="0"/>
          </a:p>
        </p:txBody>
      </p:sp>
      <p:sp>
        <p:nvSpPr>
          <p:cNvPr id="15" name="Text 11"/>
          <p:cNvSpPr txBox="1"/>
          <p:nvPr/>
        </p:nvSpPr>
        <p:spPr>
          <a:xfrm>
            <a:off x="6583680" y="3611880"/>
            <a:ext cx="1828800" cy="502920"/>
          </a:xfrm>
          <a:prstGeom prst="rect">
            <a:avLst/>
          </a:prstGeom>
          <a:noFill/>
          <a:ln/>
        </p:spPr>
        <p:txBody>
          <a:bodyPr wrap="square" lIns="0" tIns="0" rIns="0" bIns="0" rtlCol="0" anchor="ctr"/>
          <a:lstStyle/>
          <a:p>
            <a:pPr indent="0" marL="0">
              <a:buNone/>
            </a:pPr>
            <a:r>
              <a:rPr lang="en-US" sz="3000" b="1" dirty="0">
                <a:solidFill>
                  <a:srgbClr val="E5383B"/>
                </a:solidFill>
                <a:latin typeface="Cambria" pitchFamily="34" charset="0"/>
                <a:ea typeface="Cambria" pitchFamily="34" charset="-122"/>
                <a:cs typeface="Cambria" pitchFamily="34" charset="-120"/>
              </a:rPr>
              <a:t>−26%</a:t>
            </a:r>
            <a:endParaRPr lang="en-US" sz="3000" dirty="0"/>
          </a:p>
        </p:txBody>
      </p:sp>
      <p:sp>
        <p:nvSpPr>
          <p:cNvPr id="16" name="Text 12"/>
          <p:cNvSpPr txBox="1"/>
          <p:nvPr/>
        </p:nvSpPr>
        <p:spPr>
          <a:xfrm>
            <a:off x="6583680" y="4114800"/>
            <a:ext cx="1828800" cy="228600"/>
          </a:xfrm>
          <a:prstGeom prst="rect">
            <a:avLst/>
          </a:prstGeom>
          <a:noFill/>
          <a:ln/>
        </p:spPr>
        <p:txBody>
          <a:bodyPr wrap="square" lIns="0" tIns="0" rIns="0" bIns="0" rtlCol="0" anchor="ctr"/>
          <a:lstStyle/>
          <a:p>
            <a:pPr indent="0" marL="0">
              <a:buNone/>
            </a:pPr>
            <a:r>
              <a:rPr lang="en-US" sz="1000" spc="300" kern="0" dirty="0">
                <a:solidFill>
                  <a:srgbClr val="8A93A6"/>
                </a:solidFill>
                <a:latin typeface="Calibri" pitchFamily="34" charset="0"/>
                <a:ea typeface="Calibri" pitchFamily="34" charset="-122"/>
                <a:cs typeface="Calibri" pitchFamily="34" charset="-120"/>
              </a:rPr>
              <a:t>INFARCT SIZE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02 / 13</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THE CLINICAL PROBLEM</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Large thrombus: the clot that won’t stay put</a:t>
            </a:r>
            <a:endParaRPr lang="en-US" sz="3000" dirty="0"/>
          </a:p>
        </p:txBody>
      </p:sp>
      <p:sp>
        <p:nvSpPr>
          <p:cNvPr id="7" name="Shape 4"/>
          <p:cNvSpPr/>
          <p:nvPr/>
        </p:nvSpPr>
        <p:spPr>
          <a:xfrm>
            <a:off x="457200" y="1417320"/>
            <a:ext cx="457200" cy="457200"/>
          </a:xfrm>
          <a:prstGeom prst="ellipse">
            <a:avLst/>
          </a:prstGeom>
          <a:solidFill>
            <a:srgbClr val="0E1117"/>
          </a:solidFill>
          <a:ln w="12700">
            <a:solidFill>
              <a:srgbClr val="0E1117"/>
            </a:solidFill>
            <a:prstDash val="solid"/>
          </a:ln>
        </p:spPr>
      </p:sp>
      <p:sp>
        <p:nvSpPr>
          <p:cNvPr id="8" name="Text 5"/>
          <p:cNvSpPr txBox="1"/>
          <p:nvPr/>
        </p:nvSpPr>
        <p:spPr>
          <a:xfrm>
            <a:off x="457200" y="1417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1097280" y="1380744"/>
            <a:ext cx="3383280" cy="274320"/>
          </a:xfrm>
          <a:prstGeom prst="rect">
            <a:avLst/>
          </a:prstGeom>
          <a:noFill/>
          <a:ln/>
        </p:spPr>
        <p:txBody>
          <a:bodyPr wrap="square" lIns="0" tIns="0" rIns="0" bIns="0" rtlCol="0" anchor="ctr"/>
          <a:lstStyle/>
          <a:p>
            <a:pPr indent="0" marL="0">
              <a:buNone/>
            </a:pPr>
            <a:r>
              <a:rPr lang="en-US" sz="1500" b="1" dirty="0">
                <a:solidFill>
                  <a:srgbClr val="1B2230"/>
                </a:solidFill>
                <a:latin typeface="Calibri" pitchFamily="34" charset="0"/>
                <a:ea typeface="Calibri" pitchFamily="34" charset="-122"/>
                <a:cs typeface="Calibri" pitchFamily="34" charset="-120"/>
              </a:rPr>
              <a:t>Large thrombus burden</a:t>
            </a:r>
            <a:endParaRPr lang="en-US" sz="1500" dirty="0"/>
          </a:p>
        </p:txBody>
      </p:sp>
      <p:sp>
        <p:nvSpPr>
          <p:cNvPr id="10" name="Text 7"/>
          <p:cNvSpPr txBox="1"/>
          <p:nvPr/>
        </p:nvSpPr>
        <p:spPr>
          <a:xfrm>
            <a:off x="1097280" y="1655064"/>
            <a:ext cx="3383280" cy="411480"/>
          </a:xfrm>
          <a:prstGeom prst="rect">
            <a:avLst/>
          </a:prstGeom>
          <a:noFill/>
          <a:ln/>
        </p:spPr>
        <p:txBody>
          <a:bodyPr wrap="square" lIns="0" tIns="0" rIns="0" bIns="0" rtlCol="0" anchor="t"/>
          <a:lstStyle/>
          <a:p>
            <a:pPr indent="0" marL="0">
              <a:buNone/>
            </a:pPr>
            <a:r>
              <a:rPr lang="en-US" sz="1150" dirty="0">
                <a:solidFill>
                  <a:srgbClr val="5E6778"/>
                </a:solidFill>
                <a:latin typeface="Calibri" pitchFamily="34" charset="0"/>
                <a:ea typeface="Calibri" pitchFamily="34" charset="-122"/>
                <a:cs typeface="Calibri" pitchFamily="34" charset="-120"/>
              </a:rPr>
              <a:t>Common in STEMI; ballooning and stenting can fragment the clot.</a:t>
            </a:r>
            <a:endParaRPr lang="en-US" sz="1150" dirty="0"/>
          </a:p>
        </p:txBody>
      </p:sp>
      <p:sp>
        <p:nvSpPr>
          <p:cNvPr id="11" name="Shape 8"/>
          <p:cNvSpPr/>
          <p:nvPr/>
        </p:nvSpPr>
        <p:spPr>
          <a:xfrm>
            <a:off x="457200" y="2194560"/>
            <a:ext cx="457200" cy="457200"/>
          </a:xfrm>
          <a:prstGeom prst="ellipse">
            <a:avLst/>
          </a:prstGeom>
          <a:solidFill>
            <a:srgbClr val="0E1117"/>
          </a:solidFill>
          <a:ln w="12700">
            <a:solidFill>
              <a:srgbClr val="0E1117"/>
            </a:solidFill>
            <a:prstDash val="solid"/>
          </a:ln>
        </p:spPr>
      </p:sp>
      <p:sp>
        <p:nvSpPr>
          <p:cNvPr id="12" name="Text 9"/>
          <p:cNvSpPr txBox="1"/>
          <p:nvPr/>
        </p:nvSpPr>
        <p:spPr>
          <a:xfrm>
            <a:off x="45720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3" name="Text 10"/>
          <p:cNvSpPr txBox="1"/>
          <p:nvPr/>
        </p:nvSpPr>
        <p:spPr>
          <a:xfrm>
            <a:off x="1097280" y="2157984"/>
            <a:ext cx="3383280" cy="274320"/>
          </a:xfrm>
          <a:prstGeom prst="rect">
            <a:avLst/>
          </a:prstGeom>
          <a:noFill/>
          <a:ln/>
        </p:spPr>
        <p:txBody>
          <a:bodyPr wrap="square" lIns="0" tIns="0" rIns="0" bIns="0" rtlCol="0" anchor="ctr"/>
          <a:lstStyle/>
          <a:p>
            <a:pPr indent="0" marL="0">
              <a:buNone/>
            </a:pPr>
            <a:r>
              <a:rPr lang="en-US" sz="1500" b="1" dirty="0">
                <a:solidFill>
                  <a:srgbClr val="1B2230"/>
                </a:solidFill>
                <a:latin typeface="Calibri" pitchFamily="34" charset="0"/>
                <a:ea typeface="Calibri" pitchFamily="34" charset="-122"/>
                <a:cs typeface="Calibri" pitchFamily="34" charset="-120"/>
              </a:rPr>
              <a:t>Distal embolisation</a:t>
            </a:r>
            <a:endParaRPr lang="en-US" sz="1500" dirty="0"/>
          </a:p>
        </p:txBody>
      </p:sp>
      <p:sp>
        <p:nvSpPr>
          <p:cNvPr id="14" name="Text 11"/>
          <p:cNvSpPr txBox="1"/>
          <p:nvPr/>
        </p:nvSpPr>
        <p:spPr>
          <a:xfrm>
            <a:off x="1097280" y="2432304"/>
            <a:ext cx="3383280" cy="411480"/>
          </a:xfrm>
          <a:prstGeom prst="rect">
            <a:avLst/>
          </a:prstGeom>
          <a:noFill/>
          <a:ln/>
        </p:spPr>
        <p:txBody>
          <a:bodyPr wrap="square" lIns="0" tIns="0" rIns="0" bIns="0" rtlCol="0" anchor="t"/>
          <a:lstStyle/>
          <a:p>
            <a:pPr indent="0" marL="0">
              <a:buNone/>
            </a:pPr>
            <a:r>
              <a:rPr lang="en-US" sz="1150" dirty="0">
                <a:solidFill>
                  <a:srgbClr val="5E6778"/>
                </a:solidFill>
                <a:latin typeface="Calibri" pitchFamily="34" charset="0"/>
                <a:ea typeface="Calibri" pitchFamily="34" charset="-122"/>
                <a:cs typeface="Calibri" pitchFamily="34" charset="-120"/>
              </a:rPr>
              <a:t>Debris showers into the microcirculation downstream of the culprit lesion.</a:t>
            </a:r>
            <a:endParaRPr lang="en-US" sz="1150" dirty="0"/>
          </a:p>
        </p:txBody>
      </p:sp>
      <p:sp>
        <p:nvSpPr>
          <p:cNvPr id="15" name="Shape 12"/>
          <p:cNvSpPr/>
          <p:nvPr/>
        </p:nvSpPr>
        <p:spPr>
          <a:xfrm>
            <a:off x="457200" y="2971800"/>
            <a:ext cx="457200" cy="457200"/>
          </a:xfrm>
          <a:prstGeom prst="ellipse">
            <a:avLst/>
          </a:prstGeom>
          <a:solidFill>
            <a:srgbClr val="0E1117"/>
          </a:solidFill>
          <a:ln w="12700">
            <a:solidFill>
              <a:srgbClr val="0E1117"/>
            </a:solidFill>
            <a:prstDash val="solid"/>
          </a:ln>
        </p:spPr>
      </p:sp>
      <p:sp>
        <p:nvSpPr>
          <p:cNvPr id="16" name="Text 13"/>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1097280" y="2935224"/>
            <a:ext cx="3383280" cy="274320"/>
          </a:xfrm>
          <a:prstGeom prst="rect">
            <a:avLst/>
          </a:prstGeom>
          <a:noFill/>
          <a:ln/>
        </p:spPr>
        <p:txBody>
          <a:bodyPr wrap="square" lIns="0" tIns="0" rIns="0" bIns="0" rtlCol="0" anchor="ctr"/>
          <a:lstStyle/>
          <a:p>
            <a:pPr indent="0" marL="0">
              <a:buNone/>
            </a:pPr>
            <a:r>
              <a:rPr lang="en-US" sz="1500" b="1" dirty="0">
                <a:solidFill>
                  <a:srgbClr val="1B2230"/>
                </a:solidFill>
                <a:latin typeface="Calibri" pitchFamily="34" charset="0"/>
                <a:ea typeface="Calibri" pitchFamily="34" charset="-122"/>
                <a:cs typeface="Calibri" pitchFamily="34" charset="-120"/>
              </a:rPr>
              <a:t>Microvascular obstruction</a:t>
            </a:r>
            <a:endParaRPr lang="en-US" sz="1500" dirty="0"/>
          </a:p>
        </p:txBody>
      </p:sp>
      <p:sp>
        <p:nvSpPr>
          <p:cNvPr id="18" name="Text 15"/>
          <p:cNvSpPr txBox="1"/>
          <p:nvPr/>
        </p:nvSpPr>
        <p:spPr>
          <a:xfrm>
            <a:off x="1097280" y="3209544"/>
            <a:ext cx="3383280" cy="411480"/>
          </a:xfrm>
          <a:prstGeom prst="rect">
            <a:avLst/>
          </a:prstGeom>
          <a:noFill/>
          <a:ln/>
        </p:spPr>
        <p:txBody>
          <a:bodyPr wrap="square" lIns="0" tIns="0" rIns="0" bIns="0" rtlCol="0" anchor="t"/>
          <a:lstStyle/>
          <a:p>
            <a:pPr indent="0" marL="0">
              <a:buNone/>
            </a:pPr>
            <a:r>
              <a:rPr lang="en-US" sz="1150" dirty="0">
                <a:solidFill>
                  <a:srgbClr val="5E6778"/>
                </a:solidFill>
                <a:latin typeface="Calibri" pitchFamily="34" charset="0"/>
                <a:ea typeface="Calibri" pitchFamily="34" charset="-122"/>
                <a:cs typeface="Calibri" pitchFamily="34" charset="-120"/>
              </a:rPr>
              <a:t>Epicardial flow is restored, but tissue-level reperfusion fails.</a:t>
            </a:r>
            <a:endParaRPr lang="en-US" sz="1150" dirty="0"/>
          </a:p>
        </p:txBody>
      </p:sp>
      <p:sp>
        <p:nvSpPr>
          <p:cNvPr id="19" name="Shape 16"/>
          <p:cNvSpPr/>
          <p:nvPr/>
        </p:nvSpPr>
        <p:spPr>
          <a:xfrm>
            <a:off x="457200" y="3749040"/>
            <a:ext cx="457200" cy="457200"/>
          </a:xfrm>
          <a:prstGeom prst="ellipse">
            <a:avLst/>
          </a:prstGeom>
          <a:solidFill>
            <a:srgbClr val="E5383B"/>
          </a:solidFill>
          <a:ln w="12700">
            <a:solidFill>
              <a:srgbClr val="E5383B"/>
            </a:solidFill>
            <a:prstDash val="solid"/>
          </a:ln>
        </p:spPr>
      </p:sp>
      <p:sp>
        <p:nvSpPr>
          <p:cNvPr id="20" name="Text 17"/>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1" name="Text 18"/>
          <p:cNvSpPr txBox="1"/>
          <p:nvPr/>
        </p:nvSpPr>
        <p:spPr>
          <a:xfrm>
            <a:off x="1097280" y="3712464"/>
            <a:ext cx="3383280" cy="274320"/>
          </a:xfrm>
          <a:prstGeom prst="rect">
            <a:avLst/>
          </a:prstGeom>
          <a:noFill/>
          <a:ln/>
        </p:spPr>
        <p:txBody>
          <a:bodyPr wrap="square" lIns="0" tIns="0" rIns="0" bIns="0" rtlCol="0" anchor="ctr"/>
          <a:lstStyle/>
          <a:p>
            <a:pPr indent="0" marL="0">
              <a:buNone/>
            </a:pPr>
            <a:r>
              <a:rPr lang="en-US" sz="1500" b="1" dirty="0">
                <a:solidFill>
                  <a:srgbClr val="1B2230"/>
                </a:solidFill>
                <a:latin typeface="Calibri" pitchFamily="34" charset="0"/>
                <a:ea typeface="Calibri" pitchFamily="34" charset="-122"/>
                <a:cs typeface="Calibri" pitchFamily="34" charset="-120"/>
              </a:rPr>
              <a:t>Larger infarct</a:t>
            </a:r>
            <a:endParaRPr lang="en-US" sz="1500" dirty="0"/>
          </a:p>
        </p:txBody>
      </p:sp>
      <p:sp>
        <p:nvSpPr>
          <p:cNvPr id="22" name="Text 19"/>
          <p:cNvSpPr txBox="1"/>
          <p:nvPr/>
        </p:nvSpPr>
        <p:spPr>
          <a:xfrm>
            <a:off x="1097280" y="3986784"/>
            <a:ext cx="3383280" cy="411480"/>
          </a:xfrm>
          <a:prstGeom prst="rect">
            <a:avLst/>
          </a:prstGeom>
          <a:noFill/>
          <a:ln/>
        </p:spPr>
        <p:txBody>
          <a:bodyPr wrap="square" lIns="0" tIns="0" rIns="0" bIns="0" rtlCol="0" anchor="t"/>
          <a:lstStyle/>
          <a:p>
            <a:pPr indent="0" marL="0">
              <a:buNone/>
            </a:pPr>
            <a:r>
              <a:rPr lang="en-US" sz="1150" dirty="0">
                <a:solidFill>
                  <a:srgbClr val="5E6778"/>
                </a:solidFill>
                <a:latin typeface="Calibri" pitchFamily="34" charset="0"/>
                <a:ea typeface="Calibri" pitchFamily="34" charset="-122"/>
                <a:cs typeface="Calibri" pitchFamily="34" charset="-120"/>
              </a:rPr>
              <a:t>More myocardium lost, higher risk of heart failure and death.</a:t>
            </a:r>
            <a:endParaRPr lang="en-US" sz="1150" dirty="0"/>
          </a:p>
        </p:txBody>
      </p:sp>
      <p:sp>
        <p:nvSpPr>
          <p:cNvPr id="23" name="Shape 20"/>
          <p:cNvSpPr/>
          <p:nvPr/>
        </p:nvSpPr>
        <p:spPr>
          <a:xfrm>
            <a:off x="4846320" y="1371600"/>
            <a:ext cx="3840480" cy="3108960"/>
          </a:xfrm>
          <a:prstGeom prst="roundRect">
            <a:avLst>
              <a:gd name="adj" fmla="val 3529"/>
            </a:avLst>
          </a:prstGeom>
          <a:solidFill>
            <a:srgbClr val="F6F7F9"/>
          </a:solidFill>
          <a:ln w="12700">
            <a:solidFill>
              <a:srgbClr val="F6F7F9"/>
            </a:solidFill>
            <a:prstDash val="solid"/>
          </a:ln>
        </p:spPr>
      </p:sp>
      <p:sp>
        <p:nvSpPr>
          <p:cNvPr id="24" name="Text 21"/>
          <p:cNvSpPr txBox="1"/>
          <p:nvPr/>
        </p:nvSpPr>
        <p:spPr>
          <a:xfrm>
            <a:off x="5074920" y="1508760"/>
            <a:ext cx="3474720" cy="320040"/>
          </a:xfrm>
          <a:prstGeom prst="rect">
            <a:avLst/>
          </a:prstGeom>
          <a:noFill/>
          <a:ln/>
        </p:spPr>
        <p:txBody>
          <a:bodyPr wrap="square" lIns="0" tIns="0" rIns="0" bIns="0" rtlCol="0" anchor="ctr"/>
          <a:lstStyle/>
          <a:p>
            <a:pPr indent="0" marL="0">
              <a:buNone/>
            </a:pPr>
            <a:r>
              <a:rPr lang="en-US" sz="1500" b="1" dirty="0">
                <a:solidFill>
                  <a:srgbClr val="1B2230"/>
                </a:solidFill>
                <a:latin typeface="Cambria" pitchFamily="34" charset="0"/>
                <a:ea typeface="Cambria" pitchFamily="34" charset="-122"/>
                <a:cs typeface="Cambria" pitchFamily="34" charset="-120"/>
              </a:rPr>
              <a:t>Aspiration thrombectomy already failed</a:t>
            </a:r>
            <a:endParaRPr lang="en-US" sz="1500" dirty="0"/>
          </a:p>
        </p:txBody>
      </p:sp>
      <p:pic>
        <p:nvPicPr>
          <p:cNvPr id="25" name="Image 1" descr="preencoded.png">    </p:cNvPr>
          <p:cNvPicPr>
            <a:picLocks noChangeAspect="1"/>
          </p:cNvPicPr>
          <p:nvPr/>
        </p:nvPicPr>
        <p:blipFill>
          <a:blip r:embed="rId2"/>
          <a:stretch>
            <a:fillRect/>
          </a:stretch>
        </p:blipFill>
        <p:spPr>
          <a:xfrm>
            <a:off x="5074920" y="2011680"/>
            <a:ext cx="292608" cy="292608"/>
          </a:xfrm>
          <a:prstGeom prst="rect">
            <a:avLst/>
          </a:prstGeom>
        </p:spPr>
      </p:pic>
      <p:sp>
        <p:nvSpPr>
          <p:cNvPr id="26" name="Text 22"/>
          <p:cNvSpPr txBox="1"/>
          <p:nvPr/>
        </p:nvSpPr>
        <p:spPr>
          <a:xfrm>
            <a:off x="5532120" y="1965960"/>
            <a:ext cx="3017520" cy="274320"/>
          </a:xfrm>
          <a:prstGeom prst="rect">
            <a:avLst/>
          </a:prstGeom>
          <a:noFill/>
          <a:ln/>
        </p:spPr>
        <p:txBody>
          <a:bodyPr wrap="square" lIns="0" tIns="0" rIns="0" bIns="0" rtlCol="0" anchor="ctr"/>
          <a:lstStyle/>
          <a:p>
            <a:pPr indent="0" marL="0">
              <a:buNone/>
            </a:pPr>
            <a:r>
              <a:rPr lang="en-US" sz="1300" b="1" dirty="0">
                <a:solidFill>
                  <a:srgbClr val="E5383B"/>
                </a:solidFill>
                <a:latin typeface="Calibri" pitchFamily="34" charset="0"/>
                <a:ea typeface="Calibri" pitchFamily="34" charset="-122"/>
                <a:cs typeface="Calibri" pitchFamily="34" charset="-120"/>
              </a:rPr>
              <a:t>TASTE</a:t>
            </a:r>
            <a:endParaRPr lang="en-US" sz="1300" dirty="0"/>
          </a:p>
        </p:txBody>
      </p:sp>
      <p:sp>
        <p:nvSpPr>
          <p:cNvPr id="27" name="Text 23"/>
          <p:cNvSpPr txBox="1"/>
          <p:nvPr/>
        </p:nvSpPr>
        <p:spPr>
          <a:xfrm>
            <a:off x="5532120" y="2221992"/>
            <a:ext cx="3017520" cy="457200"/>
          </a:xfrm>
          <a:prstGeom prst="rect">
            <a:avLst/>
          </a:prstGeom>
          <a:noFill/>
          <a:ln/>
        </p:spPr>
        <p:txBody>
          <a:bodyPr wrap="square" lIns="0" tIns="0" rIns="0" bIns="0" rtlCol="0" anchor="t"/>
          <a:lstStyle/>
          <a:p>
            <a:pPr indent="0" marL="0">
              <a:buNone/>
            </a:pPr>
            <a:r>
              <a:rPr lang="en-US" sz="1100" dirty="0">
                <a:solidFill>
                  <a:srgbClr val="1B2230"/>
                </a:solidFill>
                <a:latin typeface="Calibri" pitchFamily="34" charset="0"/>
                <a:ea typeface="Calibri" pitchFamily="34" charset="-122"/>
                <a:cs typeface="Calibri" pitchFamily="34" charset="-120"/>
              </a:rPr>
              <a:t>n = 7,244 · no mortality benefit from routine aspiration</a:t>
            </a:r>
            <a:endParaRPr lang="en-US" sz="1100" dirty="0"/>
          </a:p>
        </p:txBody>
      </p:sp>
      <p:pic>
        <p:nvPicPr>
          <p:cNvPr id="28" name="Image 2" descr="preencoded.png">    </p:cNvPr>
          <p:cNvPicPr>
            <a:picLocks noChangeAspect="1"/>
          </p:cNvPicPr>
          <p:nvPr/>
        </p:nvPicPr>
        <p:blipFill>
          <a:blip r:embed="rId3"/>
          <a:stretch>
            <a:fillRect/>
          </a:stretch>
        </p:blipFill>
        <p:spPr>
          <a:xfrm>
            <a:off x="5074920" y="2788920"/>
            <a:ext cx="292608" cy="292608"/>
          </a:xfrm>
          <a:prstGeom prst="rect">
            <a:avLst/>
          </a:prstGeom>
        </p:spPr>
      </p:pic>
      <p:sp>
        <p:nvSpPr>
          <p:cNvPr id="29" name="Text 24"/>
          <p:cNvSpPr txBox="1"/>
          <p:nvPr/>
        </p:nvSpPr>
        <p:spPr>
          <a:xfrm>
            <a:off x="5532120" y="2743200"/>
            <a:ext cx="3017520" cy="274320"/>
          </a:xfrm>
          <a:prstGeom prst="rect">
            <a:avLst/>
          </a:prstGeom>
          <a:noFill/>
          <a:ln/>
        </p:spPr>
        <p:txBody>
          <a:bodyPr wrap="square" lIns="0" tIns="0" rIns="0" bIns="0" rtlCol="0" anchor="ctr"/>
          <a:lstStyle/>
          <a:p>
            <a:pPr indent="0" marL="0">
              <a:buNone/>
            </a:pPr>
            <a:r>
              <a:rPr lang="en-US" sz="1300" b="1" dirty="0">
                <a:solidFill>
                  <a:srgbClr val="E5383B"/>
                </a:solidFill>
                <a:latin typeface="Calibri" pitchFamily="34" charset="0"/>
                <a:ea typeface="Calibri" pitchFamily="34" charset="-122"/>
                <a:cs typeface="Calibri" pitchFamily="34" charset="-120"/>
              </a:rPr>
              <a:t>TOTAL</a:t>
            </a:r>
            <a:endParaRPr lang="en-US" sz="1300" dirty="0"/>
          </a:p>
        </p:txBody>
      </p:sp>
      <p:sp>
        <p:nvSpPr>
          <p:cNvPr id="30" name="Text 25"/>
          <p:cNvSpPr txBox="1"/>
          <p:nvPr/>
        </p:nvSpPr>
        <p:spPr>
          <a:xfrm>
            <a:off x="5532120" y="2999232"/>
            <a:ext cx="3017520" cy="457200"/>
          </a:xfrm>
          <a:prstGeom prst="rect">
            <a:avLst/>
          </a:prstGeom>
          <a:noFill/>
          <a:ln/>
        </p:spPr>
        <p:txBody>
          <a:bodyPr wrap="square" lIns="0" tIns="0" rIns="0" bIns="0" rtlCol="0" anchor="t"/>
          <a:lstStyle/>
          <a:p>
            <a:pPr indent="0" marL="0">
              <a:buNone/>
            </a:pPr>
            <a:r>
              <a:rPr lang="en-US" sz="1100" dirty="0">
                <a:solidFill>
                  <a:srgbClr val="1B2230"/>
                </a:solidFill>
                <a:latin typeface="Calibri" pitchFamily="34" charset="0"/>
                <a:ea typeface="Calibri" pitchFamily="34" charset="-122"/>
                <a:cs typeface="Calibri" pitchFamily="34" charset="-120"/>
              </a:rPr>
              <a:t>n = 10,732 · no clinical benefit; excess stroke at 30 days</a:t>
            </a:r>
            <a:endParaRPr lang="en-US" sz="1100" dirty="0"/>
          </a:p>
        </p:txBody>
      </p:sp>
      <p:pic>
        <p:nvPicPr>
          <p:cNvPr id="31" name="Image 3" descr="preencoded.png">    </p:cNvPr>
          <p:cNvPicPr>
            <a:picLocks noChangeAspect="1"/>
          </p:cNvPicPr>
          <p:nvPr/>
        </p:nvPicPr>
        <p:blipFill>
          <a:blip r:embed="rId4"/>
          <a:stretch>
            <a:fillRect/>
          </a:stretch>
        </p:blipFill>
        <p:spPr>
          <a:xfrm>
            <a:off x="5074920" y="3566160"/>
            <a:ext cx="292608" cy="292608"/>
          </a:xfrm>
          <a:prstGeom prst="rect">
            <a:avLst/>
          </a:prstGeom>
        </p:spPr>
      </p:pic>
      <p:sp>
        <p:nvSpPr>
          <p:cNvPr id="32" name="Text 26"/>
          <p:cNvSpPr txBox="1"/>
          <p:nvPr/>
        </p:nvSpPr>
        <p:spPr>
          <a:xfrm>
            <a:off x="5532120" y="3520440"/>
            <a:ext cx="3017520" cy="274320"/>
          </a:xfrm>
          <a:prstGeom prst="rect">
            <a:avLst/>
          </a:prstGeom>
          <a:noFill/>
          <a:ln/>
        </p:spPr>
        <p:txBody>
          <a:bodyPr wrap="square" lIns="0" tIns="0" rIns="0" bIns="0" rtlCol="0" anchor="ctr"/>
          <a:lstStyle/>
          <a:p>
            <a:pPr indent="0" marL="0">
              <a:buNone/>
            </a:pPr>
            <a:r>
              <a:rPr lang="en-US" sz="1300" b="1" dirty="0">
                <a:solidFill>
                  <a:srgbClr val="E5383B"/>
                </a:solidFill>
                <a:latin typeface="Calibri" pitchFamily="34" charset="0"/>
                <a:ea typeface="Calibri" pitchFamily="34" charset="-122"/>
                <a:cs typeface="Calibri" pitchFamily="34" charset="-120"/>
              </a:rPr>
              <a:t>Guidelines</a:t>
            </a:r>
            <a:endParaRPr lang="en-US" sz="1300" dirty="0"/>
          </a:p>
        </p:txBody>
      </p:sp>
      <p:sp>
        <p:nvSpPr>
          <p:cNvPr id="33" name="Text 27"/>
          <p:cNvSpPr txBox="1"/>
          <p:nvPr/>
        </p:nvSpPr>
        <p:spPr>
          <a:xfrm>
            <a:off x="5532120" y="3776472"/>
            <a:ext cx="3017520" cy="457200"/>
          </a:xfrm>
          <a:prstGeom prst="rect">
            <a:avLst/>
          </a:prstGeom>
          <a:noFill/>
          <a:ln/>
        </p:spPr>
        <p:txBody>
          <a:bodyPr wrap="square" lIns="0" tIns="0" rIns="0" bIns="0" rtlCol="0" anchor="t"/>
          <a:lstStyle/>
          <a:p>
            <a:pPr indent="0" marL="0">
              <a:buNone/>
            </a:pPr>
            <a:r>
              <a:rPr lang="en-US" sz="1100" dirty="0">
                <a:solidFill>
                  <a:srgbClr val="1B2230"/>
                </a:solidFill>
                <a:latin typeface="Calibri" pitchFamily="34" charset="0"/>
                <a:ea typeface="Calibri" pitchFamily="34" charset="-122"/>
                <a:cs typeface="Calibri" pitchFamily="34" charset="-120"/>
              </a:rPr>
              <a:t>Routine thrombus aspiration not recommended (ESC Class III)</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03 / 13</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THE INTERVENTION</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enVast: a stent-retriever built for coronary clot</a:t>
            </a:r>
            <a:endParaRPr lang="en-US" sz="3000" dirty="0"/>
          </a:p>
        </p:txBody>
      </p:sp>
      <p:sp>
        <p:nvSpPr>
          <p:cNvPr id="7" name="Text 4"/>
          <p:cNvSpPr txBox="1"/>
          <p:nvPr/>
        </p:nvSpPr>
        <p:spPr>
          <a:xfrm>
            <a:off x="457200" y="1280160"/>
            <a:ext cx="8229600" cy="548640"/>
          </a:xfrm>
          <a:prstGeom prst="rect">
            <a:avLst/>
          </a:prstGeom>
          <a:noFill/>
          <a:ln/>
        </p:spPr>
        <p:txBody>
          <a:bodyPr wrap="square" lIns="0" tIns="0" rIns="0" bIns="0" rtlCol="0" anchor="t"/>
          <a:lstStyle/>
          <a:p>
            <a:pPr indent="0" marL="0">
              <a:buNone/>
            </a:pPr>
            <a:r>
              <a:rPr lang="en-US" sz="1300" dirty="0">
                <a:solidFill>
                  <a:srgbClr val="5E6778"/>
                </a:solidFill>
                <a:latin typeface="Calibri" pitchFamily="34" charset="0"/>
                <a:ea typeface="Calibri" pitchFamily="34" charset="-122"/>
                <a:cs typeface="Calibri" pitchFamily="34" charset="-120"/>
              </a:rPr>
              <a:t>Developed by Vesalio from its NeVa neurovascular thrombectomy platform, enVast captures and removes thrombus mechanically before the operator balloons or stents the culprit lesion.</a:t>
            </a:r>
            <a:endParaRPr lang="en-US" sz="1300" dirty="0"/>
          </a:p>
        </p:txBody>
      </p:sp>
      <p:sp>
        <p:nvSpPr>
          <p:cNvPr id="8" name="Shape 5"/>
          <p:cNvSpPr/>
          <p:nvPr/>
        </p:nvSpPr>
        <p:spPr>
          <a:xfrm>
            <a:off x="457200" y="2057400"/>
            <a:ext cx="2514600" cy="2331720"/>
          </a:xfrm>
          <a:prstGeom prst="roundRect">
            <a:avLst>
              <a:gd name="adj" fmla="val 4706"/>
            </a:avLst>
          </a:prstGeom>
          <a:solidFill>
            <a:srgbClr val="FFFFFF"/>
          </a:solidFill>
          <a:ln w="12700">
            <a:solidFill>
              <a:srgbClr val="E4E7EC"/>
            </a:solidFill>
            <a:prstDash val="solid"/>
          </a:ln>
          <a:effectLst>
            <a:outerShdw sx="100000" sy="100000" kx="0" ky="0" algn="bl" rotWithShape="0" blurRad="101600" dist="25400" dir="5400000">
              <a:srgbClr val="000000">
                <a:alpha val="8000"/>
              </a:srgbClr>
            </a:outerShdw>
          </a:effectLst>
        </p:spPr>
      </p:sp>
      <p:sp>
        <p:nvSpPr>
          <p:cNvPr id="9" name="Shape 6"/>
          <p:cNvSpPr/>
          <p:nvPr/>
        </p:nvSpPr>
        <p:spPr>
          <a:xfrm>
            <a:off x="731520" y="2286000"/>
            <a:ext cx="640080" cy="640080"/>
          </a:xfrm>
          <a:prstGeom prst="ellipse">
            <a:avLst/>
          </a:prstGeom>
          <a:solidFill>
            <a:srgbClr val="E5383B"/>
          </a:solidFill>
          <a:ln w="12700">
            <a:solidFill>
              <a:srgbClr val="E5383B"/>
            </a:solidFill>
            <a:prstDash val="solid"/>
          </a:ln>
        </p:spPr>
      </p:sp>
      <p:pic>
        <p:nvPicPr>
          <p:cNvPr id="10" name="Image 1" descr="preencoded.png">    </p:cNvPr>
          <p:cNvPicPr>
            <a:picLocks noChangeAspect="1"/>
          </p:cNvPicPr>
          <p:nvPr/>
        </p:nvPicPr>
        <p:blipFill>
          <a:blip r:embed="rId2"/>
          <a:stretch>
            <a:fillRect/>
          </a:stretch>
        </p:blipFill>
        <p:spPr>
          <a:xfrm>
            <a:off x="897941" y="2452421"/>
            <a:ext cx="307238" cy="307238"/>
          </a:xfrm>
          <a:prstGeom prst="rect">
            <a:avLst/>
          </a:prstGeom>
        </p:spPr>
      </p:pic>
      <p:sp>
        <p:nvSpPr>
          <p:cNvPr id="11" name="Text 7"/>
          <p:cNvSpPr txBox="1"/>
          <p:nvPr/>
        </p:nvSpPr>
        <p:spPr>
          <a:xfrm>
            <a:off x="1508760" y="2395728"/>
            <a:ext cx="1280160" cy="274320"/>
          </a:xfrm>
          <a:prstGeom prst="rect">
            <a:avLst/>
          </a:prstGeom>
          <a:noFill/>
          <a:ln/>
        </p:spPr>
        <p:txBody>
          <a:bodyPr wrap="square" lIns="0" tIns="0" rIns="0" bIns="0" rtlCol="0" anchor="ctr"/>
          <a:lstStyle/>
          <a:p>
            <a:pPr indent="0" marL="0">
              <a:buNone/>
            </a:pPr>
            <a:r>
              <a:rPr lang="en-US" sz="1000" b="1" spc="300" kern="0" dirty="0">
                <a:solidFill>
                  <a:srgbClr val="5E6778"/>
                </a:solidFill>
                <a:latin typeface="Calibri" pitchFamily="34" charset="0"/>
                <a:ea typeface="Calibri" pitchFamily="34" charset="-122"/>
                <a:cs typeface="Calibri" pitchFamily="34" charset="-120"/>
              </a:rPr>
              <a:t>STEP 1</a:t>
            </a:r>
            <a:endParaRPr lang="en-US" sz="1000" dirty="0"/>
          </a:p>
        </p:txBody>
      </p:sp>
      <p:sp>
        <p:nvSpPr>
          <p:cNvPr id="12" name="Text 8"/>
          <p:cNvSpPr txBox="1"/>
          <p:nvPr/>
        </p:nvSpPr>
        <p:spPr>
          <a:xfrm>
            <a:off x="731520" y="3108960"/>
            <a:ext cx="2057400" cy="320040"/>
          </a:xfrm>
          <a:prstGeom prst="rect">
            <a:avLst/>
          </a:prstGeom>
          <a:noFill/>
          <a:ln/>
        </p:spPr>
        <p:txBody>
          <a:bodyPr wrap="square" lIns="0" tIns="0" rIns="0" bIns="0" rtlCol="0" anchor="ctr"/>
          <a:lstStyle/>
          <a:p>
            <a:pPr indent="0" marL="0">
              <a:buNone/>
            </a:pPr>
            <a:r>
              <a:rPr lang="en-US" sz="1700" b="1" dirty="0">
                <a:solidFill>
                  <a:srgbClr val="1B2230"/>
                </a:solidFill>
                <a:latin typeface="Cambria" pitchFamily="34" charset="0"/>
                <a:ea typeface="Cambria" pitchFamily="34" charset="-122"/>
                <a:cs typeface="Cambria" pitchFamily="34" charset="-120"/>
              </a:rPr>
              <a:t>Cross &amp; deploy</a:t>
            </a:r>
            <a:endParaRPr lang="en-US" sz="1700" dirty="0"/>
          </a:p>
        </p:txBody>
      </p:sp>
      <p:sp>
        <p:nvSpPr>
          <p:cNvPr id="13" name="Text 9"/>
          <p:cNvSpPr txBox="1"/>
          <p:nvPr/>
        </p:nvSpPr>
        <p:spPr>
          <a:xfrm>
            <a:off x="731520" y="3474720"/>
            <a:ext cx="2057400" cy="777240"/>
          </a:xfrm>
          <a:prstGeom prst="rect">
            <a:avLst/>
          </a:prstGeom>
          <a:noFill/>
          <a:ln/>
        </p:spPr>
        <p:txBody>
          <a:bodyPr wrap="square" lIns="0" tIns="0" rIns="0" bIns="0" rtlCol="0" anchor="t"/>
          <a:lstStyle/>
          <a:p>
            <a:pPr indent="0" marL="0">
              <a:buNone/>
            </a:pPr>
            <a:r>
              <a:rPr lang="en-US" sz="1200" dirty="0">
                <a:solidFill>
                  <a:srgbClr val="5E6778"/>
                </a:solidFill>
                <a:latin typeface="Calibri" pitchFamily="34" charset="0"/>
                <a:ea typeface="Calibri" pitchFamily="34" charset="-122"/>
                <a:cs typeface="Calibri" pitchFamily="34" charset="-120"/>
              </a:rPr>
              <a:t>Wire the infarct-related artery and deploy the retriever across the thrombus.</a:t>
            </a:r>
            <a:endParaRPr lang="en-US" sz="1200" dirty="0"/>
          </a:p>
        </p:txBody>
      </p:sp>
      <p:pic>
        <p:nvPicPr>
          <p:cNvPr id="14" name="Image 2" descr="preencoded.png">    </p:cNvPr>
          <p:cNvPicPr>
            <a:picLocks noChangeAspect="1"/>
          </p:cNvPicPr>
          <p:nvPr/>
        </p:nvPicPr>
        <p:blipFill>
          <a:blip r:embed="rId3"/>
          <a:stretch>
            <a:fillRect/>
          </a:stretch>
        </p:blipFill>
        <p:spPr>
          <a:xfrm>
            <a:off x="3044952" y="3108960"/>
            <a:ext cx="228600" cy="228600"/>
          </a:xfrm>
          <a:prstGeom prst="rect">
            <a:avLst/>
          </a:prstGeom>
        </p:spPr>
      </p:pic>
      <p:sp>
        <p:nvSpPr>
          <p:cNvPr id="15" name="Shape 10"/>
          <p:cNvSpPr/>
          <p:nvPr/>
        </p:nvSpPr>
        <p:spPr>
          <a:xfrm>
            <a:off x="3337560" y="2057400"/>
            <a:ext cx="2514600" cy="2331720"/>
          </a:xfrm>
          <a:prstGeom prst="roundRect">
            <a:avLst>
              <a:gd name="adj" fmla="val 4706"/>
            </a:avLst>
          </a:prstGeom>
          <a:solidFill>
            <a:srgbClr val="FFFFFF"/>
          </a:solidFill>
          <a:ln w="12700">
            <a:solidFill>
              <a:srgbClr val="E4E7EC"/>
            </a:solidFill>
            <a:prstDash val="solid"/>
          </a:ln>
          <a:effectLst>
            <a:outerShdw sx="100000" sy="100000" kx="0" ky="0" algn="bl" rotWithShape="0" blurRad="101600" dist="25400" dir="5400000">
              <a:srgbClr val="000000">
                <a:alpha val="8000"/>
              </a:srgbClr>
            </a:outerShdw>
          </a:effectLst>
        </p:spPr>
      </p:sp>
      <p:sp>
        <p:nvSpPr>
          <p:cNvPr id="16" name="Shape 11"/>
          <p:cNvSpPr/>
          <p:nvPr/>
        </p:nvSpPr>
        <p:spPr>
          <a:xfrm>
            <a:off x="3611880" y="2286000"/>
            <a:ext cx="640080" cy="640080"/>
          </a:xfrm>
          <a:prstGeom prst="ellipse">
            <a:avLst/>
          </a:prstGeom>
          <a:solidFill>
            <a:srgbClr val="E5383B"/>
          </a:solidFill>
          <a:ln w="12700">
            <a:solidFill>
              <a:srgbClr val="E5383B"/>
            </a:solidFill>
            <a:prstDash val="solid"/>
          </a:ln>
        </p:spPr>
      </p:sp>
      <p:pic>
        <p:nvPicPr>
          <p:cNvPr id="17" name="Image 3" descr="preencoded.png">    </p:cNvPr>
          <p:cNvPicPr>
            <a:picLocks noChangeAspect="1"/>
          </p:cNvPicPr>
          <p:nvPr/>
        </p:nvPicPr>
        <p:blipFill>
          <a:blip r:embed="rId4"/>
          <a:stretch>
            <a:fillRect/>
          </a:stretch>
        </p:blipFill>
        <p:spPr>
          <a:xfrm>
            <a:off x="3778301" y="2452421"/>
            <a:ext cx="307238" cy="307238"/>
          </a:xfrm>
          <a:prstGeom prst="rect">
            <a:avLst/>
          </a:prstGeom>
        </p:spPr>
      </p:pic>
      <p:sp>
        <p:nvSpPr>
          <p:cNvPr id="18" name="Text 12"/>
          <p:cNvSpPr txBox="1"/>
          <p:nvPr/>
        </p:nvSpPr>
        <p:spPr>
          <a:xfrm>
            <a:off x="4389120" y="2395728"/>
            <a:ext cx="1280160" cy="274320"/>
          </a:xfrm>
          <a:prstGeom prst="rect">
            <a:avLst/>
          </a:prstGeom>
          <a:noFill/>
          <a:ln/>
        </p:spPr>
        <p:txBody>
          <a:bodyPr wrap="square" lIns="0" tIns="0" rIns="0" bIns="0" rtlCol="0" anchor="ctr"/>
          <a:lstStyle/>
          <a:p>
            <a:pPr indent="0" marL="0">
              <a:buNone/>
            </a:pPr>
            <a:r>
              <a:rPr lang="en-US" sz="1000" b="1" spc="300" kern="0" dirty="0">
                <a:solidFill>
                  <a:srgbClr val="5E6778"/>
                </a:solidFill>
                <a:latin typeface="Calibri" pitchFamily="34" charset="0"/>
                <a:ea typeface="Calibri" pitchFamily="34" charset="-122"/>
                <a:cs typeface="Calibri" pitchFamily="34" charset="-120"/>
              </a:rPr>
              <a:t>STEP 2</a:t>
            </a:r>
            <a:endParaRPr lang="en-US" sz="1000" dirty="0"/>
          </a:p>
        </p:txBody>
      </p:sp>
      <p:sp>
        <p:nvSpPr>
          <p:cNvPr id="19" name="Text 13"/>
          <p:cNvSpPr txBox="1"/>
          <p:nvPr/>
        </p:nvSpPr>
        <p:spPr>
          <a:xfrm>
            <a:off x="3611880" y="3108960"/>
            <a:ext cx="2057400" cy="320040"/>
          </a:xfrm>
          <a:prstGeom prst="rect">
            <a:avLst/>
          </a:prstGeom>
          <a:noFill/>
          <a:ln/>
        </p:spPr>
        <p:txBody>
          <a:bodyPr wrap="square" lIns="0" tIns="0" rIns="0" bIns="0" rtlCol="0" anchor="ctr"/>
          <a:lstStyle/>
          <a:p>
            <a:pPr indent="0" marL="0">
              <a:buNone/>
            </a:pPr>
            <a:r>
              <a:rPr lang="en-US" sz="1700" b="1" dirty="0">
                <a:solidFill>
                  <a:srgbClr val="1B2230"/>
                </a:solidFill>
                <a:latin typeface="Cambria" pitchFamily="34" charset="0"/>
                <a:ea typeface="Cambria" pitchFamily="34" charset="-122"/>
                <a:cs typeface="Cambria" pitchFamily="34" charset="-120"/>
              </a:rPr>
              <a:t>Capture</a:t>
            </a:r>
            <a:endParaRPr lang="en-US" sz="1700" dirty="0"/>
          </a:p>
        </p:txBody>
      </p:sp>
      <p:sp>
        <p:nvSpPr>
          <p:cNvPr id="20" name="Text 14"/>
          <p:cNvSpPr txBox="1"/>
          <p:nvPr/>
        </p:nvSpPr>
        <p:spPr>
          <a:xfrm>
            <a:off x="3611880" y="3474720"/>
            <a:ext cx="2057400" cy="777240"/>
          </a:xfrm>
          <a:prstGeom prst="rect">
            <a:avLst/>
          </a:prstGeom>
          <a:noFill/>
          <a:ln/>
        </p:spPr>
        <p:txBody>
          <a:bodyPr wrap="square" lIns="0" tIns="0" rIns="0" bIns="0" rtlCol="0" anchor="t"/>
          <a:lstStyle/>
          <a:p>
            <a:pPr indent="0" marL="0">
              <a:buNone/>
            </a:pPr>
            <a:r>
              <a:rPr lang="en-US" sz="1200" dirty="0">
                <a:solidFill>
                  <a:srgbClr val="5E6778"/>
                </a:solidFill>
                <a:latin typeface="Calibri" pitchFamily="34" charset="0"/>
                <a:ea typeface="Calibri" pitchFamily="34" charset="-122"/>
                <a:cs typeface="Calibri" pitchFamily="34" charset="-120"/>
              </a:rPr>
              <a:t>The clot is engaged and held within the device’s struts.</a:t>
            </a:r>
            <a:endParaRPr lang="en-US" sz="1200" dirty="0"/>
          </a:p>
        </p:txBody>
      </p:sp>
      <p:pic>
        <p:nvPicPr>
          <p:cNvPr id="21" name="Image 4" descr="preencoded.png">    </p:cNvPr>
          <p:cNvPicPr>
            <a:picLocks noChangeAspect="1"/>
          </p:cNvPicPr>
          <p:nvPr/>
        </p:nvPicPr>
        <p:blipFill>
          <a:blip r:embed="rId5"/>
          <a:stretch>
            <a:fillRect/>
          </a:stretch>
        </p:blipFill>
        <p:spPr>
          <a:xfrm>
            <a:off x="5925312" y="3108960"/>
            <a:ext cx="228600" cy="228600"/>
          </a:xfrm>
          <a:prstGeom prst="rect">
            <a:avLst/>
          </a:prstGeom>
        </p:spPr>
      </p:pic>
      <p:sp>
        <p:nvSpPr>
          <p:cNvPr id="22" name="Shape 15"/>
          <p:cNvSpPr/>
          <p:nvPr/>
        </p:nvSpPr>
        <p:spPr>
          <a:xfrm>
            <a:off x="6217920" y="2057400"/>
            <a:ext cx="2514600" cy="2331720"/>
          </a:xfrm>
          <a:prstGeom prst="roundRect">
            <a:avLst>
              <a:gd name="adj" fmla="val 4706"/>
            </a:avLst>
          </a:prstGeom>
          <a:solidFill>
            <a:srgbClr val="FFFFFF"/>
          </a:solidFill>
          <a:ln w="12700">
            <a:solidFill>
              <a:srgbClr val="E4E7EC"/>
            </a:solidFill>
            <a:prstDash val="solid"/>
          </a:ln>
          <a:effectLst>
            <a:outerShdw sx="100000" sy="100000" kx="0" ky="0" algn="bl" rotWithShape="0" blurRad="101600" dist="25400" dir="5400000">
              <a:srgbClr val="000000">
                <a:alpha val="8000"/>
              </a:srgbClr>
            </a:outerShdw>
          </a:effectLst>
        </p:spPr>
      </p:sp>
      <p:sp>
        <p:nvSpPr>
          <p:cNvPr id="23" name="Shape 16"/>
          <p:cNvSpPr/>
          <p:nvPr/>
        </p:nvSpPr>
        <p:spPr>
          <a:xfrm>
            <a:off x="6492240" y="2286000"/>
            <a:ext cx="640080" cy="640080"/>
          </a:xfrm>
          <a:prstGeom prst="ellipse">
            <a:avLst/>
          </a:prstGeom>
          <a:solidFill>
            <a:srgbClr val="1FA99C"/>
          </a:solidFill>
          <a:ln w="12700">
            <a:solidFill>
              <a:srgbClr val="1FA99C"/>
            </a:solidFill>
            <a:prstDash val="solid"/>
          </a:ln>
        </p:spPr>
      </p:sp>
      <p:pic>
        <p:nvPicPr>
          <p:cNvPr id="24" name="Image 5" descr="preencoded.png">    </p:cNvPr>
          <p:cNvPicPr>
            <a:picLocks noChangeAspect="1"/>
          </p:cNvPicPr>
          <p:nvPr/>
        </p:nvPicPr>
        <p:blipFill>
          <a:blip r:embed="rId6"/>
          <a:stretch>
            <a:fillRect/>
          </a:stretch>
        </p:blipFill>
        <p:spPr>
          <a:xfrm>
            <a:off x="6658661" y="2452421"/>
            <a:ext cx="307238" cy="307238"/>
          </a:xfrm>
          <a:prstGeom prst="rect">
            <a:avLst/>
          </a:prstGeom>
        </p:spPr>
      </p:pic>
      <p:sp>
        <p:nvSpPr>
          <p:cNvPr id="25" name="Text 17"/>
          <p:cNvSpPr txBox="1"/>
          <p:nvPr/>
        </p:nvSpPr>
        <p:spPr>
          <a:xfrm>
            <a:off x="7269480" y="2395728"/>
            <a:ext cx="1280160" cy="274320"/>
          </a:xfrm>
          <a:prstGeom prst="rect">
            <a:avLst/>
          </a:prstGeom>
          <a:noFill/>
          <a:ln/>
        </p:spPr>
        <p:txBody>
          <a:bodyPr wrap="square" lIns="0" tIns="0" rIns="0" bIns="0" rtlCol="0" anchor="ctr"/>
          <a:lstStyle/>
          <a:p>
            <a:pPr indent="0" marL="0">
              <a:buNone/>
            </a:pPr>
            <a:r>
              <a:rPr lang="en-US" sz="1000" b="1" spc="300" kern="0" dirty="0">
                <a:solidFill>
                  <a:srgbClr val="5E6778"/>
                </a:solidFill>
                <a:latin typeface="Calibri" pitchFamily="34" charset="0"/>
                <a:ea typeface="Calibri" pitchFamily="34" charset="-122"/>
                <a:cs typeface="Calibri" pitchFamily="34" charset="-120"/>
              </a:rPr>
              <a:t>STEP 3</a:t>
            </a:r>
            <a:endParaRPr lang="en-US" sz="1000" dirty="0"/>
          </a:p>
        </p:txBody>
      </p:sp>
      <p:sp>
        <p:nvSpPr>
          <p:cNvPr id="26" name="Text 18"/>
          <p:cNvSpPr txBox="1"/>
          <p:nvPr/>
        </p:nvSpPr>
        <p:spPr>
          <a:xfrm>
            <a:off x="6492240" y="3108960"/>
            <a:ext cx="2057400" cy="320040"/>
          </a:xfrm>
          <a:prstGeom prst="rect">
            <a:avLst/>
          </a:prstGeom>
          <a:noFill/>
          <a:ln/>
        </p:spPr>
        <p:txBody>
          <a:bodyPr wrap="square" lIns="0" tIns="0" rIns="0" bIns="0" rtlCol="0" anchor="ctr"/>
          <a:lstStyle/>
          <a:p>
            <a:pPr indent="0" marL="0">
              <a:buNone/>
            </a:pPr>
            <a:r>
              <a:rPr lang="en-US" sz="1700" b="1" dirty="0">
                <a:solidFill>
                  <a:srgbClr val="1B2230"/>
                </a:solidFill>
                <a:latin typeface="Cambria" pitchFamily="34" charset="0"/>
                <a:ea typeface="Cambria" pitchFamily="34" charset="-122"/>
                <a:cs typeface="Cambria" pitchFamily="34" charset="-120"/>
              </a:rPr>
              <a:t>Retrieve, then PCI</a:t>
            </a:r>
            <a:endParaRPr lang="en-US" sz="1700" dirty="0"/>
          </a:p>
        </p:txBody>
      </p:sp>
      <p:sp>
        <p:nvSpPr>
          <p:cNvPr id="27" name="Text 19"/>
          <p:cNvSpPr txBox="1"/>
          <p:nvPr/>
        </p:nvSpPr>
        <p:spPr>
          <a:xfrm>
            <a:off x="6492240" y="3474720"/>
            <a:ext cx="2057400" cy="777240"/>
          </a:xfrm>
          <a:prstGeom prst="rect">
            <a:avLst/>
          </a:prstGeom>
          <a:noFill/>
          <a:ln/>
        </p:spPr>
        <p:txBody>
          <a:bodyPr wrap="square" lIns="0" tIns="0" rIns="0" bIns="0" rtlCol="0" anchor="t"/>
          <a:lstStyle/>
          <a:p>
            <a:pPr indent="0" marL="0">
              <a:buNone/>
            </a:pPr>
            <a:r>
              <a:rPr lang="en-US" sz="1200" dirty="0">
                <a:solidFill>
                  <a:srgbClr val="5E6778"/>
                </a:solidFill>
                <a:latin typeface="Calibri" pitchFamily="34" charset="0"/>
                <a:ea typeface="Calibri" pitchFamily="34" charset="-122"/>
                <a:cs typeface="Calibri" pitchFamily="34" charset="-120"/>
              </a:rPr>
              <a:t>Withdraw device and clot together, then complete conventional PCI.</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04 / 13</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TRIAL DESIGN</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Prospective, multicentre, randomised 1 : 1</a:t>
            </a:r>
            <a:endParaRPr lang="en-US" sz="3000" dirty="0"/>
          </a:p>
        </p:txBody>
      </p:sp>
      <p:sp>
        <p:nvSpPr>
          <p:cNvPr id="7" name="Shape 4"/>
          <p:cNvSpPr/>
          <p:nvPr/>
        </p:nvSpPr>
        <p:spPr>
          <a:xfrm>
            <a:off x="457200" y="1371600"/>
            <a:ext cx="5120640" cy="640080"/>
          </a:xfrm>
          <a:prstGeom prst="roundRect">
            <a:avLst>
              <a:gd name="adj" fmla="val 14286"/>
            </a:avLst>
          </a:prstGeom>
          <a:solidFill>
            <a:srgbClr val="0E1117"/>
          </a:solidFill>
          <a:ln w="12700">
            <a:solidFill>
              <a:srgbClr val="0E1117"/>
            </a:solidFill>
            <a:prstDash val="solid"/>
          </a:ln>
        </p:spPr>
      </p:sp>
      <p:pic>
        <p:nvPicPr>
          <p:cNvPr id="8" name="Image 1" descr="preencoded.png">    </p:cNvPr>
          <p:cNvPicPr>
            <a:picLocks noChangeAspect="1"/>
          </p:cNvPicPr>
          <p:nvPr/>
        </p:nvPicPr>
        <p:blipFill>
          <a:blip r:embed="rId2"/>
          <a:stretch>
            <a:fillRect/>
          </a:stretch>
        </p:blipFill>
        <p:spPr>
          <a:xfrm>
            <a:off x="640080" y="1517904"/>
            <a:ext cx="347472" cy="347472"/>
          </a:xfrm>
          <a:prstGeom prst="rect">
            <a:avLst/>
          </a:prstGeom>
        </p:spPr>
      </p:pic>
      <p:sp>
        <p:nvSpPr>
          <p:cNvPr id="9" name="Text 5"/>
          <p:cNvSpPr txBox="1"/>
          <p:nvPr/>
        </p:nvSpPr>
        <p:spPr>
          <a:xfrm>
            <a:off x="1143000" y="1371600"/>
            <a:ext cx="4297680" cy="6400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154 STEMI patients</a:t>
            </a:r>
            <a:endParaRPr lang="en-US" sz="1500" dirty="0"/>
          </a:p>
          <a:p>
            <a:pPr indent="0" marL="0">
              <a:buNone/>
            </a:pPr>
            <a:r>
              <a:rPr lang="en-US" sz="1100" dirty="0">
                <a:solidFill>
                  <a:srgbClr val="F4B6BB"/>
                </a:solidFill>
                <a:latin typeface="Calibri" pitchFamily="34" charset="0"/>
                <a:ea typeface="Calibri" pitchFamily="34" charset="-122"/>
                <a:cs typeface="Calibri" pitchFamily="34" charset="-120"/>
              </a:rPr>
              <a:t>large thrombus burden · 11 centres</a:t>
            </a:r>
            <a:endParaRPr lang="en-US" sz="1500" dirty="0"/>
          </a:p>
        </p:txBody>
      </p:sp>
      <p:pic>
        <p:nvPicPr>
          <p:cNvPr id="10" name="Image 2" descr="preencoded.png">    </p:cNvPr>
          <p:cNvPicPr>
            <a:picLocks noChangeAspect="1"/>
          </p:cNvPicPr>
          <p:nvPr/>
        </p:nvPicPr>
        <p:blipFill>
          <a:blip r:embed="rId3"/>
          <a:stretch>
            <a:fillRect/>
          </a:stretch>
        </p:blipFill>
        <p:spPr>
          <a:xfrm>
            <a:off x="2907792" y="2075688"/>
            <a:ext cx="219456" cy="219456"/>
          </a:xfrm>
          <a:prstGeom prst="rect">
            <a:avLst/>
          </a:prstGeom>
        </p:spPr>
      </p:pic>
      <p:sp>
        <p:nvSpPr>
          <p:cNvPr id="11" name="Shape 6"/>
          <p:cNvSpPr/>
          <p:nvPr/>
        </p:nvSpPr>
        <p:spPr>
          <a:xfrm>
            <a:off x="1828800" y="2350008"/>
            <a:ext cx="2377440" cy="384048"/>
          </a:xfrm>
          <a:prstGeom prst="roundRect">
            <a:avLst>
              <a:gd name="adj" fmla="val 50000"/>
            </a:avLst>
          </a:prstGeom>
          <a:solidFill>
            <a:srgbClr val="E5383B"/>
          </a:solidFill>
          <a:ln w="12700">
            <a:solidFill>
              <a:srgbClr val="E5383B"/>
            </a:solidFill>
            <a:prstDash val="solid"/>
          </a:ln>
        </p:spPr>
      </p:sp>
      <p:sp>
        <p:nvSpPr>
          <p:cNvPr id="12" name="Text 7"/>
          <p:cNvSpPr txBox="1"/>
          <p:nvPr/>
        </p:nvSpPr>
        <p:spPr>
          <a:xfrm>
            <a:off x="1828800" y="2350008"/>
            <a:ext cx="2377440" cy="384048"/>
          </a:xfrm>
          <a:prstGeom prst="rect">
            <a:avLst/>
          </a:prstGeom>
          <a:noFill/>
          <a:ln/>
        </p:spPr>
        <p:txBody>
          <a:bodyPr wrap="square" lIns="0" tIns="0" rIns="0" bIns="0" rtlCol="0" anchor="ctr"/>
          <a:lstStyle/>
          <a:p>
            <a:pPr algn="ctr" indent="0" marL="0">
              <a:buNone/>
            </a:pPr>
            <a:r>
              <a:rPr lang="en-US" sz="1100" b="1" spc="300" kern="0" dirty="0">
                <a:solidFill>
                  <a:srgbClr val="FFFFFF"/>
                </a:solidFill>
                <a:latin typeface="Calibri" pitchFamily="34" charset="0"/>
                <a:ea typeface="Calibri" pitchFamily="34" charset="-122"/>
                <a:cs typeface="Calibri" pitchFamily="34" charset="-120"/>
              </a:rPr>
              <a:t>RANDOMISED 1 : 1</a:t>
            </a:r>
            <a:endParaRPr lang="en-US" sz="1100" dirty="0"/>
          </a:p>
        </p:txBody>
      </p:sp>
      <p:pic>
        <p:nvPicPr>
          <p:cNvPr id="13" name="Image 3" descr="preencoded.png">    </p:cNvPr>
          <p:cNvPicPr>
            <a:picLocks noChangeAspect="1"/>
          </p:cNvPicPr>
          <p:nvPr/>
        </p:nvPicPr>
        <p:blipFill>
          <a:blip r:embed="rId4"/>
          <a:stretch>
            <a:fillRect/>
          </a:stretch>
        </p:blipFill>
        <p:spPr>
          <a:xfrm>
            <a:off x="1600200" y="2798064"/>
            <a:ext cx="219456" cy="219456"/>
          </a:xfrm>
          <a:prstGeom prst="rect">
            <a:avLst/>
          </a:prstGeom>
        </p:spPr>
      </p:pic>
      <p:pic>
        <p:nvPicPr>
          <p:cNvPr id="14" name="Image 4" descr="preencoded.png">    </p:cNvPr>
          <p:cNvPicPr>
            <a:picLocks noChangeAspect="1"/>
          </p:cNvPicPr>
          <p:nvPr/>
        </p:nvPicPr>
        <p:blipFill>
          <a:blip r:embed="rId5"/>
          <a:stretch>
            <a:fillRect/>
          </a:stretch>
        </p:blipFill>
        <p:spPr>
          <a:xfrm>
            <a:off x="4215384" y="2798064"/>
            <a:ext cx="219456" cy="219456"/>
          </a:xfrm>
          <a:prstGeom prst="rect">
            <a:avLst/>
          </a:prstGeom>
        </p:spPr>
      </p:pic>
      <p:sp>
        <p:nvSpPr>
          <p:cNvPr id="15" name="Shape 8"/>
          <p:cNvSpPr/>
          <p:nvPr/>
        </p:nvSpPr>
        <p:spPr>
          <a:xfrm>
            <a:off x="457200" y="3081528"/>
            <a:ext cx="2468880" cy="731520"/>
          </a:xfrm>
          <a:prstGeom prst="roundRect">
            <a:avLst>
              <a:gd name="adj" fmla="val 12500"/>
            </a:avLst>
          </a:prstGeom>
          <a:solidFill>
            <a:srgbClr val="1FA99C"/>
          </a:solidFill>
          <a:ln w="12700">
            <a:solidFill>
              <a:srgbClr val="1FA99C"/>
            </a:solidFill>
            <a:prstDash val="solid"/>
          </a:ln>
        </p:spPr>
      </p:sp>
      <p:sp>
        <p:nvSpPr>
          <p:cNvPr id="16" name="Text 9"/>
          <p:cNvSpPr txBox="1"/>
          <p:nvPr/>
        </p:nvSpPr>
        <p:spPr>
          <a:xfrm>
            <a:off x="640080" y="3081528"/>
            <a:ext cx="2103120" cy="7315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enVast thrombectomy</a:t>
            </a:r>
            <a:endParaRPr lang="en-US" sz="1400" dirty="0"/>
          </a:p>
          <a:p>
            <a:pPr indent="0" marL="0">
              <a:buNone/>
            </a:pPr>
            <a:r>
              <a:rPr lang="en-US" sz="1100" dirty="0">
                <a:solidFill>
                  <a:srgbClr val="FFFFFF"/>
                </a:solidFill>
                <a:latin typeface="Calibri" pitchFamily="34" charset="0"/>
                <a:ea typeface="Calibri" pitchFamily="34" charset="-122"/>
                <a:cs typeface="Calibri" pitchFamily="34" charset="-120"/>
              </a:rPr>
              <a:t>then conventional PCI</a:t>
            </a:r>
            <a:endParaRPr lang="en-US" sz="1400" dirty="0"/>
          </a:p>
        </p:txBody>
      </p:sp>
      <p:sp>
        <p:nvSpPr>
          <p:cNvPr id="17" name="Shape 10"/>
          <p:cNvSpPr/>
          <p:nvPr/>
        </p:nvSpPr>
        <p:spPr>
          <a:xfrm>
            <a:off x="3108960" y="3081528"/>
            <a:ext cx="2468880" cy="731520"/>
          </a:xfrm>
          <a:prstGeom prst="roundRect">
            <a:avLst>
              <a:gd name="adj" fmla="val 12500"/>
            </a:avLst>
          </a:prstGeom>
          <a:solidFill>
            <a:srgbClr val="8A93A6"/>
          </a:solidFill>
          <a:ln w="12700">
            <a:solidFill>
              <a:srgbClr val="8A93A6"/>
            </a:solidFill>
            <a:prstDash val="solid"/>
          </a:ln>
        </p:spPr>
      </p:sp>
      <p:sp>
        <p:nvSpPr>
          <p:cNvPr id="18" name="Text 11"/>
          <p:cNvSpPr txBox="1"/>
          <p:nvPr/>
        </p:nvSpPr>
        <p:spPr>
          <a:xfrm>
            <a:off x="3291840" y="3081528"/>
            <a:ext cx="2103120" cy="7315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Standard of care</a:t>
            </a:r>
            <a:endParaRPr lang="en-US" sz="1400" dirty="0"/>
          </a:p>
          <a:p>
            <a:pPr indent="0" marL="0">
              <a:buNone/>
            </a:pPr>
            <a:r>
              <a:rPr lang="en-US" sz="1100" dirty="0">
                <a:solidFill>
                  <a:srgbClr val="FFFFFF"/>
                </a:solidFill>
                <a:latin typeface="Calibri" pitchFamily="34" charset="0"/>
                <a:ea typeface="Calibri" pitchFamily="34" charset="-122"/>
                <a:cs typeface="Calibri" pitchFamily="34" charset="-120"/>
              </a:rPr>
              <a:t>conventional primary PCI</a:t>
            </a:r>
            <a:endParaRPr lang="en-US" sz="1400" dirty="0"/>
          </a:p>
        </p:txBody>
      </p:sp>
      <p:sp>
        <p:nvSpPr>
          <p:cNvPr id="19" name="Text 12"/>
          <p:cNvSpPr txBox="1"/>
          <p:nvPr/>
        </p:nvSpPr>
        <p:spPr>
          <a:xfrm>
            <a:off x="457200" y="3977640"/>
            <a:ext cx="5120640" cy="320040"/>
          </a:xfrm>
          <a:prstGeom prst="rect">
            <a:avLst/>
          </a:prstGeom>
          <a:noFill/>
          <a:ln/>
        </p:spPr>
        <p:txBody>
          <a:bodyPr wrap="square" lIns="0" tIns="0" rIns="0" bIns="0" rtlCol="0" anchor="ctr"/>
          <a:lstStyle/>
          <a:p>
            <a:pPr algn="ctr" indent="0" marL="0">
              <a:buNone/>
            </a:pPr>
            <a:r>
              <a:rPr lang="en-US" sz="1150" i="1" dirty="0">
                <a:solidFill>
                  <a:srgbClr val="5E6778"/>
                </a:solidFill>
                <a:latin typeface="Calibri" pitchFamily="34" charset="0"/>
                <a:ea typeface="Calibri" pitchFamily="34" charset="-122"/>
                <a:cs typeface="Calibri" pitchFamily="34" charset="-120"/>
              </a:rPr>
              <a:t>Follow-up: CK-MB AUC  ·  CMR at day 3  ·  30-day clinical events</a:t>
            </a:r>
            <a:endParaRPr lang="en-US" sz="1150" dirty="0"/>
          </a:p>
        </p:txBody>
      </p:sp>
      <p:sp>
        <p:nvSpPr>
          <p:cNvPr id="20" name="Shape 13"/>
          <p:cNvSpPr/>
          <p:nvPr/>
        </p:nvSpPr>
        <p:spPr>
          <a:xfrm>
            <a:off x="5943600" y="1371600"/>
            <a:ext cx="2743200" cy="2926080"/>
          </a:xfrm>
          <a:prstGeom prst="roundRect">
            <a:avLst>
              <a:gd name="adj" fmla="val 4000"/>
            </a:avLst>
          </a:prstGeom>
          <a:solidFill>
            <a:srgbClr val="F6F7F9"/>
          </a:solidFill>
          <a:ln w="12700">
            <a:solidFill>
              <a:srgbClr val="F6F7F9"/>
            </a:solidFill>
            <a:prstDash val="solid"/>
          </a:ln>
        </p:spPr>
      </p:sp>
      <p:sp>
        <p:nvSpPr>
          <p:cNvPr id="21" name="Text 14"/>
          <p:cNvSpPr txBox="1"/>
          <p:nvPr/>
        </p:nvSpPr>
        <p:spPr>
          <a:xfrm>
            <a:off x="6172200" y="1536192"/>
            <a:ext cx="2377440" cy="228600"/>
          </a:xfrm>
          <a:prstGeom prst="rect">
            <a:avLst/>
          </a:prstGeom>
          <a:noFill/>
          <a:ln/>
        </p:spPr>
        <p:txBody>
          <a:bodyPr wrap="square" lIns="0" tIns="0" rIns="0" bIns="0" rtlCol="0" anchor="ctr"/>
          <a:lstStyle/>
          <a:p>
            <a:pPr indent="0" marL="0">
              <a:buNone/>
            </a:pPr>
            <a:r>
              <a:rPr lang="en-US" sz="950" b="1" spc="200" kern="0" dirty="0">
                <a:solidFill>
                  <a:srgbClr val="E5383B"/>
                </a:solidFill>
                <a:latin typeface="Calibri" pitchFamily="34" charset="0"/>
                <a:ea typeface="Calibri" pitchFamily="34" charset="-122"/>
                <a:cs typeface="Calibri" pitchFamily="34" charset="-120"/>
              </a:rPr>
              <a:t>HYPOTHESIS</a:t>
            </a:r>
            <a:endParaRPr lang="en-US" sz="950" dirty="0"/>
          </a:p>
        </p:txBody>
      </p:sp>
      <p:sp>
        <p:nvSpPr>
          <p:cNvPr id="22" name="Text 15"/>
          <p:cNvSpPr txBox="1"/>
          <p:nvPr/>
        </p:nvSpPr>
        <p:spPr>
          <a:xfrm>
            <a:off x="6172200" y="1755648"/>
            <a:ext cx="2377440" cy="411480"/>
          </a:xfrm>
          <a:prstGeom prst="rect">
            <a:avLst/>
          </a:prstGeom>
          <a:noFill/>
          <a:ln/>
        </p:spPr>
        <p:txBody>
          <a:bodyPr wrap="square" lIns="0" tIns="0" rIns="0" bIns="0" rtlCol="0" anchor="t"/>
          <a:lstStyle/>
          <a:p>
            <a:pPr indent="0" marL="0">
              <a:buNone/>
            </a:pPr>
            <a:r>
              <a:rPr lang="en-US" sz="1200" dirty="0">
                <a:solidFill>
                  <a:srgbClr val="1B2230"/>
                </a:solidFill>
                <a:latin typeface="Calibri" pitchFamily="34" charset="0"/>
                <a:ea typeface="Calibri" pitchFamily="34" charset="-122"/>
                <a:cs typeface="Calibri" pitchFamily="34" charset="-120"/>
              </a:rPr>
              <a:t>Superiority of enVast on infarct size</a:t>
            </a:r>
            <a:endParaRPr lang="en-US" sz="1200" dirty="0"/>
          </a:p>
        </p:txBody>
      </p:sp>
      <p:sp>
        <p:nvSpPr>
          <p:cNvPr id="23" name="Text 16"/>
          <p:cNvSpPr txBox="1"/>
          <p:nvPr/>
        </p:nvSpPr>
        <p:spPr>
          <a:xfrm>
            <a:off x="6172200" y="2212848"/>
            <a:ext cx="2377440" cy="228600"/>
          </a:xfrm>
          <a:prstGeom prst="rect">
            <a:avLst/>
          </a:prstGeom>
          <a:noFill/>
          <a:ln/>
        </p:spPr>
        <p:txBody>
          <a:bodyPr wrap="square" lIns="0" tIns="0" rIns="0" bIns="0" rtlCol="0" anchor="ctr"/>
          <a:lstStyle/>
          <a:p>
            <a:pPr indent="0" marL="0">
              <a:buNone/>
            </a:pPr>
            <a:r>
              <a:rPr lang="en-US" sz="950" b="1" spc="200" kern="0" dirty="0">
                <a:solidFill>
                  <a:srgbClr val="E5383B"/>
                </a:solidFill>
                <a:latin typeface="Calibri" pitchFamily="34" charset="0"/>
                <a:ea typeface="Calibri" pitchFamily="34" charset="-122"/>
                <a:cs typeface="Calibri" pitchFamily="34" charset="-120"/>
              </a:rPr>
              <a:t>PRINCIPAL INVESTIGATOR</a:t>
            </a:r>
            <a:endParaRPr lang="en-US" sz="950" dirty="0"/>
          </a:p>
        </p:txBody>
      </p:sp>
      <p:sp>
        <p:nvSpPr>
          <p:cNvPr id="24" name="Text 17"/>
          <p:cNvSpPr txBox="1"/>
          <p:nvPr/>
        </p:nvSpPr>
        <p:spPr>
          <a:xfrm>
            <a:off x="6172200" y="2432304"/>
            <a:ext cx="2377440" cy="411480"/>
          </a:xfrm>
          <a:prstGeom prst="rect">
            <a:avLst/>
          </a:prstGeom>
          <a:noFill/>
          <a:ln/>
        </p:spPr>
        <p:txBody>
          <a:bodyPr wrap="square" lIns="0" tIns="0" rIns="0" bIns="0" rtlCol="0" anchor="t"/>
          <a:lstStyle/>
          <a:p>
            <a:pPr indent="0" marL="0">
              <a:buNone/>
            </a:pPr>
            <a:r>
              <a:rPr lang="en-US" sz="1200" dirty="0">
                <a:solidFill>
                  <a:srgbClr val="1B2230"/>
                </a:solidFill>
                <a:latin typeface="Calibri" pitchFamily="34" charset="0"/>
                <a:ea typeface="Calibri" pitchFamily="34" charset="-122"/>
                <a:cs typeface="Calibri" pitchFamily="34" charset="-120"/>
              </a:rPr>
              <a:t>Prof. Marco Valgimigli, Cardiocentro Ticino, Lugano</a:t>
            </a:r>
            <a:endParaRPr lang="en-US" sz="1200" dirty="0"/>
          </a:p>
        </p:txBody>
      </p:sp>
      <p:sp>
        <p:nvSpPr>
          <p:cNvPr id="25" name="Text 18"/>
          <p:cNvSpPr txBox="1"/>
          <p:nvPr/>
        </p:nvSpPr>
        <p:spPr>
          <a:xfrm>
            <a:off x="6172200" y="2889504"/>
            <a:ext cx="2377440" cy="228600"/>
          </a:xfrm>
          <a:prstGeom prst="rect">
            <a:avLst/>
          </a:prstGeom>
          <a:noFill/>
          <a:ln/>
        </p:spPr>
        <p:txBody>
          <a:bodyPr wrap="square" lIns="0" tIns="0" rIns="0" bIns="0" rtlCol="0" anchor="ctr"/>
          <a:lstStyle/>
          <a:p>
            <a:pPr indent="0" marL="0">
              <a:buNone/>
            </a:pPr>
            <a:r>
              <a:rPr lang="en-US" sz="950" b="1" spc="200" kern="0" dirty="0">
                <a:solidFill>
                  <a:srgbClr val="E5383B"/>
                </a:solidFill>
                <a:latin typeface="Calibri" pitchFamily="34" charset="0"/>
                <a:ea typeface="Calibri" pitchFamily="34" charset="-122"/>
                <a:cs typeface="Calibri" pitchFamily="34" charset="-120"/>
              </a:rPr>
              <a:t>SPONSOR</a:t>
            </a:r>
            <a:endParaRPr lang="en-US" sz="950" dirty="0"/>
          </a:p>
        </p:txBody>
      </p:sp>
      <p:sp>
        <p:nvSpPr>
          <p:cNvPr id="26" name="Text 19"/>
          <p:cNvSpPr txBox="1"/>
          <p:nvPr/>
        </p:nvSpPr>
        <p:spPr>
          <a:xfrm>
            <a:off x="6172200" y="3108960"/>
            <a:ext cx="2377440" cy="411480"/>
          </a:xfrm>
          <a:prstGeom prst="rect">
            <a:avLst/>
          </a:prstGeom>
          <a:noFill/>
          <a:ln/>
        </p:spPr>
        <p:txBody>
          <a:bodyPr wrap="square" lIns="0" tIns="0" rIns="0" bIns="0" rtlCol="0" anchor="t"/>
          <a:lstStyle/>
          <a:p>
            <a:pPr indent="0" marL="0">
              <a:buNone/>
            </a:pPr>
            <a:r>
              <a:rPr lang="en-US" sz="1200" dirty="0">
                <a:solidFill>
                  <a:srgbClr val="1B2230"/>
                </a:solidFill>
                <a:latin typeface="Calibri" pitchFamily="34" charset="0"/>
                <a:ea typeface="Calibri" pitchFamily="34" charset="-122"/>
                <a:cs typeface="Calibri" pitchFamily="34" charset="-120"/>
              </a:rPr>
              <a:t>Vesalio</a:t>
            </a:r>
            <a:endParaRPr lang="en-US" sz="1200" dirty="0"/>
          </a:p>
        </p:txBody>
      </p:sp>
      <p:sp>
        <p:nvSpPr>
          <p:cNvPr id="27" name="Text 20"/>
          <p:cNvSpPr txBox="1"/>
          <p:nvPr/>
        </p:nvSpPr>
        <p:spPr>
          <a:xfrm>
            <a:off x="6172200" y="3566160"/>
            <a:ext cx="2377440" cy="228600"/>
          </a:xfrm>
          <a:prstGeom prst="rect">
            <a:avLst/>
          </a:prstGeom>
          <a:noFill/>
          <a:ln/>
        </p:spPr>
        <p:txBody>
          <a:bodyPr wrap="square" lIns="0" tIns="0" rIns="0" bIns="0" rtlCol="0" anchor="ctr"/>
          <a:lstStyle/>
          <a:p>
            <a:pPr indent="0" marL="0">
              <a:buNone/>
            </a:pPr>
            <a:r>
              <a:rPr lang="en-US" sz="950" b="1" spc="200" kern="0" dirty="0">
                <a:solidFill>
                  <a:srgbClr val="E5383B"/>
                </a:solidFill>
                <a:latin typeface="Calibri" pitchFamily="34" charset="0"/>
                <a:ea typeface="Calibri" pitchFamily="34" charset="-122"/>
                <a:cs typeface="Calibri" pitchFamily="34" charset="-120"/>
              </a:rPr>
              <a:t>REGISTRY</a:t>
            </a:r>
            <a:endParaRPr lang="en-US" sz="950" dirty="0"/>
          </a:p>
        </p:txBody>
      </p:sp>
      <p:sp>
        <p:nvSpPr>
          <p:cNvPr id="28" name="Text 21"/>
          <p:cNvSpPr txBox="1"/>
          <p:nvPr/>
        </p:nvSpPr>
        <p:spPr>
          <a:xfrm>
            <a:off x="6172200" y="3785616"/>
            <a:ext cx="2377440" cy="411480"/>
          </a:xfrm>
          <a:prstGeom prst="rect">
            <a:avLst/>
          </a:prstGeom>
          <a:noFill/>
          <a:ln/>
        </p:spPr>
        <p:txBody>
          <a:bodyPr wrap="square" lIns="0" tIns="0" rIns="0" bIns="0" rtlCol="0" anchor="t"/>
          <a:lstStyle/>
          <a:p>
            <a:pPr indent="0" marL="0">
              <a:buNone/>
            </a:pPr>
            <a:r>
              <a:rPr lang="en-US" sz="1200" dirty="0">
                <a:solidFill>
                  <a:srgbClr val="1B2230"/>
                </a:solidFill>
                <a:latin typeface="Calibri" pitchFamily="34" charset="0"/>
                <a:ea typeface="Calibri" pitchFamily="34" charset="-122"/>
                <a:cs typeface="Calibri" pitchFamily="34" charset="-120"/>
              </a:rPr>
              <a:t>NCT04969471</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05 / 13</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ELIGIBILITY</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Inclusion and exclusion criteria</a:t>
            </a:r>
            <a:endParaRPr lang="en-US" sz="3000" dirty="0"/>
          </a:p>
        </p:txBody>
      </p:sp>
      <p:sp>
        <p:nvSpPr>
          <p:cNvPr id="7" name="Shape 4"/>
          <p:cNvSpPr/>
          <p:nvPr/>
        </p:nvSpPr>
        <p:spPr>
          <a:xfrm>
            <a:off x="457200" y="1325880"/>
            <a:ext cx="4023360" cy="3154680"/>
          </a:xfrm>
          <a:prstGeom prst="roundRect">
            <a:avLst>
              <a:gd name="adj" fmla="val 3478"/>
            </a:avLst>
          </a:prstGeom>
          <a:solidFill>
            <a:srgbClr val="F6F7F9"/>
          </a:solidFill>
          <a:ln w="12700">
            <a:solidFill>
              <a:srgbClr val="F6F7F9"/>
            </a:solidFill>
            <a:prstDash val="solid"/>
          </a:ln>
        </p:spPr>
      </p:sp>
      <p:sp>
        <p:nvSpPr>
          <p:cNvPr id="8" name="Shape 5"/>
          <p:cNvSpPr/>
          <p:nvPr/>
        </p:nvSpPr>
        <p:spPr>
          <a:xfrm>
            <a:off x="640080" y="1481328"/>
            <a:ext cx="3657600" cy="502920"/>
          </a:xfrm>
          <a:prstGeom prst="roundRect">
            <a:avLst>
              <a:gd name="adj" fmla="val 18182"/>
            </a:avLst>
          </a:prstGeom>
          <a:solidFill>
            <a:srgbClr val="E3F5F3"/>
          </a:solidFill>
          <a:ln w="12700">
            <a:solidFill>
              <a:srgbClr val="E3F5F3"/>
            </a:solidFill>
            <a:prstDash val="solid"/>
          </a:ln>
        </p:spPr>
      </p:sp>
      <p:sp>
        <p:nvSpPr>
          <p:cNvPr id="9" name="Shape 6"/>
          <p:cNvSpPr/>
          <p:nvPr/>
        </p:nvSpPr>
        <p:spPr>
          <a:xfrm>
            <a:off x="749808" y="1536192"/>
            <a:ext cx="393192" cy="393192"/>
          </a:xfrm>
          <a:prstGeom prst="ellipse">
            <a:avLst/>
          </a:prstGeom>
          <a:solidFill>
            <a:srgbClr val="1FA99C"/>
          </a:solidFill>
          <a:ln w="12700">
            <a:solidFill>
              <a:srgbClr val="1FA99C"/>
            </a:solidFill>
            <a:prstDash val="solid"/>
          </a:ln>
        </p:spPr>
      </p:sp>
      <p:pic>
        <p:nvPicPr>
          <p:cNvPr id="10" name="Image 1" descr="preencoded.png">    </p:cNvPr>
          <p:cNvPicPr>
            <a:picLocks noChangeAspect="1"/>
          </p:cNvPicPr>
          <p:nvPr/>
        </p:nvPicPr>
        <p:blipFill>
          <a:blip r:embed="rId2"/>
          <a:stretch>
            <a:fillRect/>
          </a:stretch>
        </p:blipFill>
        <p:spPr>
          <a:xfrm>
            <a:off x="852038" y="1638422"/>
            <a:ext cx="188732" cy="188732"/>
          </a:xfrm>
          <a:prstGeom prst="rect">
            <a:avLst/>
          </a:prstGeom>
        </p:spPr>
      </p:pic>
      <p:sp>
        <p:nvSpPr>
          <p:cNvPr id="11" name="Text 7"/>
          <p:cNvSpPr txBox="1"/>
          <p:nvPr/>
        </p:nvSpPr>
        <p:spPr>
          <a:xfrm>
            <a:off x="1280160" y="1481328"/>
            <a:ext cx="2011680" cy="502920"/>
          </a:xfrm>
          <a:prstGeom prst="rect">
            <a:avLst/>
          </a:prstGeom>
          <a:noFill/>
          <a:ln/>
        </p:spPr>
        <p:txBody>
          <a:bodyPr wrap="square" lIns="0" tIns="0" rIns="0" bIns="0" rtlCol="0" anchor="ctr"/>
          <a:lstStyle/>
          <a:p>
            <a:pPr indent="0" marL="0">
              <a:buNone/>
            </a:pPr>
            <a:r>
              <a:rPr lang="en-US" sz="1700" b="1" dirty="0">
                <a:solidFill>
                  <a:srgbClr val="1B2230"/>
                </a:solidFill>
                <a:latin typeface="Cambria" pitchFamily="34" charset="0"/>
                <a:ea typeface="Cambria" pitchFamily="34" charset="-122"/>
                <a:cs typeface="Cambria" pitchFamily="34" charset="-120"/>
              </a:rPr>
              <a:t>Inclusion</a:t>
            </a:r>
            <a:endParaRPr lang="en-US" sz="1700" dirty="0"/>
          </a:p>
        </p:txBody>
      </p:sp>
      <p:sp>
        <p:nvSpPr>
          <p:cNvPr id="12" name="Text 8"/>
          <p:cNvSpPr txBox="1"/>
          <p:nvPr/>
        </p:nvSpPr>
        <p:spPr>
          <a:xfrm>
            <a:off x="3108960" y="1481328"/>
            <a:ext cx="1051560" cy="502920"/>
          </a:xfrm>
          <a:prstGeom prst="rect">
            <a:avLst/>
          </a:prstGeom>
          <a:noFill/>
          <a:ln/>
        </p:spPr>
        <p:txBody>
          <a:bodyPr wrap="square" lIns="0" tIns="0" rIns="0" bIns="0" rtlCol="0" anchor="ctr"/>
          <a:lstStyle/>
          <a:p>
            <a:pPr algn="r" indent="0" marL="0">
              <a:buNone/>
            </a:pPr>
            <a:r>
              <a:rPr lang="en-US" sz="1000" b="1" spc="200" kern="0" dirty="0">
                <a:solidFill>
                  <a:srgbClr val="1FA99C"/>
                </a:solidFill>
                <a:latin typeface="Calibri" pitchFamily="34" charset="0"/>
                <a:ea typeface="Calibri" pitchFamily="34" charset="-122"/>
                <a:cs typeface="Calibri" pitchFamily="34" charset="-120"/>
              </a:rPr>
              <a:t>5 criteria</a:t>
            </a:r>
            <a:endParaRPr lang="en-US" sz="1000" dirty="0"/>
          </a:p>
        </p:txBody>
      </p:sp>
      <p:sp>
        <p:nvSpPr>
          <p:cNvPr id="13" name="Text 9"/>
          <p:cNvSpPr txBox="1"/>
          <p:nvPr/>
        </p:nvSpPr>
        <p:spPr>
          <a:xfrm>
            <a:off x="731520" y="2121408"/>
            <a:ext cx="3520440" cy="224028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230"/>
                </a:solidFill>
                <a:latin typeface="Calibri" pitchFamily="34" charset="0"/>
                <a:ea typeface="Calibri" pitchFamily="34" charset="-122"/>
                <a:cs typeface="Calibri" pitchFamily="34" charset="-120"/>
              </a:rPr>
              <a:t>Age ≥ 18 years</a:t>
            </a:r>
            <a:endParaRPr lang="en-US" sz="1150" dirty="0"/>
          </a:p>
          <a:p>
            <a:pPr marL="177800" indent="-177800">
              <a:spcAft>
                <a:spcPts val="500"/>
              </a:spcAft>
              <a:buSzPct val="100000"/>
              <a:buChar char="•"/>
            </a:pPr>
            <a:r>
              <a:rPr lang="en-US" sz="1150" dirty="0">
                <a:solidFill>
                  <a:srgbClr val="1B2230"/>
                </a:solidFill>
                <a:latin typeface="Calibri" pitchFamily="34" charset="0"/>
                <a:ea typeface="Calibri" pitchFamily="34" charset="-122"/>
                <a:cs typeface="Calibri" pitchFamily="34" charset="-120"/>
              </a:rPr>
              <a:t>Chest pain &gt; 20 min with ST elevation ≥ 1 mm in ≥ 2 contiguous leads, or infero-lateral MI with ST depression ≥ 1 mm in ≥ 2 of V1–V3 and a positive terminal T wave</a:t>
            </a:r>
            <a:endParaRPr lang="en-US" sz="1150" dirty="0"/>
          </a:p>
          <a:p>
            <a:pPr marL="177800" indent="-177800">
              <a:spcAft>
                <a:spcPts val="500"/>
              </a:spcAft>
              <a:buSzPct val="100000"/>
              <a:buChar char="•"/>
            </a:pPr>
            <a:r>
              <a:rPr lang="en-US" sz="1150" dirty="0">
                <a:solidFill>
                  <a:srgbClr val="1B2230"/>
                </a:solidFill>
                <a:latin typeface="Calibri" pitchFamily="34" charset="0"/>
                <a:ea typeface="Calibri" pitchFamily="34" charset="-122"/>
                <a:cs typeface="Calibri" pitchFamily="34" charset="-120"/>
              </a:rPr>
              <a:t>TIMI thrombus grade ≥ 3 in the infarct-related artery (re-confirmed after wiring if TIMI 0 flow)</a:t>
            </a:r>
            <a:endParaRPr lang="en-US" sz="1150" dirty="0"/>
          </a:p>
          <a:p>
            <a:pPr marL="177800" indent="-177800">
              <a:spcAft>
                <a:spcPts val="500"/>
              </a:spcAft>
              <a:buSzPct val="100000"/>
              <a:buChar char="•"/>
            </a:pPr>
            <a:r>
              <a:rPr lang="en-US" sz="1150" dirty="0">
                <a:solidFill>
                  <a:srgbClr val="1B2230"/>
                </a:solidFill>
                <a:latin typeface="Calibri" pitchFamily="34" charset="0"/>
                <a:ea typeface="Calibri" pitchFamily="34" charset="-122"/>
                <a:cs typeface="Calibri" pitchFamily="34" charset="-120"/>
              </a:rPr>
              <a:t>Intervention started within 8 h of symptom onset</a:t>
            </a:r>
            <a:endParaRPr lang="en-US" sz="1150" dirty="0"/>
          </a:p>
          <a:p>
            <a:pPr marL="177800" indent="-177800">
              <a:spcAft>
                <a:spcPts val="500"/>
              </a:spcAft>
              <a:buSzPct val="100000"/>
              <a:buChar char="•"/>
            </a:pPr>
            <a:r>
              <a:rPr lang="en-US" sz="1150" dirty="0">
                <a:solidFill>
                  <a:srgbClr val="1B2230"/>
                </a:solidFill>
                <a:latin typeface="Calibri" pitchFamily="34" charset="0"/>
                <a:ea typeface="Calibri" pitchFamily="34" charset="-122"/>
                <a:cs typeface="Calibri" pitchFamily="34" charset="-120"/>
              </a:rPr>
              <a:t>Informed consent before the procedure</a:t>
            </a:r>
            <a:endParaRPr lang="en-US" sz="1150" dirty="0"/>
          </a:p>
        </p:txBody>
      </p:sp>
      <p:sp>
        <p:nvSpPr>
          <p:cNvPr id="14" name="Shape 10"/>
          <p:cNvSpPr/>
          <p:nvPr/>
        </p:nvSpPr>
        <p:spPr>
          <a:xfrm>
            <a:off x="4663440" y="1325880"/>
            <a:ext cx="4023360" cy="3154680"/>
          </a:xfrm>
          <a:prstGeom prst="roundRect">
            <a:avLst>
              <a:gd name="adj" fmla="val 3478"/>
            </a:avLst>
          </a:prstGeom>
          <a:solidFill>
            <a:srgbClr val="F6F7F9"/>
          </a:solidFill>
          <a:ln w="12700">
            <a:solidFill>
              <a:srgbClr val="F6F7F9"/>
            </a:solidFill>
            <a:prstDash val="solid"/>
          </a:ln>
        </p:spPr>
      </p:sp>
      <p:sp>
        <p:nvSpPr>
          <p:cNvPr id="15" name="Shape 11"/>
          <p:cNvSpPr/>
          <p:nvPr/>
        </p:nvSpPr>
        <p:spPr>
          <a:xfrm>
            <a:off x="4846320" y="1481328"/>
            <a:ext cx="3657600" cy="502920"/>
          </a:xfrm>
          <a:prstGeom prst="roundRect">
            <a:avLst>
              <a:gd name="adj" fmla="val 18182"/>
            </a:avLst>
          </a:prstGeom>
          <a:solidFill>
            <a:srgbClr val="FDECEC"/>
          </a:solidFill>
          <a:ln w="12700">
            <a:solidFill>
              <a:srgbClr val="FDECEC"/>
            </a:solidFill>
            <a:prstDash val="solid"/>
          </a:ln>
        </p:spPr>
      </p:sp>
      <p:sp>
        <p:nvSpPr>
          <p:cNvPr id="16" name="Shape 12"/>
          <p:cNvSpPr/>
          <p:nvPr/>
        </p:nvSpPr>
        <p:spPr>
          <a:xfrm>
            <a:off x="4956048" y="1536192"/>
            <a:ext cx="393192" cy="393192"/>
          </a:xfrm>
          <a:prstGeom prst="ellipse">
            <a:avLst/>
          </a:prstGeom>
          <a:solidFill>
            <a:srgbClr val="E5383B"/>
          </a:solidFill>
          <a:ln w="12700">
            <a:solidFill>
              <a:srgbClr val="E5383B"/>
            </a:solidFill>
            <a:prstDash val="solid"/>
          </a:ln>
        </p:spPr>
      </p:sp>
      <p:pic>
        <p:nvPicPr>
          <p:cNvPr id="17" name="Image 2" descr="preencoded.png">    </p:cNvPr>
          <p:cNvPicPr>
            <a:picLocks noChangeAspect="1"/>
          </p:cNvPicPr>
          <p:nvPr/>
        </p:nvPicPr>
        <p:blipFill>
          <a:blip r:embed="rId3"/>
          <a:stretch>
            <a:fillRect/>
          </a:stretch>
        </p:blipFill>
        <p:spPr>
          <a:xfrm>
            <a:off x="5058278" y="1638422"/>
            <a:ext cx="188732" cy="188732"/>
          </a:xfrm>
          <a:prstGeom prst="rect">
            <a:avLst/>
          </a:prstGeom>
        </p:spPr>
      </p:pic>
      <p:sp>
        <p:nvSpPr>
          <p:cNvPr id="18" name="Text 13"/>
          <p:cNvSpPr txBox="1"/>
          <p:nvPr/>
        </p:nvSpPr>
        <p:spPr>
          <a:xfrm>
            <a:off x="5486400" y="1481328"/>
            <a:ext cx="2011680" cy="502920"/>
          </a:xfrm>
          <a:prstGeom prst="rect">
            <a:avLst/>
          </a:prstGeom>
          <a:noFill/>
          <a:ln/>
        </p:spPr>
        <p:txBody>
          <a:bodyPr wrap="square" lIns="0" tIns="0" rIns="0" bIns="0" rtlCol="0" anchor="ctr"/>
          <a:lstStyle/>
          <a:p>
            <a:pPr indent="0" marL="0">
              <a:buNone/>
            </a:pPr>
            <a:r>
              <a:rPr lang="en-US" sz="1700" b="1" dirty="0">
                <a:solidFill>
                  <a:srgbClr val="1B2230"/>
                </a:solidFill>
                <a:latin typeface="Cambria" pitchFamily="34" charset="0"/>
                <a:ea typeface="Cambria" pitchFamily="34" charset="-122"/>
                <a:cs typeface="Cambria" pitchFamily="34" charset="-120"/>
              </a:rPr>
              <a:t>Exclusion</a:t>
            </a:r>
            <a:endParaRPr lang="en-US" sz="1700" dirty="0"/>
          </a:p>
        </p:txBody>
      </p:sp>
      <p:sp>
        <p:nvSpPr>
          <p:cNvPr id="19" name="Text 14"/>
          <p:cNvSpPr txBox="1"/>
          <p:nvPr/>
        </p:nvSpPr>
        <p:spPr>
          <a:xfrm>
            <a:off x="7315200" y="1481328"/>
            <a:ext cx="1051560" cy="502920"/>
          </a:xfrm>
          <a:prstGeom prst="rect">
            <a:avLst/>
          </a:prstGeom>
          <a:noFill/>
          <a:ln/>
        </p:spPr>
        <p:txBody>
          <a:bodyPr wrap="square" lIns="0" tIns="0" rIns="0" bIns="0" rtlCol="0" anchor="ctr"/>
          <a:lstStyle/>
          <a:p>
            <a:pPr algn="r" indent="0" marL="0">
              <a:buNone/>
            </a:pPr>
            <a:r>
              <a:rPr lang="en-US" sz="1000" b="1" spc="200" kern="0" dirty="0">
                <a:solidFill>
                  <a:srgbClr val="E5383B"/>
                </a:solidFill>
                <a:latin typeface="Calibri" pitchFamily="34" charset="0"/>
                <a:ea typeface="Calibri" pitchFamily="34" charset="-122"/>
                <a:cs typeface="Calibri" pitchFamily="34" charset="-120"/>
              </a:rPr>
              <a:t>7 criteria</a:t>
            </a:r>
            <a:endParaRPr lang="en-US" sz="1000" dirty="0"/>
          </a:p>
        </p:txBody>
      </p:sp>
      <p:sp>
        <p:nvSpPr>
          <p:cNvPr id="20" name="Text 15"/>
          <p:cNvSpPr txBox="1"/>
          <p:nvPr/>
        </p:nvSpPr>
        <p:spPr>
          <a:xfrm>
            <a:off x="4937760" y="2121408"/>
            <a:ext cx="3520440" cy="224028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230"/>
                </a:solidFill>
                <a:latin typeface="Calibri" pitchFamily="34" charset="0"/>
                <a:ea typeface="Calibri" pitchFamily="34" charset="-122"/>
                <a:cs typeface="Calibri" pitchFamily="34" charset="-120"/>
              </a:rPr>
              <a:t>Unconscious patient</a:t>
            </a:r>
            <a:endParaRPr lang="en-US" sz="1150" dirty="0"/>
          </a:p>
          <a:p>
            <a:pPr marL="177800" indent="-177800">
              <a:spcAft>
                <a:spcPts val="500"/>
              </a:spcAft>
              <a:buSzPct val="100000"/>
              <a:buChar char="•"/>
            </a:pPr>
            <a:r>
              <a:rPr lang="en-US" sz="1150" dirty="0">
                <a:solidFill>
                  <a:srgbClr val="1B2230"/>
                </a:solidFill>
                <a:latin typeface="Calibri" pitchFamily="34" charset="0"/>
                <a:ea typeface="Calibri" pitchFamily="34" charset="-122"/>
                <a:cs typeface="Calibri" pitchFamily="34" charset="-120"/>
              </a:rPr>
              <a:t>Infarct-related artery &lt; 2.5 mm (visual estimate)</a:t>
            </a:r>
            <a:endParaRPr lang="en-US" sz="1150" dirty="0"/>
          </a:p>
          <a:p>
            <a:pPr marL="177800" indent="-177800">
              <a:spcAft>
                <a:spcPts val="500"/>
              </a:spcAft>
              <a:buSzPct val="100000"/>
              <a:buChar char="•"/>
            </a:pPr>
            <a:r>
              <a:rPr lang="en-US" sz="1150" dirty="0">
                <a:solidFill>
                  <a:srgbClr val="1B2230"/>
                </a:solidFill>
                <a:latin typeface="Calibri" pitchFamily="34" charset="0"/>
                <a:ea typeface="Calibri" pitchFamily="34" charset="-122"/>
                <a:cs typeface="Calibri" pitchFamily="34" charset="-120"/>
              </a:rPr>
              <a:t>Severe calcification or extreme tortuosity at or proximal to the culprit lesion</a:t>
            </a:r>
            <a:endParaRPr lang="en-US" sz="1150" dirty="0"/>
          </a:p>
          <a:p>
            <a:pPr marL="177800" indent="-177800">
              <a:spcAft>
                <a:spcPts val="500"/>
              </a:spcAft>
              <a:buSzPct val="100000"/>
              <a:buChar char="•"/>
            </a:pPr>
            <a:r>
              <a:rPr lang="en-US" sz="1150" dirty="0">
                <a:solidFill>
                  <a:srgbClr val="1B2230"/>
                </a:solidFill>
                <a:latin typeface="Calibri" pitchFamily="34" charset="0"/>
                <a:ea typeface="Calibri" pitchFamily="34" charset="-122"/>
                <a:cs typeface="Calibri" pitchFamily="34" charset="-120"/>
              </a:rPr>
              <a:t>Stent thrombosis as the culprit lesion</a:t>
            </a:r>
            <a:endParaRPr lang="en-US" sz="1150" dirty="0"/>
          </a:p>
          <a:p>
            <a:pPr marL="177800" indent="-177800">
              <a:spcAft>
                <a:spcPts val="500"/>
              </a:spcAft>
              <a:buSzPct val="100000"/>
              <a:buChar char="•"/>
            </a:pPr>
            <a:r>
              <a:rPr lang="en-US" sz="1150" dirty="0">
                <a:solidFill>
                  <a:srgbClr val="1B2230"/>
                </a:solidFill>
                <a:latin typeface="Calibri" pitchFamily="34" charset="0"/>
                <a:ea typeface="Calibri" pitchFamily="34" charset="-122"/>
                <a:cs typeface="Calibri" pitchFamily="34" charset="-120"/>
              </a:rPr>
              <a:t>Previous MI in the same territory</a:t>
            </a:r>
            <a:endParaRPr lang="en-US" sz="1150" dirty="0"/>
          </a:p>
          <a:p>
            <a:pPr marL="177800" indent="-177800">
              <a:spcAft>
                <a:spcPts val="500"/>
              </a:spcAft>
              <a:buSzPct val="100000"/>
              <a:buChar char="•"/>
            </a:pPr>
            <a:r>
              <a:rPr lang="en-US" sz="1150" dirty="0">
                <a:solidFill>
                  <a:srgbClr val="1B2230"/>
                </a:solidFill>
                <a:latin typeface="Calibri" pitchFamily="34" charset="0"/>
                <a:ea typeface="Calibri" pitchFamily="34" charset="-122"/>
                <a:cs typeface="Calibri" pitchFamily="34" charset="-120"/>
              </a:rPr>
              <a:t>Women of child-bearing potential</a:t>
            </a:r>
            <a:endParaRPr lang="en-US" sz="1150" dirty="0"/>
          </a:p>
          <a:p>
            <a:pPr marL="177800" indent="-177800">
              <a:spcAft>
                <a:spcPts val="500"/>
              </a:spcAft>
              <a:buSzPct val="100000"/>
              <a:buChar char="•"/>
            </a:pPr>
            <a:r>
              <a:rPr lang="en-US" sz="1150" dirty="0">
                <a:solidFill>
                  <a:srgbClr val="1B2230"/>
                </a:solidFill>
                <a:latin typeface="Calibri" pitchFamily="34" charset="0"/>
                <a:ea typeface="Calibri" pitchFamily="34" charset="-122"/>
                <a:cs typeface="Calibri" pitchFamily="34" charset="-120"/>
              </a:rPr>
              <a:t>Participation in another interventional trial</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06 / 13</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ENDPOINTS</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Enriched for clot; judged on infarct size</a:t>
            </a:r>
            <a:endParaRPr lang="en-US" sz="3000" dirty="0"/>
          </a:p>
        </p:txBody>
      </p:sp>
      <p:sp>
        <p:nvSpPr>
          <p:cNvPr id="7" name="Shape 4"/>
          <p:cNvSpPr/>
          <p:nvPr/>
        </p:nvSpPr>
        <p:spPr>
          <a:xfrm>
            <a:off x="457200" y="1371600"/>
            <a:ext cx="3566160" cy="3017520"/>
          </a:xfrm>
          <a:prstGeom prst="roundRect">
            <a:avLst>
              <a:gd name="adj" fmla="val 3636"/>
            </a:avLst>
          </a:prstGeom>
          <a:solidFill>
            <a:srgbClr val="0E1117"/>
          </a:solidFill>
          <a:ln w="12700">
            <a:solidFill>
              <a:srgbClr val="0E1117"/>
            </a:solidFill>
            <a:prstDash val="solid"/>
          </a:ln>
        </p:spPr>
      </p:sp>
      <p:sp>
        <p:nvSpPr>
          <p:cNvPr id="8" name="Text 5"/>
          <p:cNvSpPr txBox="1"/>
          <p:nvPr/>
        </p:nvSpPr>
        <p:spPr>
          <a:xfrm>
            <a:off x="731520" y="1554480"/>
            <a:ext cx="3017520" cy="274320"/>
          </a:xfrm>
          <a:prstGeom prst="rect">
            <a:avLst/>
          </a:prstGeom>
          <a:noFill/>
          <a:ln/>
        </p:spPr>
        <p:txBody>
          <a:bodyPr wrap="square" lIns="0" tIns="0" rIns="0" bIns="0" rtlCol="0" anchor="ctr"/>
          <a:lstStyle/>
          <a:p>
            <a:pPr indent="0" marL="0">
              <a:buNone/>
            </a:pPr>
            <a:r>
              <a:rPr lang="en-US" sz="1100" b="1" spc="400" kern="0" dirty="0">
                <a:solidFill>
                  <a:srgbClr val="F4B6BB"/>
                </a:solidFill>
                <a:latin typeface="Calibri" pitchFamily="34" charset="0"/>
                <a:ea typeface="Calibri" pitchFamily="34" charset="-122"/>
                <a:cs typeface="Calibri" pitchFamily="34" charset="-120"/>
              </a:rPr>
              <a:t>ENRICHED FOR CLOT</a:t>
            </a:r>
            <a:endParaRPr lang="en-US" sz="1100" dirty="0"/>
          </a:p>
        </p:txBody>
      </p:sp>
      <p:sp>
        <p:nvSpPr>
          <p:cNvPr id="9" name="Text 6"/>
          <p:cNvSpPr txBox="1"/>
          <p:nvPr/>
        </p:nvSpPr>
        <p:spPr>
          <a:xfrm>
            <a:off x="731520" y="1874520"/>
            <a:ext cx="3017520" cy="7315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TTG ≥ 3</a:t>
            </a:r>
            <a:endParaRPr lang="en-US" sz="4400" dirty="0"/>
          </a:p>
        </p:txBody>
      </p:sp>
      <p:sp>
        <p:nvSpPr>
          <p:cNvPr id="10" name="Text 7"/>
          <p:cNvSpPr txBox="1"/>
          <p:nvPr/>
        </p:nvSpPr>
        <p:spPr>
          <a:xfrm>
            <a:off x="731520" y="2697480"/>
            <a:ext cx="3017520" cy="822960"/>
          </a:xfrm>
          <a:prstGeom prst="rect">
            <a:avLst/>
          </a:prstGeom>
          <a:noFill/>
          <a:ln/>
        </p:spPr>
        <p:txBody>
          <a:bodyPr wrap="square" lIns="0" tIns="0" rIns="0" bIns="0" rtlCol="0" anchor="t"/>
          <a:lstStyle/>
          <a:p>
            <a:pPr indent="0" marL="0">
              <a:buNone/>
            </a:pPr>
            <a:r>
              <a:rPr lang="en-US" sz="1250" dirty="0">
                <a:solidFill>
                  <a:srgbClr val="C9CFDA"/>
                </a:solidFill>
                <a:latin typeface="Calibri" pitchFamily="34" charset="0"/>
                <a:ea typeface="Calibri" pitchFamily="34" charset="-122"/>
                <a:cs typeface="Calibri" pitchFamily="34" charset="-120"/>
              </a:rPr>
              <a:t>TIMI thrombus grade 3 or more: a clot longer than half the vessel diameter, in the patients most at risk of distal embolisation.</a:t>
            </a:r>
            <a:endParaRPr lang="en-US" sz="1250" dirty="0"/>
          </a:p>
        </p:txBody>
      </p:sp>
      <p:sp>
        <p:nvSpPr>
          <p:cNvPr id="11" name="Text 8"/>
          <p:cNvSpPr txBox="1"/>
          <p:nvPr/>
        </p:nvSpPr>
        <p:spPr>
          <a:xfrm>
            <a:off x="731520" y="3657600"/>
            <a:ext cx="3017520" cy="548640"/>
          </a:xfrm>
          <a:prstGeom prst="rect">
            <a:avLst/>
          </a:prstGeom>
          <a:noFill/>
          <a:ln/>
        </p:spPr>
        <p:txBody>
          <a:bodyPr wrap="square" lIns="0" tIns="0" rIns="0" bIns="0" rtlCol="0" anchor="t"/>
          <a:lstStyle/>
          <a:p>
            <a:pPr indent="0" marL="0">
              <a:buNone/>
            </a:pPr>
            <a:r>
              <a:rPr lang="en-US" sz="1200" i="1" dirty="0">
                <a:solidFill>
                  <a:srgbClr val="F4B6BB"/>
                </a:solidFill>
                <a:latin typeface="Cambria" pitchFamily="34" charset="0"/>
                <a:ea typeface="Cambria" pitchFamily="34" charset="-122"/>
                <a:cs typeface="Cambria" pitchFamily="34" charset="-120"/>
              </a:rPr>
              <a:t>Why enrich? Benefit is most plausible where there is the most clot to embolise.</a:t>
            </a:r>
            <a:endParaRPr lang="en-US" sz="1200" dirty="0"/>
          </a:p>
        </p:txBody>
      </p:sp>
      <p:sp>
        <p:nvSpPr>
          <p:cNvPr id="12" name="Shape 9"/>
          <p:cNvSpPr/>
          <p:nvPr/>
        </p:nvSpPr>
        <p:spPr>
          <a:xfrm>
            <a:off x="4389120" y="1371600"/>
            <a:ext cx="4297680" cy="868680"/>
          </a:xfrm>
          <a:prstGeom prst="roundRect">
            <a:avLst>
              <a:gd name="adj" fmla="val 10526"/>
            </a:avLst>
          </a:prstGeom>
          <a:solidFill>
            <a:srgbClr val="F6F7F9"/>
          </a:solidFill>
          <a:ln w="12700">
            <a:solidFill>
              <a:srgbClr val="F6F7F9"/>
            </a:solidFill>
            <a:prstDash val="solid"/>
          </a:ln>
        </p:spPr>
      </p:sp>
      <p:sp>
        <p:nvSpPr>
          <p:cNvPr id="13" name="Shape 10"/>
          <p:cNvSpPr/>
          <p:nvPr/>
        </p:nvSpPr>
        <p:spPr>
          <a:xfrm>
            <a:off x="4572000" y="1536192"/>
            <a:ext cx="548640" cy="548640"/>
          </a:xfrm>
          <a:prstGeom prst="ellipse">
            <a:avLst/>
          </a:prstGeom>
          <a:solidFill>
            <a:srgbClr val="E5383B"/>
          </a:solidFill>
          <a:ln w="12700">
            <a:solidFill>
              <a:srgbClr val="E5383B"/>
            </a:solidFill>
            <a:prstDash val="solid"/>
          </a:ln>
        </p:spPr>
      </p:sp>
      <p:pic>
        <p:nvPicPr>
          <p:cNvPr id="14" name="Image 1" descr="preencoded.png">    </p:cNvPr>
          <p:cNvPicPr>
            <a:picLocks noChangeAspect="1"/>
          </p:cNvPicPr>
          <p:nvPr/>
        </p:nvPicPr>
        <p:blipFill>
          <a:blip r:embed="rId2"/>
          <a:stretch>
            <a:fillRect/>
          </a:stretch>
        </p:blipFill>
        <p:spPr>
          <a:xfrm>
            <a:off x="4714646" y="1678838"/>
            <a:ext cx="263347" cy="263347"/>
          </a:xfrm>
          <a:prstGeom prst="rect">
            <a:avLst/>
          </a:prstGeom>
        </p:spPr>
      </p:pic>
      <p:sp>
        <p:nvSpPr>
          <p:cNvPr id="15" name="Text 11"/>
          <p:cNvSpPr txBox="1"/>
          <p:nvPr/>
        </p:nvSpPr>
        <p:spPr>
          <a:xfrm>
            <a:off x="5303520" y="1499616"/>
            <a:ext cx="3200400" cy="256032"/>
          </a:xfrm>
          <a:prstGeom prst="rect">
            <a:avLst/>
          </a:prstGeom>
          <a:noFill/>
          <a:ln/>
        </p:spPr>
        <p:txBody>
          <a:bodyPr wrap="square" lIns="0" tIns="0" rIns="0" bIns="0" rtlCol="0" anchor="ctr"/>
          <a:lstStyle/>
          <a:p>
            <a:pPr indent="0" marL="0">
              <a:buNone/>
            </a:pPr>
            <a:r>
              <a:rPr lang="en-US" sz="1000" b="1" spc="300" kern="0" dirty="0">
                <a:solidFill>
                  <a:srgbClr val="E5383B"/>
                </a:solidFill>
                <a:latin typeface="Calibri" pitchFamily="34" charset="0"/>
                <a:ea typeface="Calibri" pitchFamily="34" charset="-122"/>
                <a:cs typeface="Calibri" pitchFamily="34" charset="-120"/>
              </a:rPr>
              <a:t>PRIMARY EFFICACY</a:t>
            </a:r>
            <a:endParaRPr lang="en-US" sz="1000" dirty="0"/>
          </a:p>
        </p:txBody>
      </p:sp>
      <p:sp>
        <p:nvSpPr>
          <p:cNvPr id="16" name="Text 12"/>
          <p:cNvSpPr txBox="1"/>
          <p:nvPr/>
        </p:nvSpPr>
        <p:spPr>
          <a:xfrm>
            <a:off x="5303520" y="1755648"/>
            <a:ext cx="3200400" cy="411480"/>
          </a:xfrm>
          <a:prstGeom prst="rect">
            <a:avLst/>
          </a:prstGeom>
          <a:noFill/>
          <a:ln/>
        </p:spPr>
        <p:txBody>
          <a:bodyPr wrap="square" lIns="0" tIns="0" rIns="0" bIns="0" rtlCol="0" anchor="t"/>
          <a:lstStyle/>
          <a:p>
            <a:pPr indent="0" marL="0">
              <a:buNone/>
            </a:pPr>
            <a:r>
              <a:rPr lang="en-US" sz="1300" dirty="0">
                <a:solidFill>
                  <a:srgbClr val="1B2230"/>
                </a:solidFill>
                <a:latin typeface="Calibri" pitchFamily="34" charset="0"/>
                <a:ea typeface="Calibri" pitchFamily="34" charset="-122"/>
                <a:cs typeface="Calibri" pitchFamily="34" charset="-120"/>
              </a:rPr>
              <a:t>Infarct size by CK-MB area under the curve</a:t>
            </a:r>
            <a:endParaRPr lang="en-US" sz="1300" dirty="0"/>
          </a:p>
        </p:txBody>
      </p:sp>
      <p:sp>
        <p:nvSpPr>
          <p:cNvPr id="17" name="Shape 13"/>
          <p:cNvSpPr/>
          <p:nvPr/>
        </p:nvSpPr>
        <p:spPr>
          <a:xfrm>
            <a:off x="4389120" y="2395728"/>
            <a:ext cx="4297680" cy="868680"/>
          </a:xfrm>
          <a:prstGeom prst="roundRect">
            <a:avLst>
              <a:gd name="adj" fmla="val 10526"/>
            </a:avLst>
          </a:prstGeom>
          <a:solidFill>
            <a:srgbClr val="F6F7F9"/>
          </a:solidFill>
          <a:ln w="12700">
            <a:solidFill>
              <a:srgbClr val="F6F7F9"/>
            </a:solidFill>
            <a:prstDash val="solid"/>
          </a:ln>
        </p:spPr>
      </p:sp>
      <p:sp>
        <p:nvSpPr>
          <p:cNvPr id="18" name="Shape 14"/>
          <p:cNvSpPr/>
          <p:nvPr/>
        </p:nvSpPr>
        <p:spPr>
          <a:xfrm>
            <a:off x="4572000" y="2560320"/>
            <a:ext cx="548640" cy="548640"/>
          </a:xfrm>
          <a:prstGeom prst="ellipse">
            <a:avLst/>
          </a:prstGeom>
          <a:solidFill>
            <a:srgbClr val="1FA99C"/>
          </a:solidFill>
          <a:ln w="12700">
            <a:solidFill>
              <a:srgbClr val="1FA99C"/>
            </a:solidFill>
            <a:prstDash val="solid"/>
          </a:ln>
        </p:spPr>
      </p:sp>
      <p:pic>
        <p:nvPicPr>
          <p:cNvPr id="19" name="Image 2" descr="preencoded.png">    </p:cNvPr>
          <p:cNvPicPr>
            <a:picLocks noChangeAspect="1"/>
          </p:cNvPicPr>
          <p:nvPr/>
        </p:nvPicPr>
        <p:blipFill>
          <a:blip r:embed="rId3"/>
          <a:stretch>
            <a:fillRect/>
          </a:stretch>
        </p:blipFill>
        <p:spPr>
          <a:xfrm>
            <a:off x="4714646" y="2702966"/>
            <a:ext cx="263347" cy="263347"/>
          </a:xfrm>
          <a:prstGeom prst="rect">
            <a:avLst/>
          </a:prstGeom>
        </p:spPr>
      </p:pic>
      <p:sp>
        <p:nvSpPr>
          <p:cNvPr id="20" name="Text 15"/>
          <p:cNvSpPr txBox="1"/>
          <p:nvPr/>
        </p:nvSpPr>
        <p:spPr>
          <a:xfrm>
            <a:off x="5303520" y="2523744"/>
            <a:ext cx="3200400" cy="256032"/>
          </a:xfrm>
          <a:prstGeom prst="rect">
            <a:avLst/>
          </a:prstGeom>
          <a:noFill/>
          <a:ln/>
        </p:spPr>
        <p:txBody>
          <a:bodyPr wrap="square" lIns="0" tIns="0" rIns="0" bIns="0" rtlCol="0" anchor="ctr"/>
          <a:lstStyle/>
          <a:p>
            <a:pPr indent="0" marL="0">
              <a:buNone/>
            </a:pPr>
            <a:r>
              <a:rPr lang="en-US" sz="1000" b="1" spc="300" kern="0" dirty="0">
                <a:solidFill>
                  <a:srgbClr val="1FA99C"/>
                </a:solidFill>
                <a:latin typeface="Calibri" pitchFamily="34" charset="0"/>
                <a:ea typeface="Calibri" pitchFamily="34" charset="-122"/>
                <a:cs typeface="Calibri" pitchFamily="34" charset="-120"/>
              </a:rPr>
              <a:t>KEY SECONDARY</a:t>
            </a:r>
            <a:endParaRPr lang="en-US" sz="1000" dirty="0"/>
          </a:p>
        </p:txBody>
      </p:sp>
      <p:sp>
        <p:nvSpPr>
          <p:cNvPr id="21" name="Text 16"/>
          <p:cNvSpPr txBox="1"/>
          <p:nvPr/>
        </p:nvSpPr>
        <p:spPr>
          <a:xfrm>
            <a:off x="5303520" y="2779776"/>
            <a:ext cx="3200400" cy="411480"/>
          </a:xfrm>
          <a:prstGeom prst="rect">
            <a:avLst/>
          </a:prstGeom>
          <a:noFill/>
          <a:ln/>
        </p:spPr>
        <p:txBody>
          <a:bodyPr wrap="square" lIns="0" tIns="0" rIns="0" bIns="0" rtlCol="0" anchor="t"/>
          <a:lstStyle/>
          <a:p>
            <a:pPr indent="0" marL="0">
              <a:buNone/>
            </a:pPr>
            <a:r>
              <a:rPr lang="en-US" sz="1300" dirty="0">
                <a:solidFill>
                  <a:srgbClr val="1B2230"/>
                </a:solidFill>
                <a:latin typeface="Calibri" pitchFamily="34" charset="0"/>
                <a:ea typeface="Calibri" pitchFamily="34" charset="-122"/>
                <a:cs typeface="Calibri" pitchFamily="34" charset="-120"/>
              </a:rPr>
              <a:t>Infarct size on cardiac MRI (% LV mass) at day 3</a:t>
            </a:r>
            <a:endParaRPr lang="en-US" sz="1300" dirty="0"/>
          </a:p>
        </p:txBody>
      </p:sp>
      <p:sp>
        <p:nvSpPr>
          <p:cNvPr id="22" name="Shape 17"/>
          <p:cNvSpPr/>
          <p:nvPr/>
        </p:nvSpPr>
        <p:spPr>
          <a:xfrm>
            <a:off x="4389120" y="3419856"/>
            <a:ext cx="4297680" cy="868680"/>
          </a:xfrm>
          <a:prstGeom prst="roundRect">
            <a:avLst>
              <a:gd name="adj" fmla="val 10526"/>
            </a:avLst>
          </a:prstGeom>
          <a:solidFill>
            <a:srgbClr val="F6F7F9"/>
          </a:solidFill>
          <a:ln w="12700">
            <a:solidFill>
              <a:srgbClr val="F6F7F9"/>
            </a:solidFill>
            <a:prstDash val="solid"/>
          </a:ln>
        </p:spPr>
      </p:sp>
      <p:sp>
        <p:nvSpPr>
          <p:cNvPr id="23" name="Shape 18"/>
          <p:cNvSpPr/>
          <p:nvPr/>
        </p:nvSpPr>
        <p:spPr>
          <a:xfrm>
            <a:off x="4572000" y="3584448"/>
            <a:ext cx="548640" cy="548640"/>
          </a:xfrm>
          <a:prstGeom prst="ellipse">
            <a:avLst/>
          </a:prstGeom>
          <a:solidFill>
            <a:srgbClr val="0E1117"/>
          </a:solidFill>
          <a:ln w="12700">
            <a:solidFill>
              <a:srgbClr val="0E1117"/>
            </a:solidFill>
            <a:prstDash val="solid"/>
          </a:ln>
        </p:spPr>
      </p:sp>
      <p:pic>
        <p:nvPicPr>
          <p:cNvPr id="24" name="Image 3" descr="preencoded.png">    </p:cNvPr>
          <p:cNvPicPr>
            <a:picLocks noChangeAspect="1"/>
          </p:cNvPicPr>
          <p:nvPr/>
        </p:nvPicPr>
        <p:blipFill>
          <a:blip r:embed="rId4"/>
          <a:stretch>
            <a:fillRect/>
          </a:stretch>
        </p:blipFill>
        <p:spPr>
          <a:xfrm>
            <a:off x="4714646" y="3727094"/>
            <a:ext cx="263347" cy="263347"/>
          </a:xfrm>
          <a:prstGeom prst="rect">
            <a:avLst/>
          </a:prstGeom>
        </p:spPr>
      </p:pic>
      <p:sp>
        <p:nvSpPr>
          <p:cNvPr id="25" name="Text 19"/>
          <p:cNvSpPr txBox="1"/>
          <p:nvPr/>
        </p:nvSpPr>
        <p:spPr>
          <a:xfrm>
            <a:off x="5303520" y="3547872"/>
            <a:ext cx="3200400" cy="256032"/>
          </a:xfrm>
          <a:prstGeom prst="rect">
            <a:avLst/>
          </a:prstGeom>
          <a:noFill/>
          <a:ln/>
        </p:spPr>
        <p:txBody>
          <a:bodyPr wrap="square" lIns="0" tIns="0" rIns="0" bIns="0" rtlCol="0" anchor="ctr"/>
          <a:lstStyle/>
          <a:p>
            <a:pPr indent="0" marL="0">
              <a:buNone/>
            </a:pPr>
            <a:r>
              <a:rPr lang="en-US" sz="1000" b="1" spc="300" kern="0" dirty="0">
                <a:solidFill>
                  <a:srgbClr val="5E6778"/>
                </a:solidFill>
                <a:latin typeface="Calibri" pitchFamily="34" charset="0"/>
                <a:ea typeface="Calibri" pitchFamily="34" charset="-122"/>
                <a:cs typeface="Calibri" pitchFamily="34" charset="-120"/>
              </a:rPr>
              <a:t>SAFETY</a:t>
            </a:r>
            <a:endParaRPr lang="en-US" sz="1000" dirty="0"/>
          </a:p>
        </p:txBody>
      </p:sp>
      <p:sp>
        <p:nvSpPr>
          <p:cNvPr id="26" name="Text 20"/>
          <p:cNvSpPr txBox="1"/>
          <p:nvPr/>
        </p:nvSpPr>
        <p:spPr>
          <a:xfrm>
            <a:off x="5303520" y="3803904"/>
            <a:ext cx="3200400" cy="411480"/>
          </a:xfrm>
          <a:prstGeom prst="rect">
            <a:avLst/>
          </a:prstGeom>
          <a:noFill/>
          <a:ln/>
        </p:spPr>
        <p:txBody>
          <a:bodyPr wrap="square" lIns="0" tIns="0" rIns="0" bIns="0" rtlCol="0" anchor="t"/>
          <a:lstStyle/>
          <a:p>
            <a:pPr indent="0" marL="0">
              <a:buNone/>
            </a:pPr>
            <a:r>
              <a:rPr lang="en-US" sz="1300" dirty="0">
                <a:solidFill>
                  <a:srgbClr val="1B2230"/>
                </a:solidFill>
                <a:latin typeface="Calibri" pitchFamily="34" charset="0"/>
                <a:ea typeface="Calibri" pitchFamily="34" charset="-122"/>
                <a:cs typeface="Calibri" pitchFamily="34" charset="-120"/>
              </a:rPr>
              <a:t>Death, stroke and MACE at 30 days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8A93A6"/>
                </a:solidFill>
                <a:latin typeface="Calibri" pitchFamily="34" charset="0"/>
                <a:ea typeface="Calibri" pitchFamily="34" charset="-122"/>
                <a:cs typeface="Calibri" pitchFamily="34" charset="-120"/>
              </a:rPr>
              <a:t>07 / 13</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8A93A6"/>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PRIMARY ENDPOINT · MET</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Infarct size cut by about a quarter</a:t>
            </a:r>
            <a:endParaRPr lang="en-US" sz="3000" dirty="0"/>
          </a:p>
        </p:txBody>
      </p:sp>
      <p:sp>
        <p:nvSpPr>
          <p:cNvPr id="7" name="Text 4"/>
          <p:cNvSpPr txBox="1"/>
          <p:nvPr/>
        </p:nvSpPr>
        <p:spPr>
          <a:xfrm>
            <a:off x="457200" y="1463040"/>
            <a:ext cx="3840480" cy="1188720"/>
          </a:xfrm>
          <a:prstGeom prst="rect">
            <a:avLst/>
          </a:prstGeom>
          <a:noFill/>
          <a:ln/>
        </p:spPr>
        <p:txBody>
          <a:bodyPr wrap="square" lIns="0" tIns="0" rIns="0" bIns="0" rtlCol="0" anchor="ctr"/>
          <a:lstStyle/>
          <a:p>
            <a:pPr indent="0" marL="0">
              <a:buNone/>
            </a:pPr>
            <a:r>
              <a:rPr lang="en-US" sz="8000" b="1" dirty="0">
                <a:solidFill>
                  <a:srgbClr val="E5383B"/>
                </a:solidFill>
                <a:latin typeface="Cambria" pitchFamily="34" charset="0"/>
                <a:ea typeface="Cambria" pitchFamily="34" charset="-122"/>
                <a:cs typeface="Cambria" pitchFamily="34" charset="-120"/>
              </a:rPr>
              <a:t>−26%</a:t>
            </a:r>
            <a:endParaRPr lang="en-US" sz="8000" dirty="0"/>
          </a:p>
        </p:txBody>
      </p:sp>
      <p:sp>
        <p:nvSpPr>
          <p:cNvPr id="8" name="Text 5"/>
          <p:cNvSpPr txBox="1"/>
          <p:nvPr/>
        </p:nvSpPr>
        <p:spPr>
          <a:xfrm>
            <a:off x="457200" y="2697480"/>
            <a:ext cx="3657600" cy="64008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relative reduction in infarct size (CK-MB AUC) with enVast versus standard PCI</a:t>
            </a:r>
            <a:endParaRPr lang="en-US" sz="1400" dirty="0"/>
          </a:p>
        </p:txBody>
      </p:sp>
      <p:sp>
        <p:nvSpPr>
          <p:cNvPr id="9" name="Shape 6"/>
          <p:cNvSpPr/>
          <p:nvPr/>
        </p:nvSpPr>
        <p:spPr>
          <a:xfrm>
            <a:off x="457200" y="3520440"/>
            <a:ext cx="1554480" cy="457200"/>
          </a:xfrm>
          <a:prstGeom prst="roundRect">
            <a:avLst>
              <a:gd name="adj" fmla="val 50000"/>
            </a:avLst>
          </a:prstGeom>
          <a:solidFill>
            <a:srgbClr val="1A1F2B"/>
          </a:solidFill>
          <a:ln w="9525">
            <a:solidFill>
              <a:srgbClr val="8A93A6"/>
            </a:solidFill>
            <a:prstDash val="solid"/>
          </a:ln>
        </p:spPr>
      </p:sp>
      <p:sp>
        <p:nvSpPr>
          <p:cNvPr id="10" name="Text 7"/>
          <p:cNvSpPr txBox="1"/>
          <p:nvPr/>
        </p:nvSpPr>
        <p:spPr>
          <a:xfrm>
            <a:off x="457200" y="3520440"/>
            <a:ext cx="15544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 = 0.001</a:t>
            </a:r>
            <a:endParaRPr lang="en-US" sz="1500" dirty="0"/>
          </a:p>
        </p:txBody>
      </p:sp>
      <p:graphicFrame>
        <p:nvGraphicFramePr>
          <p:cNvPr id="11" name="Chart 0" descr=""/>
          <p:cNvGraphicFramePr/>
          <p:nvPr/>
        </p:nvGraphicFramePr>
        <p:xfrm>
          <a:off x="4572000" y="1325880"/>
          <a:ext cx="4114800" cy="31089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08 / 13</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SECONDARY ENDPOINT</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Biomarker and MRI tell the same story</a:t>
            </a:r>
            <a:endParaRPr lang="en-US" sz="3000" dirty="0"/>
          </a:p>
        </p:txBody>
      </p:sp>
      <p:sp>
        <p:nvSpPr>
          <p:cNvPr id="7" name="Shape 4"/>
          <p:cNvSpPr/>
          <p:nvPr/>
        </p:nvSpPr>
        <p:spPr>
          <a:xfrm>
            <a:off x="457200" y="1417320"/>
            <a:ext cx="3886200" cy="2926080"/>
          </a:xfrm>
          <a:prstGeom prst="roundRect">
            <a:avLst>
              <a:gd name="adj" fmla="val 3750"/>
            </a:avLst>
          </a:prstGeom>
          <a:solidFill>
            <a:srgbClr val="F6F7F9"/>
          </a:solidFill>
          <a:ln w="12700">
            <a:solidFill>
              <a:srgbClr val="F6F7F9"/>
            </a:solidFill>
            <a:prstDash val="solid"/>
          </a:ln>
        </p:spPr>
      </p:sp>
      <p:sp>
        <p:nvSpPr>
          <p:cNvPr id="8" name="Shape 5"/>
          <p:cNvSpPr/>
          <p:nvPr/>
        </p:nvSpPr>
        <p:spPr>
          <a:xfrm>
            <a:off x="731520" y="1645920"/>
            <a:ext cx="566928" cy="566928"/>
          </a:xfrm>
          <a:prstGeom prst="ellipse">
            <a:avLst/>
          </a:prstGeom>
          <a:solidFill>
            <a:srgbClr val="E5383B"/>
          </a:solidFill>
          <a:ln w="12700">
            <a:solidFill>
              <a:srgbClr val="E5383B"/>
            </a:solidFill>
            <a:prstDash val="solid"/>
          </a:ln>
        </p:spPr>
      </p:sp>
      <p:pic>
        <p:nvPicPr>
          <p:cNvPr id="9" name="Image 1" descr="preencoded.png">    </p:cNvPr>
          <p:cNvPicPr>
            <a:picLocks noChangeAspect="1"/>
          </p:cNvPicPr>
          <p:nvPr/>
        </p:nvPicPr>
        <p:blipFill>
          <a:blip r:embed="rId2"/>
          <a:stretch>
            <a:fillRect/>
          </a:stretch>
        </p:blipFill>
        <p:spPr>
          <a:xfrm>
            <a:off x="878921" y="1793321"/>
            <a:ext cx="272125" cy="272125"/>
          </a:xfrm>
          <a:prstGeom prst="rect">
            <a:avLst/>
          </a:prstGeom>
        </p:spPr>
      </p:pic>
      <p:sp>
        <p:nvSpPr>
          <p:cNvPr id="10" name="Text 6"/>
          <p:cNvSpPr txBox="1"/>
          <p:nvPr/>
        </p:nvSpPr>
        <p:spPr>
          <a:xfrm>
            <a:off x="1463040" y="1645920"/>
            <a:ext cx="2743200" cy="292608"/>
          </a:xfrm>
          <a:prstGeom prst="rect">
            <a:avLst/>
          </a:prstGeom>
          <a:noFill/>
          <a:ln/>
        </p:spPr>
        <p:txBody>
          <a:bodyPr wrap="square" lIns="0" tIns="0" rIns="0" bIns="0" rtlCol="0" anchor="ctr"/>
          <a:lstStyle/>
          <a:p>
            <a:pPr indent="0" marL="0">
              <a:buNone/>
            </a:pPr>
            <a:r>
              <a:rPr lang="en-US" sz="1600" b="1" dirty="0">
                <a:solidFill>
                  <a:srgbClr val="1B2230"/>
                </a:solidFill>
                <a:latin typeface="Cambria" pitchFamily="34" charset="0"/>
                <a:ea typeface="Cambria" pitchFamily="34" charset="-122"/>
                <a:cs typeface="Cambria" pitchFamily="34" charset="-120"/>
              </a:rPr>
              <a:t>CK-MB AUC</a:t>
            </a:r>
            <a:endParaRPr lang="en-US" sz="1600" dirty="0"/>
          </a:p>
        </p:txBody>
      </p:sp>
      <p:sp>
        <p:nvSpPr>
          <p:cNvPr id="11" name="Text 7"/>
          <p:cNvSpPr txBox="1"/>
          <p:nvPr/>
        </p:nvSpPr>
        <p:spPr>
          <a:xfrm>
            <a:off x="1463040" y="1938528"/>
            <a:ext cx="2743200" cy="274320"/>
          </a:xfrm>
          <a:prstGeom prst="rect">
            <a:avLst/>
          </a:prstGeom>
          <a:noFill/>
          <a:ln/>
        </p:spPr>
        <p:txBody>
          <a:bodyPr wrap="square" lIns="0" tIns="0" rIns="0" bIns="0" rtlCol="0" anchor="ctr"/>
          <a:lstStyle/>
          <a:p>
            <a:pPr indent="0" marL="0">
              <a:buNone/>
            </a:pPr>
            <a:r>
              <a:rPr lang="en-US" sz="1150" dirty="0">
                <a:solidFill>
                  <a:srgbClr val="5E6778"/>
                </a:solidFill>
                <a:latin typeface="Calibri" pitchFamily="34" charset="0"/>
                <a:ea typeface="Calibri" pitchFamily="34" charset="-122"/>
                <a:cs typeface="Calibri" pitchFamily="34" charset="-120"/>
              </a:rPr>
              <a:t>Primary endpoint</a:t>
            </a:r>
            <a:endParaRPr lang="en-US" sz="1150" dirty="0"/>
          </a:p>
        </p:txBody>
      </p:sp>
      <p:sp>
        <p:nvSpPr>
          <p:cNvPr id="12" name="Text 8"/>
          <p:cNvSpPr txBox="1"/>
          <p:nvPr/>
        </p:nvSpPr>
        <p:spPr>
          <a:xfrm>
            <a:off x="731520" y="2377440"/>
            <a:ext cx="3291840" cy="777240"/>
          </a:xfrm>
          <a:prstGeom prst="rect">
            <a:avLst/>
          </a:prstGeom>
          <a:noFill/>
          <a:ln/>
        </p:spPr>
        <p:txBody>
          <a:bodyPr wrap="square" lIns="0" tIns="0" rIns="0" bIns="0" rtlCol="0" anchor="ctr"/>
          <a:lstStyle/>
          <a:p>
            <a:pPr indent="0" marL="0">
              <a:buNone/>
            </a:pPr>
            <a:r>
              <a:rPr lang="en-US" sz="4800" b="1" dirty="0">
                <a:solidFill>
                  <a:srgbClr val="E5383B"/>
                </a:solidFill>
                <a:latin typeface="Cambria" pitchFamily="34" charset="0"/>
                <a:ea typeface="Cambria" pitchFamily="34" charset="-122"/>
                <a:cs typeface="Cambria" pitchFamily="34" charset="-120"/>
              </a:rPr>
              <a:t>−26%</a:t>
            </a:r>
            <a:endParaRPr lang="en-US" sz="4800" dirty="0"/>
          </a:p>
        </p:txBody>
      </p:sp>
      <p:sp>
        <p:nvSpPr>
          <p:cNvPr id="13" name="Text 9"/>
          <p:cNvSpPr txBox="1"/>
          <p:nvPr/>
        </p:nvSpPr>
        <p:spPr>
          <a:xfrm>
            <a:off x="731520" y="3200400"/>
            <a:ext cx="1371600" cy="201168"/>
          </a:xfrm>
          <a:prstGeom prst="rect">
            <a:avLst/>
          </a:prstGeom>
          <a:noFill/>
          <a:ln/>
        </p:spPr>
        <p:txBody>
          <a:bodyPr wrap="square" lIns="0" tIns="0" rIns="0" bIns="0" rtlCol="0" anchor="ctr"/>
          <a:lstStyle/>
          <a:p>
            <a:pPr indent="0" marL="0">
              <a:buNone/>
            </a:pPr>
            <a:r>
              <a:rPr lang="en-US" sz="950" dirty="0">
                <a:solidFill>
                  <a:srgbClr val="5E6778"/>
                </a:solidFill>
                <a:latin typeface="Calibri" pitchFamily="34" charset="0"/>
                <a:ea typeface="Calibri" pitchFamily="34" charset="-122"/>
                <a:cs typeface="Calibri" pitchFamily="34" charset="-120"/>
              </a:rPr>
              <a:t>Standard PCI</a:t>
            </a:r>
            <a:endParaRPr lang="en-US" sz="950" dirty="0"/>
          </a:p>
        </p:txBody>
      </p:sp>
      <p:sp>
        <p:nvSpPr>
          <p:cNvPr id="14" name="Shape 10"/>
          <p:cNvSpPr/>
          <p:nvPr/>
        </p:nvSpPr>
        <p:spPr>
          <a:xfrm>
            <a:off x="731520" y="3410712"/>
            <a:ext cx="3337560" cy="164592"/>
          </a:xfrm>
          <a:prstGeom prst="rect">
            <a:avLst/>
          </a:prstGeom>
          <a:solidFill>
            <a:srgbClr val="C7CCD6"/>
          </a:solidFill>
          <a:ln w="12700">
            <a:solidFill>
              <a:srgbClr val="C7CCD6"/>
            </a:solidFill>
            <a:prstDash val="solid"/>
          </a:ln>
        </p:spPr>
      </p:sp>
      <p:sp>
        <p:nvSpPr>
          <p:cNvPr id="15" name="Text 11"/>
          <p:cNvSpPr txBox="1"/>
          <p:nvPr/>
        </p:nvSpPr>
        <p:spPr>
          <a:xfrm>
            <a:off x="731520" y="3630168"/>
            <a:ext cx="1371600" cy="201168"/>
          </a:xfrm>
          <a:prstGeom prst="rect">
            <a:avLst/>
          </a:prstGeom>
          <a:noFill/>
          <a:ln/>
        </p:spPr>
        <p:txBody>
          <a:bodyPr wrap="square" lIns="0" tIns="0" rIns="0" bIns="0" rtlCol="0" anchor="ctr"/>
          <a:lstStyle/>
          <a:p>
            <a:pPr indent="0" marL="0">
              <a:buNone/>
            </a:pPr>
            <a:r>
              <a:rPr lang="en-US" sz="950" dirty="0">
                <a:solidFill>
                  <a:srgbClr val="5E6778"/>
                </a:solidFill>
                <a:latin typeface="Calibri" pitchFamily="34" charset="0"/>
                <a:ea typeface="Calibri" pitchFamily="34" charset="-122"/>
                <a:cs typeface="Calibri" pitchFamily="34" charset="-120"/>
              </a:rPr>
              <a:t>enVast + PCI</a:t>
            </a:r>
            <a:endParaRPr lang="en-US" sz="950" dirty="0"/>
          </a:p>
        </p:txBody>
      </p:sp>
      <p:sp>
        <p:nvSpPr>
          <p:cNvPr id="16" name="Shape 12"/>
          <p:cNvSpPr/>
          <p:nvPr/>
        </p:nvSpPr>
        <p:spPr>
          <a:xfrm>
            <a:off x="731520" y="3840480"/>
            <a:ext cx="2469794" cy="164592"/>
          </a:xfrm>
          <a:prstGeom prst="rect">
            <a:avLst/>
          </a:prstGeom>
          <a:solidFill>
            <a:srgbClr val="E5383B"/>
          </a:solidFill>
          <a:ln w="12700">
            <a:solidFill>
              <a:srgbClr val="E5383B"/>
            </a:solidFill>
            <a:prstDash val="solid"/>
          </a:ln>
        </p:spPr>
      </p:sp>
      <p:sp>
        <p:nvSpPr>
          <p:cNvPr id="17" name="Text 13"/>
          <p:cNvSpPr txBox="1"/>
          <p:nvPr/>
        </p:nvSpPr>
        <p:spPr>
          <a:xfrm>
            <a:off x="731520" y="4041648"/>
            <a:ext cx="3337560" cy="228600"/>
          </a:xfrm>
          <a:prstGeom prst="rect">
            <a:avLst/>
          </a:prstGeom>
          <a:noFill/>
          <a:ln/>
        </p:spPr>
        <p:txBody>
          <a:bodyPr wrap="square" lIns="0" tIns="0" rIns="0" bIns="0" rtlCol="0" anchor="ctr"/>
          <a:lstStyle/>
          <a:p>
            <a:pPr indent="0" marL="0">
              <a:buNone/>
            </a:pPr>
            <a:r>
              <a:rPr lang="en-US" sz="1050" i="1" dirty="0">
                <a:solidFill>
                  <a:srgbClr val="1B2230"/>
                </a:solidFill>
                <a:latin typeface="Calibri" pitchFamily="34" charset="0"/>
                <a:ea typeface="Calibri" pitchFamily="34" charset="-122"/>
                <a:cs typeface="Calibri" pitchFamily="34" charset="-120"/>
              </a:rPr>
              <a:t>P = 0.001 · significant</a:t>
            </a:r>
            <a:endParaRPr lang="en-US" sz="1050" dirty="0"/>
          </a:p>
        </p:txBody>
      </p:sp>
      <p:sp>
        <p:nvSpPr>
          <p:cNvPr id="18" name="Shape 14"/>
          <p:cNvSpPr/>
          <p:nvPr/>
        </p:nvSpPr>
        <p:spPr>
          <a:xfrm>
            <a:off x="4800600" y="1417320"/>
            <a:ext cx="3886200" cy="2926080"/>
          </a:xfrm>
          <a:prstGeom prst="roundRect">
            <a:avLst>
              <a:gd name="adj" fmla="val 3750"/>
            </a:avLst>
          </a:prstGeom>
          <a:solidFill>
            <a:srgbClr val="F6F7F9"/>
          </a:solidFill>
          <a:ln w="12700">
            <a:solidFill>
              <a:srgbClr val="F6F7F9"/>
            </a:solidFill>
            <a:prstDash val="solid"/>
          </a:ln>
        </p:spPr>
      </p:sp>
      <p:sp>
        <p:nvSpPr>
          <p:cNvPr id="19" name="Shape 15"/>
          <p:cNvSpPr/>
          <p:nvPr/>
        </p:nvSpPr>
        <p:spPr>
          <a:xfrm>
            <a:off x="5074920" y="1645920"/>
            <a:ext cx="566928" cy="566928"/>
          </a:xfrm>
          <a:prstGeom prst="ellipse">
            <a:avLst/>
          </a:prstGeom>
          <a:solidFill>
            <a:srgbClr val="1FA99C"/>
          </a:solidFill>
          <a:ln w="12700">
            <a:solidFill>
              <a:srgbClr val="1FA99C"/>
            </a:solidFill>
            <a:prstDash val="solid"/>
          </a:ln>
        </p:spPr>
      </p:sp>
      <p:pic>
        <p:nvPicPr>
          <p:cNvPr id="20" name="Image 2" descr="preencoded.png">    </p:cNvPr>
          <p:cNvPicPr>
            <a:picLocks noChangeAspect="1"/>
          </p:cNvPicPr>
          <p:nvPr/>
        </p:nvPicPr>
        <p:blipFill>
          <a:blip r:embed="rId3"/>
          <a:stretch>
            <a:fillRect/>
          </a:stretch>
        </p:blipFill>
        <p:spPr>
          <a:xfrm>
            <a:off x="5222321" y="1793321"/>
            <a:ext cx="272125" cy="272125"/>
          </a:xfrm>
          <a:prstGeom prst="rect">
            <a:avLst/>
          </a:prstGeom>
        </p:spPr>
      </p:pic>
      <p:sp>
        <p:nvSpPr>
          <p:cNvPr id="21" name="Text 16"/>
          <p:cNvSpPr txBox="1"/>
          <p:nvPr/>
        </p:nvSpPr>
        <p:spPr>
          <a:xfrm>
            <a:off x="5806440" y="1645920"/>
            <a:ext cx="2743200" cy="292608"/>
          </a:xfrm>
          <a:prstGeom prst="rect">
            <a:avLst/>
          </a:prstGeom>
          <a:noFill/>
          <a:ln/>
        </p:spPr>
        <p:txBody>
          <a:bodyPr wrap="square" lIns="0" tIns="0" rIns="0" bIns="0" rtlCol="0" anchor="ctr"/>
          <a:lstStyle/>
          <a:p>
            <a:pPr indent="0" marL="0">
              <a:buNone/>
            </a:pPr>
            <a:r>
              <a:rPr lang="en-US" sz="1600" b="1" dirty="0">
                <a:solidFill>
                  <a:srgbClr val="1B2230"/>
                </a:solidFill>
                <a:latin typeface="Cambria" pitchFamily="34" charset="0"/>
                <a:ea typeface="Cambria" pitchFamily="34" charset="-122"/>
                <a:cs typeface="Cambria" pitchFamily="34" charset="-120"/>
              </a:rPr>
              <a:t>Cardiac MRI, day 3</a:t>
            </a:r>
            <a:endParaRPr lang="en-US" sz="1600" dirty="0"/>
          </a:p>
        </p:txBody>
      </p:sp>
      <p:sp>
        <p:nvSpPr>
          <p:cNvPr id="22" name="Text 17"/>
          <p:cNvSpPr txBox="1"/>
          <p:nvPr/>
        </p:nvSpPr>
        <p:spPr>
          <a:xfrm>
            <a:off x="5806440" y="1938528"/>
            <a:ext cx="2743200" cy="274320"/>
          </a:xfrm>
          <a:prstGeom prst="rect">
            <a:avLst/>
          </a:prstGeom>
          <a:noFill/>
          <a:ln/>
        </p:spPr>
        <p:txBody>
          <a:bodyPr wrap="square" lIns="0" tIns="0" rIns="0" bIns="0" rtlCol="0" anchor="ctr"/>
          <a:lstStyle/>
          <a:p>
            <a:pPr indent="0" marL="0">
              <a:buNone/>
            </a:pPr>
            <a:r>
              <a:rPr lang="en-US" sz="1150" dirty="0">
                <a:solidFill>
                  <a:srgbClr val="5E6778"/>
                </a:solidFill>
                <a:latin typeface="Calibri" pitchFamily="34" charset="0"/>
                <a:ea typeface="Calibri" pitchFamily="34" charset="-122"/>
                <a:cs typeface="Calibri" pitchFamily="34" charset="-120"/>
              </a:rPr>
              <a:t>Infarct size, % LV mass</a:t>
            </a:r>
            <a:endParaRPr lang="en-US" sz="1150" dirty="0"/>
          </a:p>
        </p:txBody>
      </p:sp>
      <p:sp>
        <p:nvSpPr>
          <p:cNvPr id="23" name="Text 18"/>
          <p:cNvSpPr txBox="1"/>
          <p:nvPr/>
        </p:nvSpPr>
        <p:spPr>
          <a:xfrm>
            <a:off x="5074920" y="2377440"/>
            <a:ext cx="3291840" cy="777240"/>
          </a:xfrm>
          <a:prstGeom prst="rect">
            <a:avLst/>
          </a:prstGeom>
          <a:noFill/>
          <a:ln/>
        </p:spPr>
        <p:txBody>
          <a:bodyPr wrap="square" lIns="0" tIns="0" rIns="0" bIns="0" rtlCol="0" anchor="ctr"/>
          <a:lstStyle/>
          <a:p>
            <a:pPr indent="0" marL="0">
              <a:buNone/>
            </a:pPr>
            <a:r>
              <a:rPr lang="en-US" sz="4800" b="1" dirty="0">
                <a:solidFill>
                  <a:srgbClr val="1FA99C"/>
                </a:solidFill>
                <a:latin typeface="Cambria" pitchFamily="34" charset="0"/>
                <a:ea typeface="Cambria" pitchFamily="34" charset="-122"/>
                <a:cs typeface="Cambria" pitchFamily="34" charset="-120"/>
              </a:rPr>
              <a:t>−25%</a:t>
            </a:r>
            <a:endParaRPr lang="en-US" sz="4800" dirty="0"/>
          </a:p>
        </p:txBody>
      </p:sp>
      <p:sp>
        <p:nvSpPr>
          <p:cNvPr id="24" name="Text 19"/>
          <p:cNvSpPr txBox="1"/>
          <p:nvPr/>
        </p:nvSpPr>
        <p:spPr>
          <a:xfrm>
            <a:off x="5074920" y="3200400"/>
            <a:ext cx="1371600" cy="201168"/>
          </a:xfrm>
          <a:prstGeom prst="rect">
            <a:avLst/>
          </a:prstGeom>
          <a:noFill/>
          <a:ln/>
        </p:spPr>
        <p:txBody>
          <a:bodyPr wrap="square" lIns="0" tIns="0" rIns="0" bIns="0" rtlCol="0" anchor="ctr"/>
          <a:lstStyle/>
          <a:p>
            <a:pPr indent="0" marL="0">
              <a:buNone/>
            </a:pPr>
            <a:r>
              <a:rPr lang="en-US" sz="950" dirty="0">
                <a:solidFill>
                  <a:srgbClr val="5E6778"/>
                </a:solidFill>
                <a:latin typeface="Calibri" pitchFamily="34" charset="0"/>
                <a:ea typeface="Calibri" pitchFamily="34" charset="-122"/>
                <a:cs typeface="Calibri" pitchFamily="34" charset="-120"/>
              </a:rPr>
              <a:t>Standard PCI</a:t>
            </a:r>
            <a:endParaRPr lang="en-US" sz="950" dirty="0"/>
          </a:p>
        </p:txBody>
      </p:sp>
      <p:sp>
        <p:nvSpPr>
          <p:cNvPr id="25" name="Shape 20"/>
          <p:cNvSpPr/>
          <p:nvPr/>
        </p:nvSpPr>
        <p:spPr>
          <a:xfrm>
            <a:off x="5074920" y="3410712"/>
            <a:ext cx="3337560" cy="164592"/>
          </a:xfrm>
          <a:prstGeom prst="rect">
            <a:avLst/>
          </a:prstGeom>
          <a:solidFill>
            <a:srgbClr val="C7CCD6"/>
          </a:solidFill>
          <a:ln w="12700">
            <a:solidFill>
              <a:srgbClr val="C7CCD6"/>
            </a:solidFill>
            <a:prstDash val="solid"/>
          </a:ln>
        </p:spPr>
      </p:sp>
      <p:sp>
        <p:nvSpPr>
          <p:cNvPr id="26" name="Text 21"/>
          <p:cNvSpPr txBox="1"/>
          <p:nvPr/>
        </p:nvSpPr>
        <p:spPr>
          <a:xfrm>
            <a:off x="5074920" y="3630168"/>
            <a:ext cx="1371600" cy="201168"/>
          </a:xfrm>
          <a:prstGeom prst="rect">
            <a:avLst/>
          </a:prstGeom>
          <a:noFill/>
          <a:ln/>
        </p:spPr>
        <p:txBody>
          <a:bodyPr wrap="square" lIns="0" tIns="0" rIns="0" bIns="0" rtlCol="0" anchor="ctr"/>
          <a:lstStyle/>
          <a:p>
            <a:pPr indent="0" marL="0">
              <a:buNone/>
            </a:pPr>
            <a:r>
              <a:rPr lang="en-US" sz="950" dirty="0">
                <a:solidFill>
                  <a:srgbClr val="5E6778"/>
                </a:solidFill>
                <a:latin typeface="Calibri" pitchFamily="34" charset="0"/>
                <a:ea typeface="Calibri" pitchFamily="34" charset="-122"/>
                <a:cs typeface="Calibri" pitchFamily="34" charset="-120"/>
              </a:rPr>
              <a:t>enVast + PCI</a:t>
            </a:r>
            <a:endParaRPr lang="en-US" sz="950" dirty="0"/>
          </a:p>
        </p:txBody>
      </p:sp>
      <p:sp>
        <p:nvSpPr>
          <p:cNvPr id="27" name="Shape 22"/>
          <p:cNvSpPr/>
          <p:nvPr/>
        </p:nvSpPr>
        <p:spPr>
          <a:xfrm>
            <a:off x="5074920" y="3840480"/>
            <a:ext cx="2503170" cy="164592"/>
          </a:xfrm>
          <a:prstGeom prst="rect">
            <a:avLst/>
          </a:prstGeom>
          <a:solidFill>
            <a:srgbClr val="1FA99C"/>
          </a:solidFill>
          <a:ln w="12700">
            <a:solidFill>
              <a:srgbClr val="1FA99C"/>
            </a:solidFill>
            <a:prstDash val="solid"/>
          </a:ln>
        </p:spPr>
      </p:sp>
      <p:sp>
        <p:nvSpPr>
          <p:cNvPr id="28" name="Text 23"/>
          <p:cNvSpPr txBox="1"/>
          <p:nvPr/>
        </p:nvSpPr>
        <p:spPr>
          <a:xfrm>
            <a:off x="5074920" y="4041648"/>
            <a:ext cx="3337560" cy="228600"/>
          </a:xfrm>
          <a:prstGeom prst="rect">
            <a:avLst/>
          </a:prstGeom>
          <a:noFill/>
          <a:ln/>
        </p:spPr>
        <p:txBody>
          <a:bodyPr wrap="square" lIns="0" tIns="0" rIns="0" bIns="0" rtlCol="0" anchor="ctr"/>
          <a:lstStyle/>
          <a:p>
            <a:pPr indent="0" marL="0">
              <a:buNone/>
            </a:pPr>
            <a:r>
              <a:rPr lang="en-US" sz="1050" i="1" dirty="0">
                <a:solidFill>
                  <a:srgbClr val="1B2230"/>
                </a:solidFill>
                <a:latin typeface="Calibri" pitchFamily="34" charset="0"/>
                <a:ea typeface="Calibri" pitchFamily="34" charset="-122"/>
                <a:cs typeface="Calibri" pitchFamily="34" charset="-120"/>
              </a:rPr>
              <a:t>Directionally consistent trend</a:t>
            </a:r>
            <a:endParaRPr lang="en-US" sz="1050" dirty="0"/>
          </a:p>
        </p:txBody>
      </p:sp>
      <p:sp>
        <p:nvSpPr>
          <p:cNvPr id="29" name="Text 24"/>
          <p:cNvSpPr txBox="1"/>
          <p:nvPr/>
        </p:nvSpPr>
        <p:spPr>
          <a:xfrm>
            <a:off x="4343400" y="2377440"/>
            <a:ext cx="457200" cy="731520"/>
          </a:xfrm>
          <a:prstGeom prst="rect">
            <a:avLst/>
          </a:prstGeom>
          <a:noFill/>
          <a:ln/>
        </p:spPr>
        <p:txBody>
          <a:bodyPr wrap="square" lIns="0" tIns="0" rIns="0" bIns="0" rtlCol="0" anchor="ctr"/>
          <a:lstStyle/>
          <a:p>
            <a:pPr algn="ctr" indent="0" marL="0">
              <a:buNone/>
            </a:pPr>
            <a:r>
              <a:rPr lang="en-US" sz="3600" b="1" dirty="0">
                <a:solidFill>
                  <a:srgbClr val="5E6778"/>
                </a:solidFill>
                <a:latin typeface="Cambria" pitchFamily="34" charset="0"/>
                <a:ea typeface="Cambria" pitchFamily="34" charset="-122"/>
                <a:cs typeface="Cambria" pitchFamily="34" charset="-120"/>
              </a:rPr>
              <a:t>≈</a:t>
            </a:r>
            <a:endParaRPr lang="en-US" sz="3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09 / 13</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30-DAY SAFETY</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No strokes, no deaths in the enVast arm</a:t>
            </a:r>
            <a:endParaRPr lang="en-US" sz="3000" dirty="0"/>
          </a:p>
        </p:txBody>
      </p:sp>
      <p:graphicFrame>
        <p:nvGraphicFramePr>
          <p:cNvPr id="7" name="Chart 0" descr=""/>
          <p:cNvGraphicFramePr/>
          <p:nvPr/>
        </p:nvGraphicFramePr>
        <p:xfrm>
          <a:off x="365760" y="1325880"/>
          <a:ext cx="5120640" cy="315468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852160" y="1417320"/>
            <a:ext cx="2834640" cy="1417320"/>
          </a:xfrm>
          <a:prstGeom prst="roundRect">
            <a:avLst>
              <a:gd name="adj" fmla="val 7742"/>
            </a:avLst>
          </a:prstGeom>
          <a:solidFill>
            <a:srgbClr val="E3F5F3"/>
          </a:solidFill>
          <a:ln w="12700">
            <a:solidFill>
              <a:srgbClr val="E3F5F3"/>
            </a:solidFill>
            <a:prstDash val="solid"/>
          </a:ln>
        </p:spPr>
      </p:sp>
      <p:sp>
        <p:nvSpPr>
          <p:cNvPr id="9" name="Shape 5"/>
          <p:cNvSpPr/>
          <p:nvPr/>
        </p:nvSpPr>
        <p:spPr>
          <a:xfrm>
            <a:off x="6035040" y="1600200"/>
            <a:ext cx="457200" cy="457200"/>
          </a:xfrm>
          <a:prstGeom prst="ellipse">
            <a:avLst/>
          </a:prstGeom>
          <a:solidFill>
            <a:srgbClr val="1FA99C"/>
          </a:solidFill>
          <a:ln w="12700">
            <a:solidFill>
              <a:srgbClr val="1FA99C"/>
            </a:solidFill>
            <a:prstDash val="solid"/>
          </a:ln>
        </p:spPr>
      </p:sp>
      <p:pic>
        <p:nvPicPr>
          <p:cNvPr id="10" name="Image 1" descr="preencoded.png">    </p:cNvPr>
          <p:cNvPicPr>
            <a:picLocks noChangeAspect="1"/>
          </p:cNvPicPr>
          <p:nvPr/>
        </p:nvPicPr>
        <p:blipFill>
          <a:blip r:embed="rId3"/>
          <a:stretch>
            <a:fillRect/>
          </a:stretch>
        </p:blipFill>
        <p:spPr>
          <a:xfrm>
            <a:off x="6153912" y="1719072"/>
            <a:ext cx="219456" cy="219456"/>
          </a:xfrm>
          <a:prstGeom prst="rect">
            <a:avLst/>
          </a:prstGeom>
        </p:spPr>
      </p:pic>
      <p:sp>
        <p:nvSpPr>
          <p:cNvPr id="11" name="Text 6"/>
          <p:cNvSpPr txBox="1"/>
          <p:nvPr/>
        </p:nvSpPr>
        <p:spPr>
          <a:xfrm>
            <a:off x="6629400" y="1645920"/>
            <a:ext cx="2011680" cy="365760"/>
          </a:xfrm>
          <a:prstGeom prst="rect">
            <a:avLst/>
          </a:prstGeom>
          <a:noFill/>
          <a:ln/>
        </p:spPr>
        <p:txBody>
          <a:bodyPr wrap="square" lIns="0" tIns="0" rIns="0" bIns="0" rtlCol="0" anchor="ctr"/>
          <a:lstStyle/>
          <a:p>
            <a:pPr indent="0" marL="0">
              <a:buNone/>
            </a:pPr>
            <a:r>
              <a:rPr lang="en-US" sz="1400" b="1" dirty="0">
                <a:solidFill>
                  <a:srgbClr val="1B2230"/>
                </a:solidFill>
                <a:latin typeface="Cambria" pitchFamily="34" charset="0"/>
                <a:ea typeface="Cambria" pitchFamily="34" charset="-122"/>
                <a:cs typeface="Cambria" pitchFamily="34" charset="-120"/>
              </a:rPr>
              <a:t>Why it matters</a:t>
            </a:r>
            <a:endParaRPr lang="en-US" sz="1400" dirty="0"/>
          </a:p>
        </p:txBody>
      </p:sp>
      <p:sp>
        <p:nvSpPr>
          <p:cNvPr id="12" name="Text 7"/>
          <p:cNvSpPr txBox="1"/>
          <p:nvPr/>
        </p:nvSpPr>
        <p:spPr>
          <a:xfrm>
            <a:off x="6035040" y="2148840"/>
            <a:ext cx="2514600" cy="640080"/>
          </a:xfrm>
          <a:prstGeom prst="rect">
            <a:avLst/>
          </a:prstGeom>
          <a:noFill/>
          <a:ln/>
        </p:spPr>
        <p:txBody>
          <a:bodyPr wrap="square" lIns="0" tIns="0" rIns="0" bIns="0" rtlCol="0" anchor="t"/>
          <a:lstStyle/>
          <a:p>
            <a:pPr indent="0" marL="0">
              <a:buNone/>
            </a:pPr>
            <a:r>
              <a:rPr lang="en-US" sz="1150" dirty="0">
                <a:solidFill>
                  <a:srgbClr val="1B2230"/>
                </a:solidFill>
                <a:latin typeface="Calibri" pitchFamily="34" charset="0"/>
                <a:ea typeface="Calibri" pitchFamily="34" charset="-122"/>
                <a:cs typeface="Calibri" pitchFamily="34" charset="-120"/>
              </a:rPr>
              <a:t>Aspiration in TOTAL carried a stroke signal. NATURE saw none with enVast.</a:t>
            </a:r>
            <a:endParaRPr lang="en-US" sz="1150" dirty="0"/>
          </a:p>
        </p:txBody>
      </p:sp>
      <p:sp>
        <p:nvSpPr>
          <p:cNvPr id="13" name="Shape 8"/>
          <p:cNvSpPr/>
          <p:nvPr/>
        </p:nvSpPr>
        <p:spPr>
          <a:xfrm>
            <a:off x="5852160" y="3017520"/>
            <a:ext cx="2834640" cy="1417320"/>
          </a:xfrm>
          <a:prstGeom prst="roundRect">
            <a:avLst>
              <a:gd name="adj" fmla="val 7742"/>
            </a:avLst>
          </a:prstGeom>
          <a:solidFill>
            <a:srgbClr val="FDECEC"/>
          </a:solidFill>
          <a:ln w="12700">
            <a:solidFill>
              <a:srgbClr val="FDECEC"/>
            </a:solidFill>
            <a:prstDash val="solid"/>
          </a:ln>
        </p:spPr>
      </p:sp>
      <p:sp>
        <p:nvSpPr>
          <p:cNvPr id="14" name="Shape 9"/>
          <p:cNvSpPr/>
          <p:nvPr/>
        </p:nvSpPr>
        <p:spPr>
          <a:xfrm>
            <a:off x="6035040" y="3200400"/>
            <a:ext cx="457200" cy="457200"/>
          </a:xfrm>
          <a:prstGeom prst="ellipse">
            <a:avLst/>
          </a:prstGeom>
          <a:solidFill>
            <a:srgbClr val="E5383B"/>
          </a:solidFill>
          <a:ln w="12700">
            <a:solidFill>
              <a:srgbClr val="E5383B"/>
            </a:solidFill>
            <a:prstDash val="solid"/>
          </a:ln>
        </p:spPr>
      </p:sp>
      <p:pic>
        <p:nvPicPr>
          <p:cNvPr id="15" name="Image 2" descr="preencoded.png">    </p:cNvPr>
          <p:cNvPicPr>
            <a:picLocks noChangeAspect="1"/>
          </p:cNvPicPr>
          <p:nvPr/>
        </p:nvPicPr>
        <p:blipFill>
          <a:blip r:embed="rId4"/>
          <a:stretch>
            <a:fillRect/>
          </a:stretch>
        </p:blipFill>
        <p:spPr>
          <a:xfrm>
            <a:off x="6153912" y="3319272"/>
            <a:ext cx="219456" cy="219456"/>
          </a:xfrm>
          <a:prstGeom prst="rect">
            <a:avLst/>
          </a:prstGeom>
        </p:spPr>
      </p:pic>
      <p:sp>
        <p:nvSpPr>
          <p:cNvPr id="16" name="Text 10"/>
          <p:cNvSpPr txBox="1"/>
          <p:nvPr/>
        </p:nvSpPr>
        <p:spPr>
          <a:xfrm>
            <a:off x="6629400" y="3246120"/>
            <a:ext cx="2011680" cy="365760"/>
          </a:xfrm>
          <a:prstGeom prst="rect">
            <a:avLst/>
          </a:prstGeom>
          <a:noFill/>
          <a:ln/>
        </p:spPr>
        <p:txBody>
          <a:bodyPr wrap="square" lIns="0" tIns="0" rIns="0" bIns="0" rtlCol="0" anchor="ctr"/>
          <a:lstStyle/>
          <a:p>
            <a:pPr indent="0" marL="0">
              <a:buNone/>
            </a:pPr>
            <a:r>
              <a:rPr lang="en-US" sz="1400" b="1" dirty="0">
                <a:solidFill>
                  <a:srgbClr val="1B2230"/>
                </a:solidFill>
                <a:latin typeface="Cambria" pitchFamily="34" charset="0"/>
                <a:ea typeface="Cambria" pitchFamily="34" charset="-122"/>
                <a:cs typeface="Cambria" pitchFamily="34" charset="-120"/>
              </a:rPr>
              <a:t>Read with care</a:t>
            </a:r>
            <a:endParaRPr lang="en-US" sz="1400" dirty="0"/>
          </a:p>
        </p:txBody>
      </p:sp>
      <p:sp>
        <p:nvSpPr>
          <p:cNvPr id="17" name="Text 11"/>
          <p:cNvSpPr txBox="1"/>
          <p:nvPr/>
        </p:nvSpPr>
        <p:spPr>
          <a:xfrm>
            <a:off x="6035040" y="3749040"/>
            <a:ext cx="2514600" cy="640080"/>
          </a:xfrm>
          <a:prstGeom prst="rect">
            <a:avLst/>
          </a:prstGeom>
          <a:noFill/>
          <a:ln/>
        </p:spPr>
        <p:txBody>
          <a:bodyPr wrap="square" lIns="0" tIns="0" rIns="0" bIns="0" rtlCol="0" anchor="t"/>
          <a:lstStyle/>
          <a:p>
            <a:pPr indent="0" marL="0">
              <a:buNone/>
            </a:pPr>
            <a:r>
              <a:rPr lang="en-US" sz="1150" dirty="0">
                <a:solidFill>
                  <a:srgbClr val="1B2230"/>
                </a:solidFill>
                <a:latin typeface="Calibri" pitchFamily="34" charset="0"/>
                <a:ea typeface="Calibri" pitchFamily="34" charset="-122"/>
                <a:cs typeface="Calibri" pitchFamily="34" charset="-120"/>
              </a:rPr>
              <a:t>Only a handful of events; the trial was not powered for clinical outcomes.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10 / 13</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CRITICAL APPRAISAL</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Strong signal, early evidence</a:t>
            </a:r>
            <a:endParaRPr lang="en-US" sz="3000" dirty="0"/>
          </a:p>
        </p:txBody>
      </p:sp>
      <p:sp>
        <p:nvSpPr>
          <p:cNvPr id="7" name="Shape 4"/>
          <p:cNvSpPr/>
          <p:nvPr/>
        </p:nvSpPr>
        <p:spPr>
          <a:xfrm>
            <a:off x="457200" y="1371600"/>
            <a:ext cx="4023360" cy="2514600"/>
          </a:xfrm>
          <a:prstGeom prst="roundRect">
            <a:avLst>
              <a:gd name="adj" fmla="val 4364"/>
            </a:avLst>
          </a:prstGeom>
          <a:solidFill>
            <a:srgbClr val="F6F7F9"/>
          </a:solidFill>
          <a:ln w="12700">
            <a:solidFill>
              <a:srgbClr val="F6F7F9"/>
            </a:solidFill>
            <a:prstDash val="solid"/>
          </a:ln>
        </p:spPr>
      </p:sp>
      <p:sp>
        <p:nvSpPr>
          <p:cNvPr id="8" name="Shape 5"/>
          <p:cNvSpPr/>
          <p:nvPr/>
        </p:nvSpPr>
        <p:spPr>
          <a:xfrm>
            <a:off x="731520" y="1572768"/>
            <a:ext cx="502920" cy="502920"/>
          </a:xfrm>
          <a:prstGeom prst="ellipse">
            <a:avLst/>
          </a:prstGeom>
          <a:solidFill>
            <a:srgbClr val="1FA99C"/>
          </a:solidFill>
          <a:ln w="12700">
            <a:solidFill>
              <a:srgbClr val="1FA99C"/>
            </a:solidFill>
            <a:prstDash val="solid"/>
          </a:ln>
        </p:spPr>
      </p:sp>
      <p:pic>
        <p:nvPicPr>
          <p:cNvPr id="9" name="Image 1" descr="preencoded.png">    </p:cNvPr>
          <p:cNvPicPr>
            <a:picLocks noChangeAspect="1"/>
          </p:cNvPicPr>
          <p:nvPr/>
        </p:nvPicPr>
        <p:blipFill>
          <a:blip r:embed="rId2"/>
          <a:stretch>
            <a:fillRect/>
          </a:stretch>
        </p:blipFill>
        <p:spPr>
          <a:xfrm>
            <a:off x="862279" y="1703527"/>
            <a:ext cx="241402" cy="241402"/>
          </a:xfrm>
          <a:prstGeom prst="rect">
            <a:avLst/>
          </a:prstGeom>
        </p:spPr>
      </p:pic>
      <p:sp>
        <p:nvSpPr>
          <p:cNvPr id="10" name="Text 6"/>
          <p:cNvSpPr txBox="1"/>
          <p:nvPr/>
        </p:nvSpPr>
        <p:spPr>
          <a:xfrm>
            <a:off x="1371600" y="1572768"/>
            <a:ext cx="2926080" cy="502920"/>
          </a:xfrm>
          <a:prstGeom prst="rect">
            <a:avLst/>
          </a:prstGeom>
          <a:noFill/>
          <a:ln/>
        </p:spPr>
        <p:txBody>
          <a:bodyPr wrap="square" lIns="0" tIns="0" rIns="0" bIns="0" rtlCol="0" anchor="ctr"/>
          <a:lstStyle/>
          <a:p>
            <a:pPr indent="0" marL="0">
              <a:buNone/>
            </a:pPr>
            <a:r>
              <a:rPr lang="en-US" sz="1900" b="1" dirty="0">
                <a:solidFill>
                  <a:srgbClr val="1B2230"/>
                </a:solidFill>
                <a:latin typeface="Cambria" pitchFamily="34" charset="0"/>
                <a:ea typeface="Cambria" pitchFamily="34" charset="-122"/>
                <a:cs typeface="Cambria" pitchFamily="34" charset="-120"/>
              </a:rPr>
              <a:t>Strengths</a:t>
            </a:r>
            <a:endParaRPr lang="en-US" sz="1900" dirty="0"/>
          </a:p>
        </p:txBody>
      </p:sp>
      <p:sp>
        <p:nvSpPr>
          <p:cNvPr id="11" name="Text 7"/>
          <p:cNvSpPr txBox="1"/>
          <p:nvPr/>
        </p:nvSpPr>
        <p:spPr>
          <a:xfrm>
            <a:off x="731520" y="2240280"/>
            <a:ext cx="3566160" cy="15544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B2230"/>
                </a:solidFill>
                <a:latin typeface="Calibri" pitchFamily="34" charset="0"/>
                <a:ea typeface="Calibri" pitchFamily="34" charset="-122"/>
                <a:cs typeface="Calibri" pitchFamily="34" charset="-120"/>
              </a:rPr>
              <a:t>Randomised, multicentre design</a:t>
            </a:r>
            <a:endParaRPr lang="en-US" sz="1300" dirty="0"/>
          </a:p>
          <a:p>
            <a:pPr marL="342900" indent="-342900">
              <a:spcAft>
                <a:spcPts val="800"/>
              </a:spcAft>
              <a:buSzPct val="100000"/>
              <a:buChar char="•"/>
            </a:pPr>
            <a:r>
              <a:rPr lang="en-US" sz="1300" dirty="0">
                <a:solidFill>
                  <a:srgbClr val="1B2230"/>
                </a:solidFill>
                <a:latin typeface="Calibri" pitchFamily="34" charset="0"/>
                <a:ea typeface="Calibri" pitchFamily="34" charset="-122"/>
                <a:cs typeface="Calibri" pitchFamily="34" charset="-120"/>
              </a:rPr>
              <a:t>Population enriched for large thrombus — where benefit is most plausible</a:t>
            </a:r>
            <a:endParaRPr lang="en-US" sz="1300" dirty="0"/>
          </a:p>
          <a:p>
            <a:pPr marL="342900" indent="-342900">
              <a:spcAft>
                <a:spcPts val="800"/>
              </a:spcAft>
              <a:buSzPct val="100000"/>
              <a:buChar char="•"/>
            </a:pPr>
            <a:r>
              <a:rPr lang="en-US" sz="1300" dirty="0">
                <a:solidFill>
                  <a:srgbClr val="1B2230"/>
                </a:solidFill>
                <a:latin typeface="Calibri" pitchFamily="34" charset="0"/>
                <a:ea typeface="Calibri" pitchFamily="34" charset="-122"/>
                <a:cs typeface="Calibri" pitchFamily="34" charset="-120"/>
              </a:rPr>
              <a:t>Biomarker and CMR results agree</a:t>
            </a:r>
            <a:endParaRPr lang="en-US" sz="1300" dirty="0"/>
          </a:p>
          <a:p>
            <a:pPr marL="342900" indent="-342900">
              <a:spcAft>
                <a:spcPts val="800"/>
              </a:spcAft>
              <a:buSzPct val="100000"/>
              <a:buChar char="•"/>
            </a:pPr>
            <a:r>
              <a:rPr lang="en-US" sz="1300" dirty="0">
                <a:solidFill>
                  <a:srgbClr val="1B2230"/>
                </a:solidFill>
                <a:latin typeface="Calibri" pitchFamily="34" charset="0"/>
                <a:ea typeface="Calibri" pitchFamily="34" charset="-122"/>
                <a:cs typeface="Calibri" pitchFamily="34" charset="-120"/>
              </a:rPr>
              <a:t>No stroke or death signal at 30 days</a:t>
            </a:r>
            <a:endParaRPr lang="en-US" sz="1300" dirty="0"/>
          </a:p>
        </p:txBody>
      </p:sp>
      <p:sp>
        <p:nvSpPr>
          <p:cNvPr id="12" name="Shape 8"/>
          <p:cNvSpPr/>
          <p:nvPr/>
        </p:nvSpPr>
        <p:spPr>
          <a:xfrm>
            <a:off x="4663440" y="1371600"/>
            <a:ext cx="4023360" cy="2514600"/>
          </a:xfrm>
          <a:prstGeom prst="roundRect">
            <a:avLst>
              <a:gd name="adj" fmla="val 4364"/>
            </a:avLst>
          </a:prstGeom>
          <a:solidFill>
            <a:srgbClr val="F6F7F9"/>
          </a:solidFill>
          <a:ln w="12700">
            <a:solidFill>
              <a:srgbClr val="F6F7F9"/>
            </a:solidFill>
            <a:prstDash val="solid"/>
          </a:ln>
        </p:spPr>
      </p:sp>
      <p:sp>
        <p:nvSpPr>
          <p:cNvPr id="13" name="Shape 9"/>
          <p:cNvSpPr/>
          <p:nvPr/>
        </p:nvSpPr>
        <p:spPr>
          <a:xfrm>
            <a:off x="4937760" y="1572768"/>
            <a:ext cx="502920" cy="502920"/>
          </a:xfrm>
          <a:prstGeom prst="ellipse">
            <a:avLst/>
          </a:prstGeom>
          <a:solidFill>
            <a:srgbClr val="E5383B"/>
          </a:solidFill>
          <a:ln w="12700">
            <a:solidFill>
              <a:srgbClr val="E5383B"/>
            </a:solidFill>
            <a:prstDash val="solid"/>
          </a:ln>
        </p:spPr>
      </p:sp>
      <p:pic>
        <p:nvPicPr>
          <p:cNvPr id="14" name="Image 2" descr="preencoded.png">    </p:cNvPr>
          <p:cNvPicPr>
            <a:picLocks noChangeAspect="1"/>
          </p:cNvPicPr>
          <p:nvPr/>
        </p:nvPicPr>
        <p:blipFill>
          <a:blip r:embed="rId3"/>
          <a:stretch>
            <a:fillRect/>
          </a:stretch>
        </p:blipFill>
        <p:spPr>
          <a:xfrm>
            <a:off x="5068519" y="1703527"/>
            <a:ext cx="241402" cy="241402"/>
          </a:xfrm>
          <a:prstGeom prst="rect">
            <a:avLst/>
          </a:prstGeom>
        </p:spPr>
      </p:pic>
      <p:sp>
        <p:nvSpPr>
          <p:cNvPr id="15" name="Text 10"/>
          <p:cNvSpPr txBox="1"/>
          <p:nvPr/>
        </p:nvSpPr>
        <p:spPr>
          <a:xfrm>
            <a:off x="5577840" y="1572768"/>
            <a:ext cx="2926080" cy="502920"/>
          </a:xfrm>
          <a:prstGeom prst="rect">
            <a:avLst/>
          </a:prstGeom>
          <a:noFill/>
          <a:ln/>
        </p:spPr>
        <p:txBody>
          <a:bodyPr wrap="square" lIns="0" tIns="0" rIns="0" bIns="0" rtlCol="0" anchor="ctr"/>
          <a:lstStyle/>
          <a:p>
            <a:pPr indent="0" marL="0">
              <a:buNone/>
            </a:pPr>
            <a:r>
              <a:rPr lang="en-US" sz="1900" b="1" dirty="0">
                <a:solidFill>
                  <a:srgbClr val="1B2230"/>
                </a:solidFill>
                <a:latin typeface="Cambria" pitchFamily="34" charset="0"/>
                <a:ea typeface="Cambria" pitchFamily="34" charset="-122"/>
                <a:cs typeface="Cambria" pitchFamily="34" charset="-120"/>
              </a:rPr>
              <a:t>Limitations</a:t>
            </a:r>
            <a:endParaRPr lang="en-US" sz="1900" dirty="0"/>
          </a:p>
        </p:txBody>
      </p:sp>
      <p:sp>
        <p:nvSpPr>
          <p:cNvPr id="16" name="Text 11"/>
          <p:cNvSpPr txBox="1"/>
          <p:nvPr/>
        </p:nvSpPr>
        <p:spPr>
          <a:xfrm>
            <a:off x="4937760" y="2240280"/>
            <a:ext cx="3566160" cy="15544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B2230"/>
                </a:solidFill>
                <a:latin typeface="Calibri" pitchFamily="34" charset="0"/>
                <a:ea typeface="Calibri" pitchFamily="34" charset="-122"/>
                <a:cs typeface="Calibri" pitchFamily="34" charset="-120"/>
              </a:rPr>
              <a:t>Modest sample (n = 154)</a:t>
            </a:r>
            <a:endParaRPr lang="en-US" sz="1300" dirty="0"/>
          </a:p>
          <a:p>
            <a:pPr marL="342900" indent="-342900">
              <a:spcAft>
                <a:spcPts val="800"/>
              </a:spcAft>
              <a:buSzPct val="100000"/>
              <a:buChar char="•"/>
            </a:pPr>
            <a:r>
              <a:rPr lang="en-US" sz="1300" dirty="0">
                <a:solidFill>
                  <a:srgbClr val="1B2230"/>
                </a:solidFill>
                <a:latin typeface="Calibri" pitchFamily="34" charset="0"/>
                <a:ea typeface="Calibri" pitchFamily="34" charset="-122"/>
                <a:cs typeface="Calibri" pitchFamily="34" charset="-120"/>
              </a:rPr>
              <a:t>Surrogate primary endpoint, not hard outcomes</a:t>
            </a:r>
            <a:endParaRPr lang="en-US" sz="1300" dirty="0"/>
          </a:p>
          <a:p>
            <a:pPr marL="342900" indent="-342900">
              <a:spcAft>
                <a:spcPts val="800"/>
              </a:spcAft>
              <a:buSzPct val="100000"/>
              <a:buChar char="•"/>
            </a:pPr>
            <a:r>
              <a:rPr lang="en-US" sz="1300" dirty="0">
                <a:solidFill>
                  <a:srgbClr val="1B2230"/>
                </a:solidFill>
                <a:latin typeface="Calibri" pitchFamily="34" charset="0"/>
                <a:ea typeface="Calibri" pitchFamily="34" charset="-122"/>
                <a:cs typeface="Calibri" pitchFamily="34" charset="-120"/>
              </a:rPr>
              <a:t>Operators cannot be blinded to device use</a:t>
            </a:r>
            <a:endParaRPr lang="en-US" sz="1300" dirty="0"/>
          </a:p>
          <a:p>
            <a:pPr marL="342900" indent="-342900">
              <a:spcAft>
                <a:spcPts val="800"/>
              </a:spcAft>
              <a:buSzPct val="100000"/>
              <a:buChar char="•"/>
            </a:pPr>
            <a:r>
              <a:rPr lang="en-US" sz="1300" dirty="0">
                <a:solidFill>
                  <a:srgbClr val="1B2230"/>
                </a:solidFill>
                <a:latin typeface="Calibri" pitchFamily="34" charset="0"/>
                <a:ea typeface="Calibri" pitchFamily="34" charset="-122"/>
                <a:cs typeface="Calibri" pitchFamily="34" charset="-120"/>
              </a:rPr>
              <a:t>CMR effect a trend; industry-sponsored</a:t>
            </a:r>
            <a:endParaRPr lang="en-US" sz="1300" dirty="0"/>
          </a:p>
        </p:txBody>
      </p:sp>
      <p:sp>
        <p:nvSpPr>
          <p:cNvPr id="17" name="Shape 12"/>
          <p:cNvSpPr/>
          <p:nvPr/>
        </p:nvSpPr>
        <p:spPr>
          <a:xfrm>
            <a:off x="457200" y="4023360"/>
            <a:ext cx="8229600" cy="457200"/>
          </a:xfrm>
          <a:prstGeom prst="roundRect">
            <a:avLst>
              <a:gd name="adj" fmla="val 50000"/>
            </a:avLst>
          </a:prstGeom>
          <a:solidFill>
            <a:srgbClr val="0E1117"/>
          </a:solidFill>
          <a:ln w="12700">
            <a:solidFill>
              <a:srgbClr val="0E1117"/>
            </a:solidFill>
            <a:prstDash val="solid"/>
          </a:ln>
        </p:spPr>
      </p:sp>
      <p:sp>
        <p:nvSpPr>
          <p:cNvPr id="18" name="Text 13"/>
          <p:cNvSpPr txBox="1"/>
          <p:nvPr/>
        </p:nvSpPr>
        <p:spPr>
          <a:xfrm>
            <a:off x="731520" y="4023360"/>
            <a:ext cx="7772400" cy="457200"/>
          </a:xfrm>
          <a:prstGeom prst="rect">
            <a:avLst/>
          </a:prstGeom>
          <a:noFill/>
          <a:ln/>
        </p:spPr>
        <p:txBody>
          <a:bodyPr wrap="square" lIns="0" tIns="0" rIns="0" bIns="0" rtlCol="0" anchor="ctr"/>
          <a:lstStyle/>
          <a:p>
            <a:pPr indent="0" marL="0">
              <a:buNone/>
            </a:pPr>
            <a:r>
              <a:rPr lang="en-US" sz="1250" b="1" spc="300" kern="0" dirty="0">
                <a:solidFill>
                  <a:srgbClr val="F4B6BB"/>
                </a:solidFill>
                <a:latin typeface="Calibri" pitchFamily="34" charset="0"/>
                <a:ea typeface="Calibri" pitchFamily="34" charset="-122"/>
                <a:cs typeface="Calibri" pitchFamily="34" charset="-120"/>
              </a:rPr>
              <a:t>VERDICT   </a:t>
            </a:r>
            <a:pPr indent="0" marL="0">
              <a:buNone/>
            </a:pPr>
            <a:r>
              <a:rPr lang="en-US" sz="1250" dirty="0">
                <a:solidFill>
                  <a:srgbClr val="FFFFFF"/>
                </a:solidFill>
                <a:latin typeface="Calibri" pitchFamily="34" charset="0"/>
                <a:ea typeface="Calibri" pitchFamily="34" charset="-122"/>
                <a:cs typeface="Calibri" pitchFamily="34" charset="-120"/>
              </a:rPr>
              <a:t>Confirms the hypothesis on infarct size; generates the hypothesis for clinical outcomes.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8A93A6"/>
                </a:solidFill>
                <a:latin typeface="Calibri" pitchFamily="34" charset="0"/>
                <a:ea typeface="Calibri" pitchFamily="34" charset="-122"/>
                <a:cs typeface="Calibri" pitchFamily="34" charset="-120"/>
              </a:rPr>
              <a:t>11 / 13</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8A93A6"/>
                </a:solidFill>
                <a:latin typeface="Calibri" pitchFamily="34" charset="0"/>
                <a:ea typeface="Calibri" pitchFamily="34" charset="-122"/>
                <a:cs typeface="Calibri" pitchFamily="34" charset="-120"/>
              </a:rPr>
              <a:t>NATURE · ESC 2026</a:t>
            </a:r>
            <a:endParaRPr lang="en-US" sz="900" dirty="0"/>
          </a:p>
        </p:txBody>
      </p:sp>
      <p:pic>
        <p:nvPicPr>
          <p:cNvPr id="5" name="Image 1" descr="preencoded.png">    </p:cNvPr>
          <p:cNvPicPr>
            <a:picLocks noChangeAspect="1"/>
          </p:cNvPicPr>
          <p:nvPr/>
        </p:nvPicPr>
        <p:blipFill>
          <a:blip r:embed="rId2">
            <a:alphaModFix amt="30000"/>
          </a:blip>
          <a:stretch>
            <a:fillRect/>
          </a:stretch>
        </p:blipFill>
        <p:spPr>
          <a:xfrm>
            <a:off x="-182880" y="3611880"/>
            <a:ext cx="9509760" cy="914400"/>
          </a:xfrm>
          <a:prstGeom prst="rect">
            <a:avLst/>
          </a:prstGeom>
        </p:spPr>
      </p:pic>
      <p:sp>
        <p:nvSpPr>
          <p:cNvPr id="6"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KEY FINDINGS</a:t>
            </a:r>
            <a:endParaRPr lang="en-US" sz="1100" dirty="0"/>
          </a:p>
        </p:txBody>
      </p:sp>
      <p:sp>
        <p:nvSpPr>
          <p:cNvPr id="7"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Three things NATURE showed</a:t>
            </a:r>
            <a:endParaRPr lang="en-US" sz="3000" dirty="0"/>
          </a:p>
        </p:txBody>
      </p:sp>
      <p:sp>
        <p:nvSpPr>
          <p:cNvPr id="8" name="Shape 4"/>
          <p:cNvSpPr/>
          <p:nvPr/>
        </p:nvSpPr>
        <p:spPr>
          <a:xfrm>
            <a:off x="457200" y="1417320"/>
            <a:ext cx="2606040" cy="2194560"/>
          </a:xfrm>
          <a:prstGeom prst="roundRect">
            <a:avLst>
              <a:gd name="adj" fmla="val 5000"/>
            </a:avLst>
          </a:prstGeom>
          <a:solidFill>
            <a:srgbClr val="1A1F2B"/>
          </a:solidFill>
          <a:ln w="12700">
            <a:solidFill>
              <a:srgbClr val="1A1F2B"/>
            </a:solidFill>
            <a:prstDash val="solid"/>
          </a:ln>
        </p:spPr>
      </p:sp>
      <p:sp>
        <p:nvSpPr>
          <p:cNvPr id="9" name="Text 5"/>
          <p:cNvSpPr txBox="1"/>
          <p:nvPr/>
        </p:nvSpPr>
        <p:spPr>
          <a:xfrm>
            <a:off x="685800" y="1554480"/>
            <a:ext cx="914400" cy="502920"/>
          </a:xfrm>
          <a:prstGeom prst="rect">
            <a:avLst/>
          </a:prstGeom>
          <a:noFill/>
          <a:ln/>
        </p:spPr>
        <p:txBody>
          <a:bodyPr wrap="square" lIns="0" tIns="0" rIns="0" bIns="0" rtlCol="0" anchor="ctr"/>
          <a:lstStyle/>
          <a:p>
            <a:pPr indent="0" marL="0">
              <a:buNone/>
            </a:pPr>
            <a:r>
              <a:rPr lang="en-US" sz="2800" b="1" dirty="0">
                <a:solidFill>
                  <a:srgbClr val="E5383B"/>
                </a:solidFill>
                <a:latin typeface="Cambria" pitchFamily="34" charset="0"/>
                <a:ea typeface="Cambria" pitchFamily="34" charset="-122"/>
                <a:cs typeface="Cambria" pitchFamily="34" charset="-120"/>
              </a:rPr>
              <a:t>01</a:t>
            </a:r>
            <a:endParaRPr lang="en-US" sz="2800" dirty="0"/>
          </a:p>
        </p:txBody>
      </p:sp>
      <p:sp>
        <p:nvSpPr>
          <p:cNvPr id="10" name="Text 6"/>
          <p:cNvSpPr txBox="1"/>
          <p:nvPr/>
        </p:nvSpPr>
        <p:spPr>
          <a:xfrm>
            <a:off x="685800" y="2103120"/>
            <a:ext cx="219456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Superior on infarct size</a:t>
            </a:r>
            <a:endParaRPr lang="en-US" sz="1500" dirty="0"/>
          </a:p>
        </p:txBody>
      </p:sp>
      <p:sp>
        <p:nvSpPr>
          <p:cNvPr id="11" name="Text 7"/>
          <p:cNvSpPr txBox="1"/>
          <p:nvPr/>
        </p:nvSpPr>
        <p:spPr>
          <a:xfrm>
            <a:off x="685800" y="2514600"/>
            <a:ext cx="2194560" cy="1005840"/>
          </a:xfrm>
          <a:prstGeom prst="rect">
            <a:avLst/>
          </a:prstGeom>
          <a:noFill/>
          <a:ln/>
        </p:spPr>
        <p:txBody>
          <a:bodyPr wrap="square" lIns="0" tIns="0" rIns="0" bIns="0" rtlCol="0" anchor="t"/>
          <a:lstStyle/>
          <a:p>
            <a:pPr indent="0" marL="0">
              <a:buNone/>
            </a:pPr>
            <a:r>
              <a:rPr lang="en-US" sz="1200" dirty="0">
                <a:solidFill>
                  <a:srgbClr val="C9CFDA"/>
                </a:solidFill>
                <a:latin typeface="Calibri" pitchFamily="34" charset="0"/>
                <a:ea typeface="Calibri" pitchFamily="34" charset="-122"/>
                <a:cs typeface="Calibri" pitchFamily="34" charset="-120"/>
              </a:rPr>
              <a:t>enVast before PCI cut enzymatic infarct size by ~26% in large-thrombus STEMI (P = 0.001).</a:t>
            </a:r>
            <a:endParaRPr lang="en-US" sz="1200" dirty="0"/>
          </a:p>
        </p:txBody>
      </p:sp>
      <p:sp>
        <p:nvSpPr>
          <p:cNvPr id="12" name="Shape 8"/>
          <p:cNvSpPr/>
          <p:nvPr/>
        </p:nvSpPr>
        <p:spPr>
          <a:xfrm>
            <a:off x="3291840" y="1417320"/>
            <a:ext cx="2606040" cy="2194560"/>
          </a:xfrm>
          <a:prstGeom prst="roundRect">
            <a:avLst>
              <a:gd name="adj" fmla="val 5000"/>
            </a:avLst>
          </a:prstGeom>
          <a:solidFill>
            <a:srgbClr val="1A1F2B"/>
          </a:solidFill>
          <a:ln w="12700">
            <a:solidFill>
              <a:srgbClr val="1A1F2B"/>
            </a:solidFill>
            <a:prstDash val="solid"/>
          </a:ln>
        </p:spPr>
      </p:sp>
      <p:sp>
        <p:nvSpPr>
          <p:cNvPr id="13" name="Text 9"/>
          <p:cNvSpPr txBox="1"/>
          <p:nvPr/>
        </p:nvSpPr>
        <p:spPr>
          <a:xfrm>
            <a:off x="3520440" y="1554480"/>
            <a:ext cx="914400" cy="502920"/>
          </a:xfrm>
          <a:prstGeom prst="rect">
            <a:avLst/>
          </a:prstGeom>
          <a:noFill/>
          <a:ln/>
        </p:spPr>
        <p:txBody>
          <a:bodyPr wrap="square" lIns="0" tIns="0" rIns="0" bIns="0" rtlCol="0" anchor="ctr"/>
          <a:lstStyle/>
          <a:p>
            <a:pPr indent="0" marL="0">
              <a:buNone/>
            </a:pPr>
            <a:r>
              <a:rPr lang="en-US" sz="2800" b="1" dirty="0">
                <a:solidFill>
                  <a:srgbClr val="E5383B"/>
                </a:solidFill>
                <a:latin typeface="Cambria" pitchFamily="34" charset="0"/>
                <a:ea typeface="Cambria" pitchFamily="34" charset="-122"/>
                <a:cs typeface="Cambria" pitchFamily="34" charset="-120"/>
              </a:rPr>
              <a:t>02</a:t>
            </a:r>
            <a:endParaRPr lang="en-US" sz="2800" dirty="0"/>
          </a:p>
        </p:txBody>
      </p:sp>
      <p:sp>
        <p:nvSpPr>
          <p:cNvPr id="14" name="Text 10"/>
          <p:cNvSpPr txBox="1"/>
          <p:nvPr/>
        </p:nvSpPr>
        <p:spPr>
          <a:xfrm>
            <a:off x="3520440" y="2103120"/>
            <a:ext cx="219456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Consistent and safe</a:t>
            </a:r>
            <a:endParaRPr lang="en-US" sz="1500" dirty="0"/>
          </a:p>
        </p:txBody>
      </p:sp>
      <p:sp>
        <p:nvSpPr>
          <p:cNvPr id="15" name="Text 11"/>
          <p:cNvSpPr txBox="1"/>
          <p:nvPr/>
        </p:nvSpPr>
        <p:spPr>
          <a:xfrm>
            <a:off x="3520440" y="2514600"/>
            <a:ext cx="2194560" cy="1005840"/>
          </a:xfrm>
          <a:prstGeom prst="rect">
            <a:avLst/>
          </a:prstGeom>
          <a:noFill/>
          <a:ln/>
        </p:spPr>
        <p:txBody>
          <a:bodyPr wrap="square" lIns="0" tIns="0" rIns="0" bIns="0" rtlCol="0" anchor="t"/>
          <a:lstStyle/>
          <a:p>
            <a:pPr indent="0" marL="0">
              <a:buNone/>
            </a:pPr>
            <a:r>
              <a:rPr lang="en-US" sz="1200" dirty="0">
                <a:solidFill>
                  <a:srgbClr val="C9CFDA"/>
                </a:solidFill>
                <a:latin typeface="Calibri" pitchFamily="34" charset="0"/>
                <a:ea typeface="Calibri" pitchFamily="34" charset="-122"/>
                <a:cs typeface="Calibri" pitchFamily="34" charset="-120"/>
              </a:rPr>
              <a:t>CMR pointed the same way; no strokes or deaths with enVast at 30 days.</a:t>
            </a:r>
            <a:endParaRPr lang="en-US" sz="1200" dirty="0"/>
          </a:p>
        </p:txBody>
      </p:sp>
      <p:sp>
        <p:nvSpPr>
          <p:cNvPr id="16" name="Shape 12"/>
          <p:cNvSpPr/>
          <p:nvPr/>
        </p:nvSpPr>
        <p:spPr>
          <a:xfrm>
            <a:off x="6126480" y="1417320"/>
            <a:ext cx="2606040" cy="2194560"/>
          </a:xfrm>
          <a:prstGeom prst="roundRect">
            <a:avLst>
              <a:gd name="adj" fmla="val 5000"/>
            </a:avLst>
          </a:prstGeom>
          <a:solidFill>
            <a:srgbClr val="1A1F2B"/>
          </a:solidFill>
          <a:ln w="12700">
            <a:solidFill>
              <a:srgbClr val="1A1F2B"/>
            </a:solidFill>
            <a:prstDash val="solid"/>
          </a:ln>
        </p:spPr>
      </p:sp>
      <p:sp>
        <p:nvSpPr>
          <p:cNvPr id="17" name="Text 13"/>
          <p:cNvSpPr txBox="1"/>
          <p:nvPr/>
        </p:nvSpPr>
        <p:spPr>
          <a:xfrm>
            <a:off x="6355080" y="1554480"/>
            <a:ext cx="914400" cy="502920"/>
          </a:xfrm>
          <a:prstGeom prst="rect">
            <a:avLst/>
          </a:prstGeom>
          <a:noFill/>
          <a:ln/>
        </p:spPr>
        <p:txBody>
          <a:bodyPr wrap="square" lIns="0" tIns="0" rIns="0" bIns="0" rtlCol="0" anchor="ctr"/>
          <a:lstStyle/>
          <a:p>
            <a:pPr indent="0" marL="0">
              <a:buNone/>
            </a:pPr>
            <a:r>
              <a:rPr lang="en-US" sz="2800" b="1" dirty="0">
                <a:solidFill>
                  <a:srgbClr val="E5383B"/>
                </a:solidFill>
                <a:latin typeface="Cambria" pitchFamily="34" charset="0"/>
                <a:ea typeface="Cambria" pitchFamily="34" charset="-122"/>
                <a:cs typeface="Cambria" pitchFamily="34" charset="-120"/>
              </a:rPr>
              <a:t>03</a:t>
            </a:r>
            <a:endParaRPr lang="en-US" sz="2800" dirty="0"/>
          </a:p>
        </p:txBody>
      </p:sp>
      <p:sp>
        <p:nvSpPr>
          <p:cNvPr id="18" name="Text 14"/>
          <p:cNvSpPr txBox="1"/>
          <p:nvPr/>
        </p:nvSpPr>
        <p:spPr>
          <a:xfrm>
            <a:off x="6355080" y="2103120"/>
            <a:ext cx="219456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Right patient, right time</a:t>
            </a:r>
            <a:endParaRPr lang="en-US" sz="1500" dirty="0"/>
          </a:p>
        </p:txBody>
      </p:sp>
      <p:sp>
        <p:nvSpPr>
          <p:cNvPr id="19" name="Text 15"/>
          <p:cNvSpPr txBox="1"/>
          <p:nvPr/>
        </p:nvSpPr>
        <p:spPr>
          <a:xfrm>
            <a:off x="6355080" y="2514600"/>
            <a:ext cx="2194560" cy="1005840"/>
          </a:xfrm>
          <a:prstGeom prst="rect">
            <a:avLst/>
          </a:prstGeom>
          <a:noFill/>
          <a:ln/>
        </p:spPr>
        <p:txBody>
          <a:bodyPr wrap="square" lIns="0" tIns="0" rIns="0" bIns="0" rtlCol="0" anchor="t"/>
          <a:lstStyle/>
          <a:p>
            <a:pPr indent="0" marL="0">
              <a:buNone/>
            </a:pPr>
            <a:r>
              <a:rPr lang="en-US" sz="1200" dirty="0">
                <a:solidFill>
                  <a:srgbClr val="C9CFDA"/>
                </a:solidFill>
                <a:latin typeface="Calibri" pitchFamily="34" charset="0"/>
                <a:ea typeface="Calibri" pitchFamily="34" charset="-122"/>
                <a:cs typeface="Calibri" pitchFamily="34" charset="-120"/>
              </a:rPr>
              <a:t>Benefit shown where it is most plausible: a large thrombus, treated within 8 hours of symptom onset.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8A93A6"/>
                </a:solidFill>
                <a:latin typeface="Calibri" pitchFamily="34" charset="0"/>
                <a:ea typeface="Calibri" pitchFamily="34" charset="-122"/>
                <a:cs typeface="Calibri" pitchFamily="34" charset="-120"/>
              </a:rPr>
              <a:t>12 / 13</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8A93A6"/>
                </a:solidFill>
                <a:latin typeface="Calibri" pitchFamily="34" charset="0"/>
                <a:ea typeface="Calibri" pitchFamily="34" charset="-122"/>
                <a:cs typeface="Calibri" pitchFamily="34" charset="-120"/>
              </a:rPr>
              <a:t>NATURE · ESC 2026</a:t>
            </a:r>
            <a:endParaRPr lang="en-US" sz="900" dirty="0"/>
          </a:p>
        </p:txBody>
      </p:sp>
      <p:pic>
        <p:nvPicPr>
          <p:cNvPr id="5" name="Image 1" descr="preencoded.png">    </p:cNvPr>
          <p:cNvPicPr>
            <a:picLocks noChangeAspect="1"/>
          </p:cNvPicPr>
          <p:nvPr/>
        </p:nvPicPr>
        <p:blipFill>
          <a:blip r:embed="rId2">
            <a:alphaModFix amt="35000"/>
          </a:blip>
          <a:stretch>
            <a:fillRect/>
          </a:stretch>
        </p:blipFill>
        <p:spPr>
          <a:xfrm>
            <a:off x="-182880" y="1874520"/>
            <a:ext cx="9509760" cy="548640"/>
          </a:xfrm>
          <a:prstGeom prst="rect">
            <a:avLst/>
          </a:prstGeom>
        </p:spPr>
      </p:pic>
      <p:sp>
        <p:nvSpPr>
          <p:cNvPr id="6"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CONCLUSION</a:t>
            </a:r>
            <a:endParaRPr lang="en-US" sz="1100" dirty="0"/>
          </a:p>
        </p:txBody>
      </p:sp>
      <p:pic>
        <p:nvPicPr>
          <p:cNvPr id="7" name="Image 2" descr="preencoded.png">    </p:cNvPr>
          <p:cNvPicPr>
            <a:picLocks noChangeAspect="1"/>
          </p:cNvPicPr>
          <p:nvPr/>
        </p:nvPicPr>
        <p:blipFill>
          <a:blip r:embed="rId3"/>
          <a:stretch>
            <a:fillRect/>
          </a:stretch>
        </p:blipFill>
        <p:spPr>
          <a:xfrm>
            <a:off x="457200" y="777240"/>
            <a:ext cx="411480" cy="411480"/>
          </a:xfrm>
          <a:prstGeom prst="rect">
            <a:avLst/>
          </a:prstGeom>
        </p:spPr>
      </p:pic>
      <p:sp>
        <p:nvSpPr>
          <p:cNvPr id="8" name="Text 3"/>
          <p:cNvSpPr txBox="1"/>
          <p:nvPr/>
        </p:nvSpPr>
        <p:spPr>
          <a:xfrm>
            <a:off x="1051560" y="731520"/>
            <a:ext cx="7589520" cy="146304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In STEMI with a large thrombus burden, enVast-assisted thrombectomy before PCI was </a:t>
            </a:r>
            <a:pPr indent="0" marL="0">
              <a:buNone/>
            </a:pPr>
            <a:r>
              <a:rPr lang="en-US" sz="2400" b="1" i="1" dirty="0">
                <a:solidFill>
                  <a:srgbClr val="E5383B"/>
                </a:solidFill>
                <a:latin typeface="Cambria" pitchFamily="34" charset="0"/>
                <a:ea typeface="Cambria" pitchFamily="34" charset="-122"/>
                <a:cs typeface="Cambria" pitchFamily="34" charset="-120"/>
              </a:rPr>
              <a:t>superior to standard PCI</a:t>
            </a:r>
            <a:pPr indent="0" marL="0">
              <a:buNone/>
            </a:pPr>
            <a:r>
              <a:rPr lang="en-US" sz="2400" i="1" dirty="0">
                <a:solidFill>
                  <a:srgbClr val="FFFFFF"/>
                </a:solidFill>
                <a:latin typeface="Cambria" pitchFamily="34" charset="0"/>
                <a:ea typeface="Cambria" pitchFamily="34" charset="-122"/>
                <a:cs typeface="Cambria" pitchFamily="34" charset="-120"/>
              </a:rPr>
              <a:t> in reducing infarct size, with no early safety penalty.</a:t>
            </a:r>
            <a:endParaRPr lang="en-US" sz="2400" dirty="0"/>
          </a:p>
        </p:txBody>
      </p:sp>
      <p:sp>
        <p:nvSpPr>
          <p:cNvPr id="9" name="Shape 4"/>
          <p:cNvSpPr/>
          <p:nvPr/>
        </p:nvSpPr>
        <p:spPr>
          <a:xfrm>
            <a:off x="457200" y="2514600"/>
            <a:ext cx="4023360" cy="1783080"/>
          </a:xfrm>
          <a:prstGeom prst="roundRect">
            <a:avLst>
              <a:gd name="adj" fmla="val 6154"/>
            </a:avLst>
          </a:prstGeom>
          <a:solidFill>
            <a:srgbClr val="1A1F2B"/>
          </a:solidFill>
          <a:ln w="12700">
            <a:solidFill>
              <a:srgbClr val="1A1F2B"/>
            </a:solidFill>
            <a:prstDash val="solid"/>
          </a:ln>
        </p:spPr>
      </p:sp>
      <p:sp>
        <p:nvSpPr>
          <p:cNvPr id="10" name="Shape 5"/>
          <p:cNvSpPr/>
          <p:nvPr/>
        </p:nvSpPr>
        <p:spPr>
          <a:xfrm>
            <a:off x="685800" y="2697480"/>
            <a:ext cx="457200" cy="457200"/>
          </a:xfrm>
          <a:prstGeom prst="ellipse">
            <a:avLst/>
          </a:prstGeom>
          <a:solidFill>
            <a:srgbClr val="1FA99C"/>
          </a:solidFill>
          <a:ln w="12700">
            <a:solidFill>
              <a:srgbClr val="1FA99C"/>
            </a:solidFill>
            <a:prstDash val="solid"/>
          </a:ln>
        </p:spPr>
      </p:sp>
      <p:pic>
        <p:nvPicPr>
          <p:cNvPr id="11" name="Image 3" descr="preencoded.png">    </p:cNvPr>
          <p:cNvPicPr>
            <a:picLocks noChangeAspect="1"/>
          </p:cNvPicPr>
          <p:nvPr/>
        </p:nvPicPr>
        <p:blipFill>
          <a:blip r:embed="rId4"/>
          <a:stretch>
            <a:fillRect/>
          </a:stretch>
        </p:blipFill>
        <p:spPr>
          <a:xfrm>
            <a:off x="804672" y="2816352"/>
            <a:ext cx="219456" cy="219456"/>
          </a:xfrm>
          <a:prstGeom prst="rect">
            <a:avLst/>
          </a:prstGeom>
        </p:spPr>
      </p:pic>
      <p:sp>
        <p:nvSpPr>
          <p:cNvPr id="12" name="Text 6"/>
          <p:cNvSpPr txBox="1"/>
          <p:nvPr/>
        </p:nvSpPr>
        <p:spPr>
          <a:xfrm>
            <a:off x="1280160" y="2697480"/>
            <a:ext cx="3017520"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For practice today</a:t>
            </a:r>
            <a:endParaRPr lang="en-US" sz="1600" dirty="0"/>
          </a:p>
        </p:txBody>
      </p:sp>
      <p:sp>
        <p:nvSpPr>
          <p:cNvPr id="13" name="Text 7"/>
          <p:cNvSpPr txBox="1"/>
          <p:nvPr/>
        </p:nvSpPr>
        <p:spPr>
          <a:xfrm>
            <a:off x="685800" y="3291840"/>
            <a:ext cx="3611880" cy="914400"/>
          </a:xfrm>
          <a:prstGeom prst="rect">
            <a:avLst/>
          </a:prstGeom>
          <a:noFill/>
          <a:ln/>
        </p:spPr>
        <p:txBody>
          <a:bodyPr wrap="square" lIns="0" tIns="0" rIns="0" bIns="0" rtlCol="0" anchor="t"/>
          <a:lstStyle/>
          <a:p>
            <a:pPr indent="0" marL="0">
              <a:buNone/>
            </a:pPr>
            <a:r>
              <a:rPr lang="en-US" sz="1250" dirty="0">
                <a:solidFill>
                  <a:srgbClr val="C9CFDA"/>
                </a:solidFill>
                <a:latin typeface="Calibri" pitchFamily="34" charset="0"/>
                <a:ea typeface="Calibri" pitchFamily="34" charset="-122"/>
                <a:cs typeface="Calibri" pitchFamily="34" charset="-120"/>
              </a:rPr>
              <a:t>A promising option for selected large-thrombus cases, not yet a routine strategy. Guidelines stay unchanged until outcome data arrive.</a:t>
            </a:r>
            <a:endParaRPr lang="en-US" sz="1250" dirty="0"/>
          </a:p>
        </p:txBody>
      </p:sp>
      <p:sp>
        <p:nvSpPr>
          <p:cNvPr id="14" name="Shape 8"/>
          <p:cNvSpPr/>
          <p:nvPr/>
        </p:nvSpPr>
        <p:spPr>
          <a:xfrm>
            <a:off x="4663440" y="2514600"/>
            <a:ext cx="4023360" cy="1783080"/>
          </a:xfrm>
          <a:prstGeom prst="roundRect">
            <a:avLst>
              <a:gd name="adj" fmla="val 6154"/>
            </a:avLst>
          </a:prstGeom>
          <a:solidFill>
            <a:srgbClr val="1A1F2B"/>
          </a:solidFill>
          <a:ln w="12700">
            <a:solidFill>
              <a:srgbClr val="1A1F2B"/>
            </a:solidFill>
            <a:prstDash val="solid"/>
          </a:ln>
        </p:spPr>
      </p:sp>
      <p:sp>
        <p:nvSpPr>
          <p:cNvPr id="15" name="Shape 9"/>
          <p:cNvSpPr/>
          <p:nvPr/>
        </p:nvSpPr>
        <p:spPr>
          <a:xfrm>
            <a:off x="4892040" y="2697480"/>
            <a:ext cx="457200" cy="457200"/>
          </a:xfrm>
          <a:prstGeom prst="ellipse">
            <a:avLst/>
          </a:prstGeom>
          <a:solidFill>
            <a:srgbClr val="E5383B"/>
          </a:solidFill>
          <a:ln w="12700">
            <a:solidFill>
              <a:srgbClr val="E5383B"/>
            </a:solidFill>
            <a:prstDash val="solid"/>
          </a:ln>
        </p:spPr>
      </p:sp>
      <p:pic>
        <p:nvPicPr>
          <p:cNvPr id="16" name="Image 4" descr="preencoded.png">    </p:cNvPr>
          <p:cNvPicPr>
            <a:picLocks noChangeAspect="1"/>
          </p:cNvPicPr>
          <p:nvPr/>
        </p:nvPicPr>
        <p:blipFill>
          <a:blip r:embed="rId5"/>
          <a:stretch>
            <a:fillRect/>
          </a:stretch>
        </p:blipFill>
        <p:spPr>
          <a:xfrm>
            <a:off x="5010912" y="2816352"/>
            <a:ext cx="219456" cy="219456"/>
          </a:xfrm>
          <a:prstGeom prst="rect">
            <a:avLst/>
          </a:prstGeom>
        </p:spPr>
      </p:pic>
      <p:sp>
        <p:nvSpPr>
          <p:cNvPr id="17" name="Text 10"/>
          <p:cNvSpPr txBox="1"/>
          <p:nvPr/>
        </p:nvSpPr>
        <p:spPr>
          <a:xfrm>
            <a:off x="5486400" y="2697480"/>
            <a:ext cx="3017520"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For research next</a:t>
            </a:r>
            <a:endParaRPr lang="en-US" sz="1600" dirty="0"/>
          </a:p>
        </p:txBody>
      </p:sp>
      <p:sp>
        <p:nvSpPr>
          <p:cNvPr id="18" name="Text 11"/>
          <p:cNvSpPr txBox="1"/>
          <p:nvPr/>
        </p:nvSpPr>
        <p:spPr>
          <a:xfrm>
            <a:off x="4892040" y="3291840"/>
            <a:ext cx="3611880" cy="914400"/>
          </a:xfrm>
          <a:prstGeom prst="rect">
            <a:avLst/>
          </a:prstGeom>
          <a:noFill/>
          <a:ln/>
        </p:spPr>
        <p:txBody>
          <a:bodyPr wrap="square" lIns="0" tIns="0" rIns="0" bIns="0" rtlCol="0" anchor="t"/>
          <a:lstStyle/>
          <a:p>
            <a:pPr indent="0" marL="0">
              <a:buNone/>
            </a:pPr>
            <a:r>
              <a:rPr lang="en-US" sz="1250" dirty="0">
                <a:solidFill>
                  <a:srgbClr val="C9CFDA"/>
                </a:solidFill>
                <a:latin typeface="Calibri" pitchFamily="34" charset="0"/>
                <a:ea typeface="Calibri" pitchFamily="34" charset="-122"/>
                <a:cs typeface="Calibri" pitchFamily="34" charset="-120"/>
              </a:rPr>
              <a:t>An adequately powered randomised trial with hard clinical endpoints: death, heart failure and stroke.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13 / 13</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SOURCES</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References</a:t>
            </a:r>
            <a:endParaRPr lang="en-US" sz="3000" dirty="0"/>
          </a:p>
        </p:txBody>
      </p:sp>
      <p:sp>
        <p:nvSpPr>
          <p:cNvPr id="7" name="Shape 4"/>
          <p:cNvSpPr/>
          <p:nvPr/>
        </p:nvSpPr>
        <p:spPr>
          <a:xfrm>
            <a:off x="457200" y="1417320"/>
            <a:ext cx="502920" cy="502920"/>
          </a:xfrm>
          <a:prstGeom prst="ellipse">
            <a:avLst/>
          </a:prstGeom>
          <a:solidFill>
            <a:srgbClr val="0E1117"/>
          </a:solidFill>
          <a:ln w="12700">
            <a:solidFill>
              <a:srgbClr val="0E1117"/>
            </a:solidFill>
            <a:prstDash val="solid"/>
          </a:ln>
        </p:spPr>
      </p:sp>
      <p:pic>
        <p:nvPicPr>
          <p:cNvPr id="8" name="Image 1" descr="preencoded.png">    </p:cNvPr>
          <p:cNvPicPr>
            <a:picLocks noChangeAspect="1"/>
          </p:cNvPicPr>
          <p:nvPr/>
        </p:nvPicPr>
        <p:blipFill>
          <a:blip r:embed="rId2"/>
          <a:stretch>
            <a:fillRect/>
          </a:stretch>
        </p:blipFill>
        <p:spPr>
          <a:xfrm>
            <a:off x="587959" y="1548079"/>
            <a:ext cx="241402" cy="241402"/>
          </a:xfrm>
          <a:prstGeom prst="rect">
            <a:avLst/>
          </a:prstGeom>
        </p:spPr>
      </p:pic>
      <p:sp>
        <p:nvSpPr>
          <p:cNvPr id="9" name="Text 5"/>
          <p:cNvSpPr txBox="1"/>
          <p:nvPr/>
        </p:nvSpPr>
        <p:spPr>
          <a:xfrm>
            <a:off x="1234440" y="1371600"/>
            <a:ext cx="7452360" cy="3017520"/>
          </a:xfrm>
          <a:prstGeom prst="rect">
            <a:avLst/>
          </a:prstGeom>
          <a:noFill/>
          <a:ln/>
        </p:spPr>
        <p:txBody>
          <a:bodyPr wrap="square" lIns="0" tIns="0" rIns="0" bIns="0" rtlCol="0" anchor="t"/>
          <a:lstStyle/>
          <a:p>
            <a:pPr marL="342900" indent="-342900">
              <a:spcAft>
                <a:spcPts val="700"/>
              </a:spcAft>
              <a:buSzPct val="100000"/>
              <a:buFont typeface="+mj-lt"/>
              <a:buAutoNum type="arabicPeriod" startAt="1"/>
            </a:pPr>
            <a:r>
              <a:rPr lang="en-US" sz="1200" dirty="0">
                <a:solidFill>
                  <a:srgbClr val="1B2230"/>
                </a:solidFill>
                <a:latin typeface="Calibri" pitchFamily="34" charset="0"/>
                <a:ea typeface="Calibri" pitchFamily="34" charset="-122"/>
                <a:cs typeface="Calibri" pitchFamily="34" charset="-120"/>
              </a:rPr>
              <a:t>Valgimigli M. NATURE: enVast-assisted mechanical thrombectomy in large-thrombus STEMI. Late-Breaking Clinical Trial, ESC Congress 2026, Munich.</a:t>
            </a:r>
            <a:endParaRPr lang="en-US" sz="1200" dirty="0"/>
          </a:p>
          <a:p>
            <a:pPr marL="342900" indent="-342900">
              <a:spcAft>
                <a:spcPts val="700"/>
              </a:spcAft>
              <a:buSzPct val="100000"/>
              <a:buFont typeface="+mj-lt"/>
              <a:buAutoNum type="arabicPeriod" startAt="1"/>
            </a:pPr>
            <a:r>
              <a:rPr lang="en-US" sz="1200" dirty="0">
                <a:solidFill>
                  <a:srgbClr val="1B2230"/>
                </a:solidFill>
                <a:latin typeface="Calibri" pitchFamily="34" charset="0"/>
                <a:ea typeface="Calibri" pitchFamily="34" charset="-122"/>
                <a:cs typeface="Calibri" pitchFamily="34" charset="-120"/>
              </a:rPr>
              <a:t>Landi A, et al. The use of mechanical thrombectomy in patients with STEMI and large thrombus burden: design and rationale of the NATURE trial. Cardiovasc Revasc Med. 2026.</a:t>
            </a:r>
            <a:endParaRPr lang="en-US" sz="1200" dirty="0"/>
          </a:p>
          <a:p>
            <a:pPr marL="342900" indent="-342900">
              <a:spcAft>
                <a:spcPts val="700"/>
              </a:spcAft>
              <a:buSzPct val="100000"/>
              <a:buFont typeface="+mj-lt"/>
              <a:buAutoNum type="arabicPeriod" startAt="1"/>
            </a:pPr>
            <a:r>
              <a:rPr lang="en-US" sz="1200" dirty="0">
                <a:solidFill>
                  <a:srgbClr val="1B2230"/>
                </a:solidFill>
                <a:latin typeface="Calibri" pitchFamily="34" charset="0"/>
                <a:ea typeface="Calibri" pitchFamily="34" charset="-122"/>
                <a:cs typeface="Calibri" pitchFamily="34" charset="-120"/>
              </a:rPr>
              <a:t>ClinicalTrials.gov NCT04969471 — NATURE (enVast as an adjunct to PPCI in subjects presenting with STEMI).</a:t>
            </a:r>
            <a:endParaRPr lang="en-US" sz="1200" dirty="0"/>
          </a:p>
          <a:p>
            <a:pPr marL="342900" indent="-342900">
              <a:spcAft>
                <a:spcPts val="700"/>
              </a:spcAft>
              <a:buSzPct val="100000"/>
              <a:buFont typeface="+mj-lt"/>
              <a:buAutoNum type="arabicPeriod" startAt="1"/>
            </a:pPr>
            <a:r>
              <a:rPr lang="en-US" sz="1200" dirty="0">
                <a:solidFill>
                  <a:srgbClr val="1B2230"/>
                </a:solidFill>
                <a:latin typeface="Calibri" pitchFamily="34" charset="0"/>
                <a:ea typeface="Calibri" pitchFamily="34" charset="-122"/>
                <a:cs typeface="Calibri" pitchFamily="34" charset="-120"/>
              </a:rPr>
              <a:t>Fröbert O, et al. Thrombus aspiration during ST-segment elevation myocardial infarction (TASTE). N Engl J Med. 2013.</a:t>
            </a:r>
            <a:endParaRPr lang="en-US" sz="1200" dirty="0"/>
          </a:p>
          <a:p>
            <a:pPr marL="342900" indent="-342900">
              <a:spcAft>
                <a:spcPts val="700"/>
              </a:spcAft>
              <a:buSzPct val="100000"/>
              <a:buFont typeface="+mj-lt"/>
              <a:buAutoNum type="arabicPeriod" startAt="1"/>
            </a:pPr>
            <a:r>
              <a:rPr lang="en-US" sz="1200" dirty="0">
                <a:solidFill>
                  <a:srgbClr val="1B2230"/>
                </a:solidFill>
                <a:latin typeface="Calibri" pitchFamily="34" charset="0"/>
                <a:ea typeface="Calibri" pitchFamily="34" charset="-122"/>
                <a:cs typeface="Calibri" pitchFamily="34" charset="-120"/>
              </a:rPr>
              <a:t>Jolly SS, et al. Randomized trial of primary PCI with or without routine manual thrombectomy (TOTAL). N Engl J Med. 2015.</a:t>
            </a:r>
            <a:endParaRPr lang="en-US" sz="1200" dirty="0"/>
          </a:p>
          <a:p>
            <a:pPr marL="342900" indent="-342900">
              <a:spcAft>
                <a:spcPts val="700"/>
              </a:spcAft>
              <a:buSzPct val="100000"/>
              <a:buFont typeface="+mj-lt"/>
              <a:buAutoNum type="arabicPeriod" startAt="1"/>
            </a:pPr>
            <a:r>
              <a:rPr lang="en-US" sz="1200" dirty="0">
                <a:solidFill>
                  <a:srgbClr val="1B2230"/>
                </a:solidFill>
                <a:latin typeface="Calibri" pitchFamily="34" charset="0"/>
                <a:ea typeface="Calibri" pitchFamily="34" charset="-122"/>
                <a:cs typeface="Calibri" pitchFamily="34" charset="-120"/>
              </a:rPr>
              <a:t>Byrne RA, et al. 2023 ESC Guidelines for the management of acute coronary syndromes. Eur Heart J. 2023.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NATURE Trial — ESC Congress 2026</dc:title>
  <dc:subject>enVast-assisted mechanical thrombectomy in large-thrombus STEMI</dc:subject>
  <dc:creator>PptxGenJS</dc:creator>
  <cp:lastModifiedBy>PptxGenJS</cp:lastModifiedBy>
  <cp:revision>1</cp:revision>
  <dcterms:created xsi:type="dcterms:W3CDTF">2026-09-30T17:32:01Z</dcterms:created>
  <dcterms:modified xsi:type="dcterms:W3CDTF">2026-09-30T17:32:01Z</dcterms:modified>
</cp:coreProperties>
</file>