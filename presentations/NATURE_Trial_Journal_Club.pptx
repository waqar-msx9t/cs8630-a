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0" r:id="rId20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61" r:id="rId7"/>
    <p:sldId id="271" r:id="rId16"/>
    <p:sldId id="272" r:id="rId17"/>
    <p:sldId id="273" r:id="rId18"/>
    <p:sldId id="274" r:id="rId19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7" Type="http://schemas.openxmlformats.org/officeDocument/2006/relationships/slide" Target="slides/slide13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4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8586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Good morning. Today's journal club is the NATURE trial, presented as a late-breaking trial at ESC Congress 2026 in Munich.</a:t>
            </a:r>
          </a:p>
          <a:p>
            <a:r>
              <a:t>It asks one question: does pulling out a large clot with a stent-retriever, before stenting, reduce heart damage in STEMI?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big clot is a problem during primary PCI.</a:t>
            </a:r>
          </a:p>
          <a:p>
            <a:r>
              <a:t>Balloon and stent can break it and push debris downstream: distal embolisation.</a:t>
            </a:r>
          </a:p>
          <a:p>
            <a:r>
              <a:t>That blocks the microcirculation, so the artery opens but the muscle does not reperfuse, and the infarct is larger.</a:t>
            </a:r>
          </a:p>
          <a:p>
            <a:r>
              <a:t>The idea is to remove the clot first and break this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have tried this before with manual aspiration.</a:t>
            </a:r>
          </a:p>
          <a:p>
            <a:r>
              <a:t>TASTE, 7,244 patients: no mortality benefit.</a:t>
            </a:r>
          </a:p>
          <a:p>
            <a:r>
              <a:t>TOTAL, over 10,000 patients: no clinical benefit and more strokes at 30 days.</a:t>
            </a:r>
          </a:p>
          <a:p>
            <a:r>
              <a:t>So ESC guidelines say routine aspiration is not recommended, Class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short animation of the procedure: cross the clot, deploy the retriever, pull the clot out, then stent.</a:t>
            </a:r>
          </a:p>
          <a:p>
            <a:r>
              <a:t>Click to play. It is embedded, so no internet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Prospective, multicentre, randomised trial: 154 STEMI patients with large thrombus at 11 centres.</a:t>
            </a:r>
          </a:p>
          <a:p>
            <a:r>
              <a:t>Randomised 1:1 to enVast thrombectomy then PCI, or standard PCI.</a:t>
            </a:r>
          </a:p>
          <a:p>
            <a:r>
              <a:t>Hypothesis: enVast is superior on infarct size. PI Prof. Marco Valgimigli, Lugano; sponsored by Vesalio.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Adults with STEMI: chest pain over 20 minutes with ST elevation, or the posterior MI equivalent.</a:t>
            </a:r>
          </a:p>
          <a:p>
            <a:r>
              <a:t>Treated within 8 hours of symptom onset.</a:t>
            </a:r>
          </a:p>
          <a:p>
            <a:r>
              <a:t>The key criterion: TIMI thrombus grade 3 or more, re-checked after wiring if the artery is occluded.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quick reminder of the grading.</a:t>
            </a:r>
          </a:p>
          <a:p>
            <a:r>
              <a:t>Grade 3 is a definite clot more than half the vessel diameter; grade 4 is two vessel diameters or more; grade 5 is total occlusion.</a:t>
            </a:r>
          </a:p>
          <a:p>
            <a:r>
              <a:t>NATURE took grade 3 and above, and grade 5 had to be re-graded once flow was restored.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Excluded: unconscious patients, small vessels under 2.5 mm, heavy calcification or tortuosity, stent thrombosis, prior MI in the same territory, women of child-bearing potential, and other trials.</a:t>
            </a:r>
          </a:p>
          <a:p>
            <a:r>
              <a:t>Mostly anatomy where a retriever is hard to deliver, or things that would confuse infarct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Primary: infarct size by CK-MB area under the curve, a blood-test measure.</a:t>
            </a:r>
          </a:p>
          <a:p>
            <a:r>
              <a:t>Secondary: infarct size on cardiac MRI at day 3.</a:t>
            </a:r>
          </a:p>
          <a:p>
            <a:r>
              <a:t>Safety: death, stroke and MACE at 30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primary endpoint was met.</a:t>
            </a:r>
          </a:p>
          <a:p>
            <a:r>
              <a:t>Infarct size by CK-MB was 26% smaller with enVast, P = 0.001.</a:t>
            </a:r>
          </a:p>
          <a:p>
            <a:r>
              <a:t>The chart shows relative values, with standard PCI set to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 cardiac MRI at day 3, infarct size was about 25% smaller with enVast.</a:t>
            </a:r>
          </a:p>
          <a:p>
            <a:r>
              <a:t>This was a trend, not formally significant, but it points the same way as the CK-MB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strokes and no deaths in the enVast arm.</a:t>
            </a:r>
          </a:p>
          <a:p>
            <a:r>
              <a:t>Stroke 0 vs 1.3%, death 0 vs 2.6%, MACE 1.3 vs 3.8%.</a:t>
            </a:r>
          </a:p>
          <a:p>
            <a:r>
              <a:t>Reassuring after the stroke signal in TOTAL, but these are very few events and the trial was not powered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Randomised and multicentre.</a:t>
            </a:r>
          </a:p>
          <a:p>
            <a:r>
              <a:t>The right population: only large thrombus, where benefit is most plausible.</a:t>
            </a:r>
          </a:p>
          <a:p>
            <a:r>
              <a:t>Two different measures agree, and there was no early safety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Small, only 154 patients.</a:t>
            </a:r>
          </a:p>
          <a:p>
            <a:r>
              <a:t>Surrogate endpoint, not death or heart failure.</a:t>
            </a:r>
          </a:p>
          <a:p>
            <a:r>
              <a:t>Operators could not be blinded, the MRI result was only a trend, and the trial was industry-funded.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STEMI with a large thrombus, enVast before PCI reduced infarct size compared with standard PCI, with no early safety concern.</a:t>
            </a:r>
          </a:p>
          <a:p>
            <a:r>
              <a:t>Today it is promising for selected cases but not routine; guidelines are unchanged.</a:t>
            </a:r>
          </a:p>
          <a:p>
            <a:r>
              <a:t>Next we need a larger trial with hard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practical points for us.</a:t>
            </a:r>
          </a:p>
          <a:p>
            <a:r>
              <a:t>Grade the thrombus in every STEMI.</a:t>
            </a:r>
          </a:p>
          <a:p>
            <a:r>
              <a:t>Routine manual aspiration is still not recommended.</a:t>
            </a:r>
          </a:p>
          <a:p>
            <a:r>
              <a:t>Stent-retriever thrombectomy is promising for large thrombus, but we wait for outcome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Putting the trials side by side.</a:t>
            </a:r>
          </a:p>
          <a:p>
            <a:r>
              <a:t>TAPAS was positive on a surrogate, myocardial blush; TASTE and TOTAL then showed no hard-outcome benefit, and TOTAL had a stroke signal.</a:t>
            </a:r>
          </a:p>
          <a:p>
            <a:r>
              <a:t>NATURE differs in two ways: only patients with a large thrombus, and a retriever instead of aspiration.</a:t>
            </a:r>
          </a:p>
          <a:p>
            <a:r>
              <a:t>But like TAPAS, its positive result is on a surrogate endpoint. Keep that lesson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you. Happy to take questions.</a:t>
            </a:r>
          </a:p>
          <a:p>
            <a:r>
              <a:t>Possible discussion points: would this change our practice for large thrombus? Is infarct size a good enough endpoint?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3233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0081"/>
            <a:ext cx="10566400" cy="4135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3233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0081"/>
            <a:ext cx="10566400" cy="4135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Relationship Id="rId5" Type="http://schemas.openxmlformats.org/officeDocument/2006/relationships/hyperlink" Target="https://www.youtube.com/watch?v=nmYZFin062I" TargetMode="External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imation still: catheter and wire crossing a clot in a coronary artery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3233F"/>
              </a:gs>
              <a:gs pos="46000">
                <a:srgbClr val="13233F"/>
              </a:gs>
              <a:gs pos="62000">
                <a:srgbClr val="13233F">
                  <a:alpha val="82000"/>
                </a:srgbClr>
              </a:gs>
              <a:gs pos="100000">
                <a:srgbClr val="13233F">
                  <a:alpha val="25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812800" y="812800"/>
            <a:ext cx="609600" cy="38100"/>
          </a:xfrm>
          <a:prstGeom prst="rect">
            <a:avLst/>
          </a:prstGeom>
          <a:solidFill>
            <a:srgbClr val="D943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2"/>
          <p:cNvSpPr/>
          <p:nvPr/>
        </p:nvSpPr>
        <p:spPr>
          <a:xfrm>
            <a:off x="812800" y="158496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JOURNAL CLUB · ESC CONGRESS 2026</a:t>
            </a:r>
            <a:endParaRPr lang="en-US" sz="12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05232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kern="0" spc="-1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NATURE Trial</a:t>
            </a:r>
            <a:endParaRPr lang="en-US" sz="8400" dirty="0"/>
          </a:p>
        </p:txBody>
      </p:sp>
      <p:sp>
        <p:nvSpPr>
          <p:cNvPr id="7" name="Text 4"/>
          <p:cNvSpPr/>
          <p:nvPr/>
        </p:nvSpPr>
        <p:spPr>
          <a:xfrm>
            <a:off x="812800" y="3373120"/>
            <a:ext cx="640969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Mechanical thrombectomy with enVast in STEMI with large thrombus burden: a randomised superiority trial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31850" y="4312920"/>
            <a:ext cx="0" cy="960120"/>
          </a:xfrm>
          <a:prstGeom prst="line">
            <a:avLst/>
          </a:prstGeom>
          <a:noFill/>
          <a:ln w="38100">
            <a:solidFill>
              <a:srgbClr val="D943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1051560" y="4363720"/>
            <a:ext cx="56405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4615180"/>
            <a:ext cx="5640527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 M. Waqas Saleem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51560" y="4973320"/>
            <a:ext cx="56405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PGR Cardiology · Cardiac Centre, BVH Bahawalpur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Why a large thrombus matters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95195"/>
            <a:ext cx="2218690" cy="1776730"/>
          </a:xfrm>
          <a:prstGeom prst="roundRect">
            <a:avLst>
              <a:gd name="adj" fmla="val 696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21080" y="242570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1080" y="2918460"/>
            <a:ext cx="1862735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thrombus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1080" y="327914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clot burden in the infarct artery</a:t>
            </a:r>
            <a:endParaRPr lang="en-US" sz="1300" dirty="0"/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64840" y="2994660"/>
            <a:ext cx="304800" cy="177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99815" y="2065655"/>
            <a:ext cx="2218690" cy="2035810"/>
          </a:xfrm>
          <a:prstGeom prst="roundRect">
            <a:avLst>
              <a:gd name="adj" fmla="val 6082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3804920" y="229616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4920" y="2788920"/>
            <a:ext cx="1862735" cy="543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Distal embolisation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804920" y="340868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Balloon and stent push clot downstream</a:t>
            </a:r>
            <a:endParaRPr lang="en-US" sz="1300" dirty="0"/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8680" y="2994660"/>
            <a:ext cx="304800" cy="177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83655" y="2065655"/>
            <a:ext cx="2218690" cy="2035810"/>
          </a:xfrm>
          <a:prstGeom prst="roundRect">
            <a:avLst>
              <a:gd name="adj" fmla="val 6082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Text 11"/>
          <p:cNvSpPr/>
          <p:nvPr/>
        </p:nvSpPr>
        <p:spPr>
          <a:xfrm>
            <a:off x="6588760" y="229616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6588760" y="2788920"/>
            <a:ext cx="1862735" cy="543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Microvascular obstruction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6588760" y="340868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plugs the microcirculation</a:t>
            </a:r>
            <a:endParaRPr lang="en-US" sz="1300" dirty="0"/>
          </a:p>
        </p:txBody>
      </p:sp>
      <p:pic>
        <p:nvPicPr>
          <p:cNvPr id="18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32520" y="2994660"/>
            <a:ext cx="304800" cy="1778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64320" y="2197100"/>
            <a:ext cx="2214880" cy="1772920"/>
          </a:xfrm>
          <a:prstGeom prst="roundRect">
            <a:avLst>
              <a:gd name="adj" fmla="val 7163"/>
            </a:avLst>
          </a:prstGeom>
          <a:solidFill>
            <a:srgbClr val="A61E3A"/>
          </a:solidFill>
          <a:ln/>
          <a:effectLst>
            <a:outerShdw blurRad="203200" dist="50800" dir="5400000" algn="bl" rotWithShape="0">
              <a:srgbClr val="A61E3A">
                <a:alpha val="2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Text 15"/>
          <p:cNvSpPr/>
          <p:nvPr/>
        </p:nvSpPr>
        <p:spPr>
          <a:xfrm>
            <a:off x="9367520" y="242570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3C9D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04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9367520" y="2918460"/>
            <a:ext cx="1862735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Larger infarct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9367520" y="327914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F6DD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 myocardium salvaged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31850" y="4561840"/>
            <a:ext cx="0" cy="381000"/>
          </a:xfrm>
          <a:prstGeom prst="line">
            <a:avLst/>
          </a:prstGeom>
          <a:noFill/>
          <a:ln w="381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19"/>
          <p:cNvSpPr/>
          <p:nvPr/>
        </p:nvSpPr>
        <p:spPr>
          <a:xfrm>
            <a:off x="1051560" y="4587240"/>
            <a:ext cx="1063746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i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Removing the clot before stenting aims to break this chain.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812800" y="6238241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10058400" y="6238241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What we already know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55"/>
            <a:ext cx="3380264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2219961"/>
            <a:ext cx="29545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TASTE · N = 7,244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1880" y="2509520"/>
            <a:ext cx="2954507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No mortality benefit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1880" y="2907030"/>
            <a:ext cx="295450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aspiration did not reduce death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789" y="1964055"/>
            <a:ext cx="3380343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661694" y="2219961"/>
            <a:ext cx="295458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· N = 10,732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1694" y="2509520"/>
            <a:ext cx="2954589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More strokes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1694" y="2907030"/>
            <a:ext cx="2954589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clinical benefit, and more strokes at 30 days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82" y="1964055"/>
            <a:ext cx="3380343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8251587" y="2219961"/>
            <a:ext cx="295458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ESC GUIDELINES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1587" y="2509520"/>
            <a:ext cx="2954589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Class III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51587" y="2907030"/>
            <a:ext cx="2954589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thrombus aspiration is not recommended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12800" y="6238241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058400" y="6238241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CONTEXT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TAPAS vs TASTE vs TOTAL vs NATURE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808479"/>
            <a:ext cx="10566400" cy="2656840"/>
          </a:xfrm>
          <a:prstGeom prst="rect">
            <a:avLst/>
          </a:prstGeom>
          <a:solidFill>
            <a:srgbClr val="FDFCF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376025" y="1808479"/>
            <a:ext cx="0" cy="2656840"/>
          </a:xfrm>
          <a:prstGeom prst="line">
            <a:avLst/>
          </a:prstGeom>
          <a:noFill/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812800" y="4462144"/>
            <a:ext cx="10566400" cy="0"/>
          </a:xfrm>
          <a:prstGeom prst="line">
            <a:avLst/>
          </a:prstGeom>
          <a:noFill/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18639"/>
          <a:ext cx="10551162" cy="2641600"/>
        </p:xfrm>
        <a:graphic>
          <a:graphicData uri="http://schemas.openxmlformats.org/drawingml/2006/table">
            <a:tbl>
              <a:tblPr/>
              <a:tblGrid>
                <a:gridCol w="1688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TAPAS · NEJM 2008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TASTE · NEJM 2013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· NEJM 2015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3C9D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NATURE · ESC 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Patients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1,071 · 1 centre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7,244 · Sweden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10,732 · 20 countries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154 · 11 centres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Thrombus grade ≥ 3 only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Device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enVast stent-retriever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Endpoint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Myocardial blush 0–1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Death at 30 days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CV death/MI/shock/HF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Infarct size, CK-MB AUC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17% vs 26%, P &lt; 0.001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2.8% vs 3.0%, P = 0.63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6.9% vs 7.0%, P = 0.86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26% smaller, P = 0.001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Stroke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Not reported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0.5% vs 0.5%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0.7% vs 0.3% (↑)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0% vs 1.3%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Verdict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Positive, surrogate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Neutral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Neutral, stroke signal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Positive, surrogate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4668521"/>
            <a:ext cx="10566400" cy="967740"/>
          </a:xfrm>
          <a:prstGeom prst="roundRect">
            <a:avLst>
              <a:gd name="adj" fmla="val 13123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1066800" y="4820921"/>
            <a:ext cx="327891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PATIENTS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66800" y="5072379"/>
            <a:ext cx="3278916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large thrombus, where embolisation risk is highest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04214" y="4820921"/>
            <a:ext cx="32789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BETTER TOOL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04214" y="5072379"/>
            <a:ext cx="327899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retriever captures the whole clot instead of fragmenting it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941707" y="4820921"/>
            <a:ext cx="32789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LESSON OF TAPAS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41707" y="5072379"/>
            <a:ext cx="327899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positive surrogate needs an outcomes trial to confirm it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TAPAS was positive on a surrogate too, but TASTE and TOTAL then showed no hard-outcome benefit.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Trial design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60882"/>
            <a:ext cx="5969000" cy="640080"/>
          </a:xfrm>
          <a:prstGeom prst="roundRect">
            <a:avLst>
              <a:gd name="adj" fmla="val 19841"/>
            </a:avLst>
          </a:prstGeom>
          <a:solidFill>
            <a:srgbClr val="13233F"/>
          </a:solidFill>
          <a:ln/>
        </p:spPr>
        <p:txBody>
          <a:bodyPr wrap="square" lIns="134888" tIns="140603" rIns="134888" bIns="115203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154 STEMI patients with large thrombus · 11 centres</a:t>
            </a:r>
            <a:endParaRPr lang="en-US" sz="1600" dirty="0"/>
          </a:p>
        </p:txBody>
      </p:sp>
      <p:pic>
        <p:nvPicPr>
          <p:cNvPr id="5" name="Image 0" descr="arrow-down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08400" y="2702561"/>
            <a:ext cx="177800" cy="30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56468" y="3108961"/>
            <a:ext cx="1881584" cy="375920"/>
          </a:xfrm>
          <a:prstGeom prst="roundRect">
            <a:avLst>
              <a:gd name="adj" fmla="val 50000"/>
            </a:avLst>
          </a:prstGeom>
          <a:solidFill>
            <a:srgbClr val="E9E4D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Randomised 1 : 1</a:t>
            </a:r>
            <a:endParaRPr lang="en-US" sz="1400" dirty="0"/>
          </a:p>
        </p:txBody>
      </p:sp>
      <p:pic>
        <p:nvPicPr>
          <p:cNvPr id="7" name="Image 1" descr="arrow-down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65350" y="3586482"/>
            <a:ext cx="177800" cy="304800"/>
          </a:xfrm>
          <a:prstGeom prst="rect">
            <a:avLst/>
          </a:prstGeom>
        </p:spPr>
      </p:pic>
      <p:pic>
        <p:nvPicPr>
          <p:cNvPr id="8" name="Image 2" descr="arrow-down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1450" y="3586482"/>
            <a:ext cx="177800" cy="304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12800" y="3992882"/>
            <a:ext cx="2872740" cy="1000760"/>
          </a:xfrm>
          <a:prstGeom prst="roundRect">
            <a:avLst>
              <a:gd name="adj" fmla="val 1269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5"/>
          <p:cNvSpPr/>
          <p:nvPr/>
        </p:nvSpPr>
        <p:spPr>
          <a:xfrm>
            <a:off x="1041400" y="4196082"/>
            <a:ext cx="248800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thrombectomy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1041400" y="4521200"/>
            <a:ext cx="2488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6DD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conventional PCI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3895090" y="3999232"/>
            <a:ext cx="2880360" cy="988060"/>
          </a:xfrm>
          <a:prstGeom prst="roundRect">
            <a:avLst>
              <a:gd name="adj" fmla="val 12211"/>
            </a:avLst>
          </a:prstGeom>
          <a:solidFill>
            <a:srgbClr val="FDFCFA"/>
          </a:solidFill>
          <a:ln w="12700">
            <a:solidFill>
              <a:srgbClr val="8C96A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8"/>
          <p:cNvSpPr/>
          <p:nvPr/>
        </p:nvSpPr>
        <p:spPr>
          <a:xfrm>
            <a:off x="4127500" y="4206239"/>
            <a:ext cx="248800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127500" y="4531361"/>
            <a:ext cx="2488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of care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239000" y="2671447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1"/>
          <p:cNvSpPr/>
          <p:nvPr/>
        </p:nvSpPr>
        <p:spPr>
          <a:xfrm>
            <a:off x="7239000" y="2062482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39000" y="2301239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Prospective, multicentre, randomised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239000" y="3385186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4"/>
          <p:cNvSpPr/>
          <p:nvPr/>
        </p:nvSpPr>
        <p:spPr>
          <a:xfrm>
            <a:off x="7239000" y="2776221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239000" y="301498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Superiority on infarct size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239000" y="4098926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17"/>
          <p:cNvSpPr/>
          <p:nvPr/>
        </p:nvSpPr>
        <p:spPr>
          <a:xfrm>
            <a:off x="7239000" y="3489961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239000" y="3728721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Prof. Marco Valgimigli, Lugano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7239000" y="4812665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0"/>
          <p:cNvSpPr/>
          <p:nvPr/>
        </p:nvSpPr>
        <p:spPr>
          <a:xfrm>
            <a:off x="7239000" y="4203700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SPONSOR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239000" y="4442461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Vesalio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239000" y="4917439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REGISTRY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7239000" y="5156200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NCT04969471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812800" y="6238239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Inclusion criteria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100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1960882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0000" y="1910082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 ≥ 18 years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12800" y="23672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8" name="Image 1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2418082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70000" y="2367282"/>
            <a:ext cx="633120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Chest pain &gt; 20 min with ST elevation ≥ 1 mm in ≥ 2 contiguous leads, or infero-lateral MI with ST depression ≥ 1 mm in ≥ 2 of V1–V3 and a positive terminal T wave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12800" y="326643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2" descr="Che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3600" y="3317239"/>
            <a:ext cx="2032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70000" y="3266439"/>
            <a:ext cx="6331204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TIMI thrombus grade ≥ 3</a:t>
            </a: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infarct-related artery (re-confirmed after wiring if TIMI 0 flow)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12800" y="39166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4" name="Image 3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3967482"/>
            <a:ext cx="2032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70000" y="3916682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Intervention started within 8 hours of symptom onset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812800" y="43738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4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4424679"/>
            <a:ext cx="203200" cy="203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70000" y="4373879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Informed consent before the procedure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7823200" y="1910082"/>
            <a:ext cx="3556000" cy="3074670"/>
          </a:xfrm>
          <a:prstGeom prst="roundRect">
            <a:avLst>
              <a:gd name="adj" fmla="val 4957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0" name="Image 5" descr="Ke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28000" y="2214882"/>
            <a:ext cx="279400" cy="2794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509000" y="2247900"/>
            <a:ext cx="115947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 POINT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8128000" y="2621282"/>
            <a:ext cx="3034792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TIMI thrombus grade ≥ 3</a:t>
            </a:r>
            <a:endParaRPr lang="en-US" sz="2200" dirty="0"/>
          </a:p>
        </p:txBody>
      </p:sp>
      <p:sp>
        <p:nvSpPr>
          <p:cNvPr id="23" name="Text 15"/>
          <p:cNvSpPr/>
          <p:nvPr/>
        </p:nvSpPr>
        <p:spPr>
          <a:xfrm>
            <a:off x="8128000" y="3390900"/>
            <a:ext cx="3034792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definite clot longer than half the vessel diameter. These patients are the most likely to embolise clot during PCI, so they have the most to gain from thrombectomy.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ClinicalTrials.gov NCT04969471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TIMI thrombus grading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33879"/>
            <a:ext cx="5219700" cy="340360"/>
          </a:xfrm>
          <a:prstGeom prst="roundRect">
            <a:avLst>
              <a:gd name="adj" fmla="val 22388"/>
            </a:avLst>
          </a:prstGeom>
          <a:solidFill>
            <a:srgbClr val="A61E3A"/>
          </a:solidFill>
          <a:ln/>
        </p:spPr>
        <p:txBody>
          <a:bodyPr wrap="square" lIns="4034" tIns="41182" rIns="4034" bIns="15782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Eligible for NATURE: grade ≥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5975" y="2279017"/>
            <a:ext cx="1648857" cy="1982470"/>
          </a:xfrm>
          <a:prstGeom prst="roundRect">
            <a:avLst>
              <a:gd name="adj" fmla="val 7510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970280" y="2458721"/>
            <a:ext cx="139104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70280" y="2867664"/>
            <a:ext cx="134024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970280" y="287718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970280" y="313753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970280" y="3248664"/>
            <a:ext cx="1391047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angiographic thrombus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182" y="2279017"/>
            <a:ext cx="1648857" cy="1982470"/>
          </a:xfrm>
          <a:prstGeom prst="roundRect">
            <a:avLst>
              <a:gd name="adj" fmla="val 7510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52487" y="2458721"/>
            <a:ext cx="139104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752487" y="2867664"/>
            <a:ext cx="134024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2752487" y="287718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2752487" y="313753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3282871" y="2918464"/>
            <a:ext cx="279400" cy="177800"/>
          </a:xfrm>
          <a:prstGeom prst="roundRect">
            <a:avLst>
              <a:gd name="adj" fmla="val 50000"/>
            </a:avLst>
          </a:prstGeom>
          <a:solidFill>
            <a:srgbClr val="8B1A2F">
              <a:alpha val="30000"/>
            </a:srgbClr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2752487" y="3248664"/>
            <a:ext cx="139104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Possible thrombus: haziness, reduced contrast density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0389" y="2279017"/>
            <a:ext cx="1648936" cy="1982470"/>
          </a:xfrm>
          <a:prstGeom prst="roundRect">
            <a:avLst>
              <a:gd name="adj" fmla="val 750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534694" y="2458721"/>
            <a:ext cx="1391126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G2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534694" y="2867664"/>
            <a:ext cx="1340326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534694" y="2877189"/>
            <a:ext cx="134032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4534694" y="3137539"/>
            <a:ext cx="134032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135007" y="2937514"/>
            <a:ext cx="139700" cy="1397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4534694" y="3248664"/>
            <a:ext cx="1391126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≤ ½ vessel diameter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65850" y="2282192"/>
            <a:ext cx="1642507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6322060" y="2463800"/>
            <a:ext cx="138088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G3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322060" y="2872742"/>
            <a:ext cx="133008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8" name="Shape 26"/>
          <p:cNvSpPr/>
          <p:nvPr/>
        </p:nvSpPr>
        <p:spPr>
          <a:xfrm>
            <a:off x="6322060" y="288226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6322060" y="314261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6796564" y="2917192"/>
            <a:ext cx="381000" cy="1905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322060" y="3253742"/>
            <a:ext cx="138088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&gt; ½ but &lt; 2 vessel diameters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48057" y="2282192"/>
            <a:ext cx="1642507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104267" y="2463800"/>
            <a:ext cx="138088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G4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8104267" y="2872742"/>
            <a:ext cx="133008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8104267" y="288226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8104267" y="314261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8388271" y="2910842"/>
            <a:ext cx="762000" cy="2032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8104267" y="3253742"/>
            <a:ext cx="138088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≥ 2 vessel diameters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730264" y="2282192"/>
            <a:ext cx="1642586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9886474" y="2463800"/>
            <a:ext cx="1380966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G5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9886474" y="2872742"/>
            <a:ext cx="1330166" cy="279400"/>
          </a:xfrm>
          <a:prstGeom prst="rect">
            <a:avLst/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2" name="Shape 40"/>
          <p:cNvSpPr/>
          <p:nvPr/>
        </p:nvSpPr>
        <p:spPr>
          <a:xfrm>
            <a:off x="9886474" y="2882267"/>
            <a:ext cx="133016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Shape 41"/>
          <p:cNvSpPr/>
          <p:nvPr/>
        </p:nvSpPr>
        <p:spPr>
          <a:xfrm>
            <a:off x="9886474" y="3142617"/>
            <a:ext cx="133016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9886474" y="3253742"/>
            <a:ext cx="1380966" cy="848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occlusion; thrombus size cannot be assessed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4493264"/>
            <a:ext cx="5181600" cy="801370"/>
          </a:xfrm>
          <a:prstGeom prst="roundRect">
            <a:avLst>
              <a:gd name="adj" fmla="val 15848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6" name="Image 0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1400" y="4741546"/>
            <a:ext cx="304800" cy="304800"/>
          </a:xfrm>
          <a:prstGeom prst="rect">
            <a:avLst/>
          </a:prstGeom>
        </p:spPr>
      </p:pic>
      <p:sp>
        <p:nvSpPr>
          <p:cNvPr id="47" name="Text 44"/>
          <p:cNvSpPr/>
          <p:nvPr/>
        </p:nvSpPr>
        <p:spPr>
          <a:xfrm>
            <a:off x="1498600" y="4782505"/>
            <a:ext cx="4395216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thrombus burden</a:t>
            </a:r>
            <a:r>
              <a:rPr lang="en-US" sz="13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is usually defined as grade ≥ 4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6197600" y="4493264"/>
            <a:ext cx="5181600" cy="801370"/>
          </a:xfrm>
          <a:prstGeom prst="roundRect">
            <a:avLst>
              <a:gd name="adj" fmla="val 15848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6200" y="4741546"/>
            <a:ext cx="304800" cy="304800"/>
          </a:xfrm>
          <a:prstGeom prst="rect">
            <a:avLst/>
          </a:prstGeom>
        </p:spPr>
      </p:pic>
      <p:sp>
        <p:nvSpPr>
          <p:cNvPr id="50" name="Text 46"/>
          <p:cNvSpPr/>
          <p:nvPr/>
        </p:nvSpPr>
        <p:spPr>
          <a:xfrm>
            <a:off x="6883400" y="4671064"/>
            <a:ext cx="439521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Grade 5:</a:t>
            </a:r>
            <a:r>
              <a:rPr lang="en-US" sz="13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re-grade after wiring or a small balloon restores flow</a:t>
            </a:r>
            <a:endParaRPr lang="en-US" sz="1300" dirty="0"/>
          </a:p>
        </p:txBody>
      </p:sp>
      <p:sp>
        <p:nvSpPr>
          <p:cNvPr id="51" name="Text 47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Gibson CM, et al. Circulation 2001 · Sianos G, et al. J Am Coll Cardiol 2007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Exclusion criteria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100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44600" y="19297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Unconscious patient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3037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44600" y="23234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Infarct-related artery &lt; 2.5 mm (visual estimate)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26974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4600" y="2717167"/>
            <a:ext cx="657860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Severe calcification or extreme tortuosity at or proximal to the culprit lesion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30911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44600" y="31108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 thrombosis as the culprit lesion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4848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44600" y="35045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Previous MI in the same territory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38785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44600" y="38982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Women of child-bearing potential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722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44600" y="42919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Participation in another interventional trial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23200" y="1910079"/>
            <a:ext cx="3556000" cy="2740660"/>
          </a:xfrm>
          <a:prstGeom prst="roundRect">
            <a:avLst>
              <a:gd name="adj" fmla="val 5561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9" name="Image 0" descr="Lightbulb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0" y="2214879"/>
            <a:ext cx="279400" cy="2794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509000" y="2247900"/>
            <a:ext cx="27662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THESE EXCLUSIONS?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28000" y="2646679"/>
            <a:ext cx="3034792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Small, calcified or tortuous vessels:</a:t>
            </a:r>
            <a:r>
              <a:rPr lang="en-US" sz="14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hard to deliver a retriever safely.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128000" y="3572514"/>
            <a:ext cx="3034792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 thrombosis and prior MI</a:t>
            </a:r>
            <a:r>
              <a:rPr lang="en-US" sz="14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same territory would confound infarct size.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ClinicalTrials.gov NCT04969471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Endpoints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11679"/>
            <a:ext cx="3379867" cy="2611120"/>
          </a:xfrm>
          <a:prstGeom prst="roundRect">
            <a:avLst>
              <a:gd name="adj" fmla="val 5837"/>
            </a:avLst>
          </a:prstGeom>
          <a:solidFill>
            <a:srgbClr val="A61E3A"/>
          </a:solidFill>
          <a:ln/>
          <a:effectLst>
            <a:outerShdw blurRad="203200" dist="50800" dir="5400000" algn="bl" rotWithShape="0">
              <a:srgbClr val="A61E3A">
                <a:alpha val="2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17600" y="2316479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F6F4EF">
              <a:alpha val="16000"/>
            </a:srgbClr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6" name="Image 0" descr="Activit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4600" y="2443479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7600" y="3027679"/>
            <a:ext cx="28533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17600" y="3393442"/>
            <a:ext cx="28533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Infarct size by CK-MB area under the curve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99042" y="2014854"/>
            <a:ext cx="3383756" cy="2604770"/>
          </a:xfrm>
          <a:prstGeom prst="roundRect">
            <a:avLst>
              <a:gd name="adj" fmla="val 572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7"/>
          <p:cNvSpPr/>
          <p:nvPr/>
        </p:nvSpPr>
        <p:spPr>
          <a:xfrm>
            <a:off x="4705747" y="2321564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E7EBF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32747" y="2448564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5747" y="3032764"/>
            <a:ext cx="285345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05747" y="3398521"/>
            <a:ext cx="2853457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Infarct size on cardiac MRI (% of LV mass) at day 3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7992349" y="2014854"/>
            <a:ext cx="3383677" cy="2604770"/>
          </a:xfrm>
          <a:prstGeom prst="roundRect">
            <a:avLst>
              <a:gd name="adj" fmla="val 572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1"/>
          <p:cNvSpPr/>
          <p:nvPr/>
        </p:nvSpPr>
        <p:spPr>
          <a:xfrm>
            <a:off x="8299053" y="2321564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E7EBF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6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26053" y="2448564"/>
            <a:ext cx="304800" cy="3048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99053" y="3032764"/>
            <a:ext cx="28533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SAFETY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99053" y="3398521"/>
            <a:ext cx="28533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Death, stroke and MACE at 30 days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Primary endpoint: met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418079"/>
            <a:ext cx="3174873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000"/>
              </a:lnSpc>
              <a:buNone/>
            </a:pPr>
            <a:r>
              <a:rPr lang="en-US" sz="12000" b="1" kern="0" spc="-300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26%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812800" y="4094479"/>
            <a:ext cx="5494020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reduction in infarct size (CK-MB AUC) with enVast versus standard PCI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4864100"/>
            <a:ext cx="1246902" cy="419100"/>
          </a:xfrm>
          <a:prstGeom prst="roundRect">
            <a:avLst>
              <a:gd name="adj" fmla="val 50000"/>
            </a:avLst>
          </a:prstGeom>
          <a:solidFill>
            <a:srgbClr val="13233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 = 0.001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56375" y="1899289"/>
            <a:ext cx="4819650" cy="3902710"/>
          </a:xfrm>
          <a:prstGeom prst="roundRect">
            <a:avLst>
              <a:gd name="adj" fmla="val 382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6863080" y="2129792"/>
            <a:ext cx="43324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infarct size, CK-MB AUC (standard PCI = 100)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63080" y="5181600"/>
            <a:ext cx="420624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9512" y="2495550"/>
            <a:ext cx="49377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91400" y="2891792"/>
            <a:ext cx="1270000" cy="2286000"/>
          </a:xfrm>
          <a:custGeom>
            <a:avLst/>
            <a:gdLst/>
            <a:ahLst/>
            <a:cxnLst/>
            <a:rect l="l" t="t" r="r" b="b"/>
            <a:pathLst>
              <a:path w="1270000" h="2286000">
                <a:moveTo>
                  <a:pt x="76200" y="0"/>
                </a:moveTo>
                <a:lnTo>
                  <a:pt x="1193800" y="0"/>
                </a:lnTo>
                <a:arcTo wR="76200" hR="76200" stAng="16200000" swAng="5400000"/>
                <a:lnTo>
                  <a:pt x="1270000" y="2286000"/>
                </a:lnTo>
                <a:lnTo>
                  <a:pt x="0" y="2286000"/>
                </a:lnTo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9741408" y="3092450"/>
            <a:ext cx="329184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74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71000" y="3488692"/>
            <a:ext cx="1270000" cy="1689100"/>
          </a:xfrm>
          <a:custGeom>
            <a:avLst/>
            <a:gdLst/>
            <a:ahLst/>
            <a:cxnLst/>
            <a:rect l="l" t="t" r="r" b="b"/>
            <a:pathLst>
              <a:path w="1270000" h="1689100">
                <a:moveTo>
                  <a:pt x="76200" y="0"/>
                </a:moveTo>
                <a:lnTo>
                  <a:pt x="1193800" y="0"/>
                </a:lnTo>
                <a:arcTo wR="76200" hR="76200" stAng="16200000" swAng="5400000"/>
                <a:lnTo>
                  <a:pt x="1270000" y="1689100"/>
                </a:lnTo>
                <a:lnTo>
                  <a:pt x="0" y="1689100"/>
                </a:lnTo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7366000" y="5340350"/>
            <a:ext cx="1320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45600" y="5340350"/>
            <a:ext cx="1320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Secondary endpoint: cardiac MRI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15975" y="1862454"/>
            <a:ext cx="10560050" cy="149733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1122680" y="2108194"/>
            <a:ext cx="594360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Cardiac MRI at day 3 (secondary)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28205" y="2067557"/>
            <a:ext cx="1941116" cy="325120"/>
          </a:xfrm>
          <a:custGeom>
            <a:avLst/>
            <a:gdLst/>
            <a:ahLst/>
            <a:cxnLst/>
            <a:rect l="l" t="t" r="r" b="b"/>
            <a:pathLst>
              <a:path w="1941116" h="325120">
                <a:moveTo>
                  <a:pt x="162560" y="0"/>
                </a:moveTo>
                <a:lnTo>
                  <a:pt x="1778556" y="0"/>
                </a:lnTo>
                <a:arcTo wR="162560" hR="162560" stAng="16200000" swAng="5400000"/>
                <a:lnTo>
                  <a:pt x="1941116" y="162560"/>
                </a:lnTo>
                <a:arcTo wR="162560" hR="162560" stAng="0" swAng="5400000"/>
                <a:lnTo>
                  <a:pt x="162560" y="325120"/>
                </a:lnTo>
                <a:arcTo wR="162560" hR="162560" stAng="5400000" swAng="5400000"/>
                <a:lnTo>
                  <a:pt x="0" y="162560"/>
                </a:lnTo>
                <a:arcTo wR="162560" hR="16256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25% smaller · trend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22680" y="2531107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99080" y="2519679"/>
            <a:ext cx="7660640" cy="254000"/>
          </a:xfrm>
          <a:prstGeom prst="roundRect">
            <a:avLst>
              <a:gd name="adj" fmla="val 20000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10561320" y="2531107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22680" y="2912107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99080" y="2900679"/>
            <a:ext cx="5745480" cy="254000"/>
          </a:xfrm>
          <a:prstGeom prst="roundRect">
            <a:avLst>
              <a:gd name="adj" fmla="val 2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10561320" y="2912107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2800" y="5257800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Imaging points the same way as the primary endpoint, but on its own it is a trend, not proof.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values, standard PCI = 100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1200" dirty="0"/>
          </a:p>
        </p:txBody>
      </p:sp>
      <p:sp>
        <p:nvSpPr>
          <p:cNvPr id="25" name="Tile 25"/>
          <p:cNvSpPr/>
          <p:nvPr/>
        </p:nvSpPr>
        <p:spPr>
          <a:xfrm>
            <a:off x="815975" y="3611880"/>
            <a:ext cx="3337136" cy="132588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6" name="Tile 26"/>
          <p:cNvSpPr/>
          <p:nvPr/>
        </p:nvSpPr>
        <p:spPr>
          <a:xfrm>
            <a:off x="1090295" y="3886200"/>
            <a:ext cx="278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WAS MEASURED</a:t>
            </a:r>
            <a:endParaRPr lang="en-US" sz="1300" dirty="0"/>
          </a:p>
        </p:txBody>
      </p:sp>
      <p:sp>
        <p:nvSpPr>
          <p:cNvPr id="27" name="Tile 27"/>
          <p:cNvSpPr/>
          <p:nvPr/>
        </p:nvSpPr>
        <p:spPr>
          <a:xfrm>
            <a:off x="1090295" y="4233672"/>
            <a:ext cx="278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 size, % of LV mass</a:t>
            </a:r>
            <a:endParaRPr lang="en-US" sz="1600" dirty="0"/>
          </a:p>
        </p:txBody>
      </p:sp>
      <p:sp>
        <p:nvSpPr>
          <p:cNvPr id="28" name="Tile 28"/>
          <p:cNvSpPr/>
          <p:nvPr/>
        </p:nvSpPr>
        <p:spPr>
          <a:xfrm>
            <a:off x="4427431" y="3611880"/>
            <a:ext cx="3337136" cy="132588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9" name="Tile 29"/>
          <p:cNvSpPr/>
          <p:nvPr/>
        </p:nvSpPr>
        <p:spPr>
          <a:xfrm>
            <a:off x="4701751" y="3886200"/>
            <a:ext cx="278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</a:t>
            </a:r>
            <a:endParaRPr lang="en-US" sz="1300" dirty="0"/>
          </a:p>
        </p:txBody>
      </p:sp>
      <p:sp>
        <p:nvSpPr>
          <p:cNvPr id="30" name="Tile 30"/>
          <p:cNvSpPr/>
          <p:nvPr/>
        </p:nvSpPr>
        <p:spPr>
          <a:xfrm>
            <a:off x="4701751" y="4233672"/>
            <a:ext cx="278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Day 3 after PCI</a:t>
            </a:r>
            <a:endParaRPr lang="en-US" sz="1600" dirty="0"/>
          </a:p>
        </p:txBody>
      </p:sp>
      <p:sp>
        <p:nvSpPr>
          <p:cNvPr id="31" name="Tile 31"/>
          <p:cNvSpPr/>
          <p:nvPr/>
        </p:nvSpPr>
        <p:spPr>
          <a:xfrm>
            <a:off x="8038887" y="3611880"/>
            <a:ext cx="3337136" cy="132588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32" name="Tile 32"/>
          <p:cNvSpPr/>
          <p:nvPr/>
        </p:nvSpPr>
        <p:spPr>
          <a:xfrm>
            <a:off x="8313207" y="3886200"/>
            <a:ext cx="278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</a:t>
            </a:r>
            <a:endParaRPr lang="en-US" sz="1300" dirty="0"/>
          </a:p>
        </p:txBody>
      </p:sp>
      <p:sp>
        <p:nvSpPr>
          <p:cNvPr id="33" name="Tile 33"/>
          <p:cNvSpPr/>
          <p:nvPr/>
        </p:nvSpPr>
        <p:spPr>
          <a:xfrm>
            <a:off x="8313207" y="4233672"/>
            <a:ext cx="278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About 25% smaller with enVast (trend)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Safety at 30 days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862454"/>
            <a:ext cx="6826250" cy="3976370"/>
          </a:xfrm>
          <a:prstGeom prst="roundRect">
            <a:avLst>
              <a:gd name="adj" fmla="val 3753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22680" y="2110742"/>
            <a:ext cx="177800" cy="177800"/>
          </a:xfrm>
          <a:prstGeom prst="roundRect">
            <a:avLst>
              <a:gd name="adj" fmla="val 21429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1376680" y="2092964"/>
            <a:ext cx="10819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32301" y="2110742"/>
            <a:ext cx="177800" cy="177800"/>
          </a:xfrm>
          <a:prstGeom prst="roundRect">
            <a:avLst>
              <a:gd name="adj" fmla="val 21429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2786301" y="2092964"/>
            <a:ext cx="108851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24295" y="2092964"/>
            <a:ext cx="109347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 rate, 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22680" y="5200651"/>
            <a:ext cx="621284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1636038" y="4871721"/>
            <a:ext cx="332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497727" y="5171442"/>
            <a:ext cx="609600" cy="25400"/>
          </a:xfrm>
          <a:prstGeom prst="rect">
            <a:avLst/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2251321" y="42875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208927" y="458724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609600"/>
                </a:lnTo>
                <a:lnTo>
                  <a:pt x="0" y="6096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707011" y="4871721"/>
            <a:ext cx="332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68700" y="5171442"/>
            <a:ext cx="609600" cy="25400"/>
          </a:xfrm>
          <a:prstGeom prst="rect">
            <a:avLst/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322294" y="36779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2.6%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79900" y="3977642"/>
            <a:ext cx="609600" cy="1219200"/>
          </a:xfrm>
          <a:custGeom>
            <a:avLst/>
            <a:gdLst/>
            <a:ahLst/>
            <a:cxnLst/>
            <a:rect l="l" t="t" r="r" b="b"/>
            <a:pathLst>
              <a:path w="609600" h="12192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1219200"/>
                </a:lnTo>
                <a:lnTo>
                  <a:pt x="0" y="12192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5681988" y="42875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39594" y="458724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609600"/>
                </a:lnTo>
                <a:lnTo>
                  <a:pt x="0" y="6096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6393188" y="31191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3.8%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0794" y="3418842"/>
            <a:ext cx="609600" cy="1778000"/>
          </a:xfrm>
          <a:custGeom>
            <a:avLst/>
            <a:gdLst/>
            <a:ahLst/>
            <a:cxnLst/>
            <a:rect l="l" t="t" r="r" b="b"/>
            <a:pathLst>
              <a:path w="609600" h="17780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1778000"/>
                </a:lnTo>
                <a:lnTo>
                  <a:pt x="0" y="17780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472327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Stroke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43300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Death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14194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950200" y="1859279"/>
            <a:ext cx="3429000" cy="3982720"/>
          </a:xfrm>
          <a:prstGeom prst="roundRect">
            <a:avLst>
              <a:gd name="adj" fmla="val 4444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7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55000" y="2164079"/>
            <a:ext cx="355600" cy="355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255000" y="2697479"/>
            <a:ext cx="2903982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No strokes and no deaths with enVast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8255000" y="3517900"/>
            <a:ext cx="290398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Important, because aspiration in TOTAL increased stroke.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55000" y="4193542"/>
            <a:ext cx="290398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Very few events overall; the trial was not powered for clinical outcomes.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DEVICE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See it in action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913257"/>
            <a:ext cx="6597650" cy="3708400"/>
          </a:xfrm>
          <a:prstGeom prst="roundRect">
            <a:avLst>
              <a:gd name="adj" fmla="val 3339"/>
            </a:avLst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7772400" y="1910082"/>
            <a:ext cx="371500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 ANIMATION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772400" y="2225039"/>
            <a:ext cx="3715004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Cross, deploy, retrieve, stent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3114879"/>
            <a:ext cx="371500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 the video to play or pause. It is embedded in the deck, so no internet is needed.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0" y="4457064"/>
            <a:ext cx="3606800" cy="0"/>
          </a:xfrm>
          <a:prstGeom prst="line">
            <a:avLst/>
          </a:prstGeom>
          <a:noFill/>
          <a:ln w="6350">
            <a:solidFill>
              <a:srgbClr val="F6F4E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7772400" y="4636771"/>
            <a:ext cx="371500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Vesalio. enVast Coronary Thrombectomy System procedure animation.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0" y="5190489"/>
            <a:ext cx="3606800" cy="434340"/>
          </a:xfrm>
          <a:prstGeom prst="roundRect">
            <a:avLst>
              <a:gd name="adj" fmla="val 50000"/>
            </a:avLst>
          </a:prstGeom>
          <a:solidFill>
            <a:srgbClr val="A61E3A"/>
          </a:solidFill>
          <a:ln/>
        </p:spPr>
        <p:txBody>
          <a:bodyPr wrap="square" lIns="91587" tIns="37993" rIns="91587" bIns="12593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u="sng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with narration on YouTube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2800" y="6238239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</a:t>
            </a:r>
            <a:endParaRPr lang="en-US" sz="1200" dirty="0"/>
          </a:p>
        </p:txBody>
      </p:sp>
      <p:pic>
        <p:nvPicPr>
          <p:cNvPr id="14" name="YTDown.com_YouTube_Media_nmYZFin062I_enVast-Coronary-Thrombectomy-System-Procedure-Animation_001_1080p">
            <a:hlinkClick r:id="" action="ppaction://media"/>
            <a:extLst>
              <a:ext uri="{FF2B5EF4-FFF2-40B4-BE49-F238E27FC236}">
                <a16:creationId xmlns:a16="http://schemas.microsoft.com/office/drawing/2014/main" id="{DBA4EF2C-17E6-6B14-0C55-52AFAE2D55E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12800" y="1913257"/>
            <a:ext cx="6597650" cy="3711178"/>
          </a:xfrm>
          <a:prstGeom prst="roundRect">
            <a:avLst>
              <a:gd name="adj" fmla="val 5299"/>
            </a:avLst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plastic">
            <a:bevelT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6155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APPRAISAL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Strengths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071880" y="22199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6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3480" y="2321558"/>
            <a:ext cx="254000" cy="2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22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Randomised, multicentre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7322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centres, 1:1 allocation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007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7"/>
          <p:cNvSpPr/>
          <p:nvPr/>
        </p:nvSpPr>
        <p:spPr>
          <a:xfrm>
            <a:off x="6456680" y="22199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58280" y="2321558"/>
            <a:ext cx="254000" cy="254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170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population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1170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patients with a large thrombus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9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1"/>
          <p:cNvSpPr/>
          <p:nvPr/>
        </p:nvSpPr>
        <p:spPr>
          <a:xfrm>
            <a:off x="1071880" y="35153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6" name="Image 2" descr="Chart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73480" y="3616958"/>
            <a:ext cx="254000" cy="2540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22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results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7322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CK-MB and cardiac MRI agree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007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Shape 15"/>
          <p:cNvSpPr/>
          <p:nvPr/>
        </p:nvSpPr>
        <p:spPr>
          <a:xfrm>
            <a:off x="6456680" y="35153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1" name="Image 3" descr="Verified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58280" y="3616958"/>
            <a:ext cx="254000" cy="2540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170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 early course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1170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stroke or death with enVast at 30 days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APPRAISAL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Limitations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22199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22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 trial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22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154 patients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007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456680" y="22199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170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Surrogate endpoint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170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 size, not death or heart failure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9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1071880" y="35153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22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not blinded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322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 use cannot be hidden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07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456680" y="35153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170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MRI only a trend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17080" y="3840485"/>
            <a:ext cx="4255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Industry-funded; needs independent confirmation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A61E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81758"/>
            <a:ext cx="10883392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00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 STEMI with a large thrombus, enVast thrombectomy before PCI was </a:t>
            </a:r>
            <a:r>
              <a:rPr lang="en-US" sz="3000" i="1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superior</a:t>
            </a:r>
            <a:r>
              <a:rPr lang="en-US" sz="300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 to standard PCI in reducing infarct size, with no early safety concern.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3112133"/>
            <a:ext cx="5175250" cy="1334770"/>
          </a:xfrm>
          <a:prstGeom prst="roundRect">
            <a:avLst>
              <a:gd name="adj" fmla="val 9277"/>
            </a:avLst>
          </a:prstGeom>
          <a:solidFill>
            <a:srgbClr val="13233F">
              <a:alpha val="28000"/>
            </a:srgbClr>
          </a:solidFill>
          <a:ln w="6350">
            <a:solidFill>
              <a:srgbClr val="F6F4E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3368042"/>
            <a:ext cx="4803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1880" y="3657600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Promising for selected large-thrombus cases, but not yet routine. Guidelines are unchanged.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00775" y="3112133"/>
            <a:ext cx="5175250" cy="1334770"/>
          </a:xfrm>
          <a:prstGeom prst="roundRect">
            <a:avLst>
              <a:gd name="adj" fmla="val 9277"/>
            </a:avLst>
          </a:prstGeom>
          <a:solidFill>
            <a:srgbClr val="13233F">
              <a:alpha val="28000"/>
            </a:srgbClr>
          </a:solidFill>
          <a:ln w="6350">
            <a:solidFill>
              <a:srgbClr val="F6F4E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6456680" y="3368042"/>
            <a:ext cx="4803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56680" y="3657600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larger trial with hard outcomes: death, heart failure and stroke.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TAKE-HOME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For our cath lab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16435"/>
            <a:ext cx="1056640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12800" y="2047242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2260600" y="2237742"/>
            <a:ext cx="93921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Grade the thrombus (TIMI thrombus grade) in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</a:t>
            </a: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STEMI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12800" y="3396617"/>
            <a:ext cx="105664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812800" y="3525527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2260600" y="3716027"/>
            <a:ext cx="93921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manual aspiration is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not recommended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12800" y="4874902"/>
            <a:ext cx="105664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812800" y="5003800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2260600" y="5029200"/>
            <a:ext cx="93921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Stent-retriever thrombectomy is promising for large thrombus, but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awaits outcome data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3233F"/>
              </a:gs>
              <a:gs pos="46000">
                <a:srgbClr val="13233F"/>
              </a:gs>
              <a:gs pos="62000">
                <a:srgbClr val="13233F">
                  <a:alpha val="82000"/>
                </a:srgbClr>
              </a:gs>
              <a:gs pos="100000">
                <a:srgbClr val="13233F">
                  <a:alpha val="25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812800" y="2251708"/>
            <a:ext cx="609600" cy="38100"/>
          </a:xfrm>
          <a:prstGeom prst="rect">
            <a:avLst/>
          </a:prstGeom>
          <a:solidFill>
            <a:srgbClr val="D943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812800" y="2493008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kern="0" spc="-1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Thank you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812800" y="376300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12800" y="4357377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 M. Waqas Saleem · Cardiac Centre, BVH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TURE Trial Journal Club">
  <a:themeElements>
    <a:clrScheme name="NATURE Trial Journal Club">
      <a:dk1>
        <a:srgbClr val="13233F"/>
      </a:dk1>
      <a:lt1>
        <a:srgbClr val="F6F4EF"/>
      </a:lt1>
      <a:dk2>
        <a:srgbClr val="4C576B"/>
      </a:dk2>
      <a:lt2>
        <a:srgbClr val="DFDFDD"/>
      </a:lt2>
      <a:accent1>
        <a:srgbClr val="A61E3A"/>
      </a:accent1>
      <a:accent2>
        <a:srgbClr val="E8A3AF"/>
      </a:accent2>
      <a:accent3>
        <a:srgbClr val="F3C9D0"/>
      </a:accent3>
      <a:accent4>
        <a:srgbClr val="8FA0BA"/>
      </a:accent4>
      <a:accent5>
        <a:srgbClr val="8B1A2F"/>
      </a:accent5>
      <a:accent6>
        <a:srgbClr val="9A4F0E"/>
      </a:accent6>
      <a:hlink>
        <a:srgbClr val="0563C1"/>
      </a:hlink>
      <a:folHlink>
        <a:srgbClr val="954F72"/>
      </a:folHlink>
    </a:clrScheme>
    <a:fontScheme name="NATURE Trial Journal Club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2266</Words>
  <Application>Microsoft Office PowerPoint</Application>
  <PresentationFormat>Widescreen</PresentationFormat>
  <Paragraphs>333</Paragraphs>
  <Slides>20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IBM Plex Sans</vt:lpstr>
      <vt:lpstr>Source Serif 4</vt:lpstr>
      <vt:lpstr>NATURE Trial Journal Club</vt:lpstr>
      <vt:lpstr>NATURE Trial</vt:lpstr>
      <vt:lpstr>Why a large thrombus matters</vt:lpstr>
      <vt:lpstr>What we already know</vt:lpstr>
      <vt:lpstr>enVast: a coronary stent-retriever</vt:lpstr>
      <vt:lpstr>The procedure, step by step</vt:lpstr>
      <vt:lpstr>See it in action</vt:lpstr>
      <vt:lpstr>Trial design</vt:lpstr>
      <vt:lpstr>Inclusion criteria</vt:lpstr>
      <vt:lpstr>TIMI thrombus grading</vt:lpstr>
      <vt:lpstr>Exclusion criteria</vt:lpstr>
      <vt:lpstr>Endpoints</vt:lpstr>
      <vt:lpstr>Primary endpoint: met</vt:lpstr>
      <vt:lpstr>Secondary endpoint: cardiac MRI</vt:lpstr>
      <vt:lpstr>Safety at 30 days</vt:lpstr>
      <vt:lpstr>Strengths</vt:lpstr>
      <vt:lpstr>Limitations</vt:lpstr>
      <vt:lpstr>PowerPoint Presentation</vt:lpstr>
      <vt:lpstr>For our cath lab</vt:lpstr>
      <vt:lpstr>TAPAS vs TASTE vs TOTAL vs NATURE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NATURE Trial Journal Club</dc:title>
  <dc:subject/>
  <dc:creator/>
  <cp:lastModifiedBy>Saleem, Muhammad Waqar (MU-Student)</cp:lastModifiedBy>
  <cp:revision>3</cp:revision>
  <dcterms:created xsi:type="dcterms:W3CDTF">2026-10-02T06:03:41Z</dcterms:created>
  <dcterms:modified xsi:type="dcterms:W3CDTF">2026-10-02T06:25:20Z</dcterms:modified>
</cp:coreProperties>
</file>