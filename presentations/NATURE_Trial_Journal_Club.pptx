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0" r:id="rId20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61" r:id="rId7"/>
    <p:sldId id="271" r:id="rId16"/>
    <p:sldId id="272" r:id="rId17"/>
    <p:sldId id="273" r:id="rId18"/>
    <p:sldId id="274" r:id="rId19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7" Type="http://schemas.openxmlformats.org/officeDocument/2006/relationships/slide" Target="slides/slide12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586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 club presentation of the NATURE trial, presented as a late-breaking clinical trial at ESC Congress 2026 in Munich by Prof. Marco Valgimigli.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STEMI with a large thrombus, balloon and stent can fragment clot and push it downstream (distal embolisation), causing microvascular obstruction and larger infarcts.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Routine manual aspiration was tested in TASTE and TOTAL without clinical benefit, and TOTAL showed more strokes, so current ESC guidance does not recommend routine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Vesalio animation of the enVast coronary thrombectomy procedure. Click the video to play it; it is embedded, so it plays offline (silently, with on-screen captions). For narration, use the YouTube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154 patients at 11 centres were randomised 1:1 to enVast-assisted thrombectomy followed by conventional PCI, or to standard primary PCI. The hypothesis was superiority of enVast on infarct size. Design paper: Landi et al., Cardiovascular Revascularization Medicine,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Inclusion criteria as listed on ClinicalTrials.gov (NCT04969471). The key criterion is TIMI thrombus grade 3 or more, re-confirmed after wiring if the artery is occluded.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 thrombus grade (Gibson et al., Circulation 2001): G0 no thrombus; G1 possible thrombus (reduced contrast density, haziness, irregular lesion contour); G2 definite thrombus up to half the vessel diameter; G3 definite thrombus more than half but less than two vessel diameters; G4 definite thrombus two or more vessel diameters; G5 total occlusion, so the thrombus cannot be sized. Sianos et al. (JACC 2007) defined large thrombus burden as grade 4 or more and proposed re-grading grade 5 lesions after flow is restored with a wire or small balloon. NATURE enrolled grade 3 or more, re-confirmed after wiring when the artery was occluded.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Exclusion criteria as listed on ClinicalTrials.gov (NCT04969471). Most exclude anatomy where a retriever is hard to deliver safely, or situations that would confound the infarct-size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endpoint is enzymatic infarct size (CK-MB area under the curve). The key secondary endpoint is infarct size on cardiac MRI at day 3. Safety was assessed at 30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Enzymatic infarct size by CK-MB AUC was about 26% lower with enVast (P = 0.001). The chart shows the relative effect with control set to 100; absolute values are in the primary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Cardiac MRI at day 3 showed about a 25% relative reduction in infarct size as a percentage of LV mass. It was a positive trend rather than a formally significant result, but it agrees with the CK-MB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30 days: stroke 0% vs 1.3%, death 0% vs 2.6%, MACE 1.3% vs 3.8% (enVast vs control). Reassuring given the stroke signal with aspiration in TOTAL, but the event numbers are very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Randomised multicentre design, a population chosen where benefit is plausible, agreement between biomarker and MRI, and no early safety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sample, surrogate primary endpoint, operators unavoidably aware of device use, the MRI result only a trend, and industry sponsorship.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NATURE met its superiority hypothesis on infarct size, with reassuring 30-day safety. Because it is small and uses a surrogate endpoint, it should not yet change routine practice; an outcomes trial is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messages for discussion: grade thrombus burden, do not use routine aspiration, and follow the evidence as outcome trials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TAPAS (Svilaas, NEJM 2008) was a single-centre trial in Groningen of 1,071 all-comer STEMI patients. Manual aspiration improved myocardial blush (grade 0 or 1 in 17.1% vs 26.3%, P under 0.001), and a 1-year follow-up (Vlaar, Lancet 2008) suggested lower cardiac death (3.6% vs 6.7%). That led to wide adoption, but the much larger TASTE (Fröbert, NEJM 2013) and TOTAL (Jolly, NEJM 2015) trials found no reduction in hard outcomes: TASTE 30-day death 2.8% vs 3.0% (P = 0.63); TOTAL CV death, recurrent MI, cardiogenic shock or class IV heart failure at 180 days 6.9% vs 7.0% (P = 0.86), with more strokes at 30 days (0.7% vs 0.3%, P = 0.02). NATURE differs in three ways: only patients with large thrombus (TIMI thrombus grade 3 or more), a stent-retriever that traps the clot rather than aspirating fragments, and infarct size as the endpoint. Like TAPAS, it is positive on a surrogate endpoint, so the history of aspiration is the reason it needs an outcomes trial before it changes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3233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Relationship Id="rId5" Type="http://schemas.openxmlformats.org/officeDocument/2006/relationships/hyperlink" Target="https://www.youtube.com/watch?v=nmYZFin062I" TargetMode="External"/><Relationship Id="rId6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imation still: catheter and wire crossing a clot in a coronary artery"/>
          <p:cNvPicPr>
            <a:picLocks noChangeAspect="1"/>
          </p:cNvPicPr>
          <p:nvPr/>
        </p:nvPicPr>
        <p:blipFill>
          <a:blip r:embed="rId3"/>
          <a:srcRect l="22917" r="22917"/>
          <a:stretch/>
        </p:blipFill>
        <p:spPr>
          <a:xfrm>
            <a:off x="5588000" y="0"/>
            <a:ext cx="660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3233F"/>
              </a:gs>
              <a:gs pos="46000">
                <a:srgbClr val="13233F"/>
              </a:gs>
              <a:gs pos="62000">
                <a:srgbClr val="13233F">
                  <a:alpha val="82000"/>
                </a:srgbClr>
              </a:gs>
              <a:gs pos="100000">
                <a:srgbClr val="13233F">
                  <a:alpha val="25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1"/>
          <p:cNvSpPr/>
          <p:nvPr/>
        </p:nvSpPr>
        <p:spPr>
          <a:xfrm>
            <a:off x="812800" y="812800"/>
            <a:ext cx="609600" cy="38100"/>
          </a:xfrm>
          <a:prstGeom prst="rect">
            <a:avLst/>
          </a:prstGeom>
          <a:solidFill>
            <a:srgbClr val="D943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2"/>
          <p:cNvSpPr/>
          <p:nvPr/>
        </p:nvSpPr>
        <p:spPr>
          <a:xfrm>
            <a:off x="812800" y="158496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200" dirty="0">
                <a:solidFill>
                  <a:srgbClr val="E8A3A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JOURNAL CLUB · ESC CONGRESS 2026</a:t>
            </a:r>
            <a:endParaRPr lang="en-US" sz="1200" dirty="0"/>
          </a:p>
        </p:txBody>
      </p:sp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812800" y="2052320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i="0" kern="0" spc="-15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NATURE Trial</a:t>
            </a:r>
            <a:endParaRPr lang="en-US" sz="8400" dirty="0"/>
          </a:p>
        </p:txBody>
      </p:sp>
      <p:sp>
        <p:nvSpPr>
          <p:cNvPr id="7" name="Text 4"/>
          <p:cNvSpPr/>
          <p:nvPr/>
        </p:nvSpPr>
        <p:spPr>
          <a:xfrm>
            <a:off x="812800" y="3373120"/>
            <a:ext cx="640969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9D2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Mechanical thrombectomy with enVast in STEMI with large thrombus burden: a randomised superiority trial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31850" y="4312920"/>
            <a:ext cx="0" cy="960120"/>
          </a:xfrm>
          <a:prstGeom prst="line">
            <a:avLst/>
          </a:prstGeom>
          <a:noFill/>
          <a:ln w="38100">
            <a:solidFill>
              <a:srgbClr val="D943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1051560" y="4363720"/>
            <a:ext cx="56405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8FA0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4615180"/>
            <a:ext cx="564052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 M. Waqas Saleem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1560" y="4973320"/>
            <a:ext cx="5640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2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PGR Cardiology · Cardiac Centre, BVH Bahawalpur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Why a large thrombus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95195"/>
            <a:ext cx="2218690" cy="1776730"/>
          </a:xfrm>
          <a:prstGeom prst="roundRect">
            <a:avLst>
              <a:gd name="adj" fmla="val 6969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021080" y="2425700"/>
            <a:ext cx="186273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1080" y="2918460"/>
            <a:ext cx="186273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 thrombus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1080" y="3279140"/>
            <a:ext cx="186273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Heavy clot burden in the infarct artery</a:t>
            </a:r>
            <a:endParaRPr lang="en-US" sz="13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64840" y="2994660"/>
            <a:ext cx="304800" cy="177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99815" y="2065655"/>
            <a:ext cx="2218690" cy="2035810"/>
          </a:xfrm>
          <a:prstGeom prst="roundRect">
            <a:avLst>
              <a:gd name="adj" fmla="val 6082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3804920" y="2296160"/>
            <a:ext cx="186273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804920" y="2788920"/>
            <a:ext cx="1862735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Distal embolisation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804920" y="3408680"/>
            <a:ext cx="186273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Balloon and stent push clot downstream</a:t>
            </a:r>
            <a:endParaRPr lang="en-US" sz="13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8680" y="2994660"/>
            <a:ext cx="304800" cy="177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83655" y="2065655"/>
            <a:ext cx="2218690" cy="2035810"/>
          </a:xfrm>
          <a:prstGeom prst="roundRect">
            <a:avLst>
              <a:gd name="adj" fmla="val 6082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Text 11"/>
          <p:cNvSpPr/>
          <p:nvPr/>
        </p:nvSpPr>
        <p:spPr>
          <a:xfrm>
            <a:off x="6588760" y="2296160"/>
            <a:ext cx="186273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588760" y="2788920"/>
            <a:ext cx="1862735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Microvascular obstruction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588760" y="3408680"/>
            <a:ext cx="186273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Debris plugs the microcirculation</a:t>
            </a:r>
            <a:endParaRPr lang="en-US" sz="1300" dirty="0"/>
          </a:p>
        </p:txBody>
      </p:sp>
      <p:pic>
        <p:nvPicPr>
          <p:cNvPr id="18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2994660"/>
            <a:ext cx="304800" cy="1778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64320" y="2197100"/>
            <a:ext cx="2214880" cy="1772920"/>
          </a:xfrm>
          <a:prstGeom prst="roundRect">
            <a:avLst>
              <a:gd name="adj" fmla="val 7163"/>
            </a:avLst>
          </a:prstGeom>
          <a:solidFill>
            <a:srgbClr val="A61E3A"/>
          </a:solidFill>
          <a:ln/>
          <a:effectLst>
            <a:outerShdw blurRad="203200" dist="50800" dir="5400000" algn="bl" rotWithShape="0">
              <a:srgbClr val="A61E3A">
                <a:alpha val="25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Text 15"/>
          <p:cNvSpPr/>
          <p:nvPr/>
        </p:nvSpPr>
        <p:spPr>
          <a:xfrm>
            <a:off x="9367520" y="2425700"/>
            <a:ext cx="186273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3C9D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04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367520" y="2918460"/>
            <a:ext cx="186273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Larger infarct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9367520" y="3279140"/>
            <a:ext cx="186273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DD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 myocardium salvaged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31850" y="4561840"/>
            <a:ext cx="0" cy="381000"/>
          </a:xfrm>
          <a:prstGeom prst="line">
            <a:avLst/>
          </a:prstGeom>
          <a:noFill/>
          <a:ln w="38100">
            <a:solidFill>
              <a:srgbClr val="A61E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19"/>
          <p:cNvSpPr/>
          <p:nvPr/>
        </p:nvSpPr>
        <p:spPr>
          <a:xfrm>
            <a:off x="1051560" y="4587240"/>
            <a:ext cx="1063746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Removing the clot before stenting aims to break this chain.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we already know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4055"/>
            <a:ext cx="3380264" cy="1696720"/>
          </a:xfrm>
          <a:prstGeom prst="roundRect">
            <a:avLst>
              <a:gd name="adj" fmla="val 7298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071880" y="2219961"/>
            <a:ext cx="295450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TASTE · N = 7,244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880" y="2509520"/>
            <a:ext cx="2954507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No mortality benefit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1880" y="2907030"/>
            <a:ext cx="295450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Routine aspiration did not reduce death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789" y="1964055"/>
            <a:ext cx="3380343" cy="1696720"/>
          </a:xfrm>
          <a:prstGeom prst="roundRect">
            <a:avLst>
              <a:gd name="adj" fmla="val 7298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661694" y="2219961"/>
            <a:ext cx="29545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· N = 10,732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1694" y="2509520"/>
            <a:ext cx="295458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More strokes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1694" y="2907030"/>
            <a:ext cx="2954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clinical benefit, and more strokes at 30 days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682" y="1964055"/>
            <a:ext cx="3380343" cy="1696720"/>
          </a:xfrm>
          <a:prstGeom prst="roundRect">
            <a:avLst>
              <a:gd name="adj" fmla="val 7298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8251587" y="2219961"/>
            <a:ext cx="29545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 GUIDELINES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1587" y="2509520"/>
            <a:ext cx="295458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Class III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51587" y="2907030"/>
            <a:ext cx="2954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Routine thrombus aspiration is not recommended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019550"/>
            <a:ext cx="10566400" cy="812800"/>
          </a:xfrm>
          <a:prstGeom prst="roundRect">
            <a:avLst>
              <a:gd name="adj" fmla="val 15625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0" descr="Searc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7600" y="4248150"/>
            <a:ext cx="355600" cy="355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76400" y="4271645"/>
            <a:ext cx="8858155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question:</a:t>
            </a:r>
            <a:r>
              <a:rPr lang="en-US" sz="18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can a stent-retriever remove clot better, and more safely?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Trial design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60882"/>
            <a:ext cx="5969000" cy="640080"/>
          </a:xfrm>
          <a:prstGeom prst="roundRect">
            <a:avLst>
              <a:gd name="adj" fmla="val 19841"/>
            </a:avLst>
          </a:prstGeom>
          <a:solidFill>
            <a:srgbClr val="13233F"/>
          </a:solidFill>
          <a:ln/>
        </p:spPr>
        <p:txBody>
          <a:bodyPr wrap="square" lIns="134888" tIns="140603" rIns="134888" bIns="115203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154 STEMI patients with large thrombus · 11 centres</a:t>
            </a:r>
            <a:endParaRPr lang="en-US" sz="1600" dirty="0"/>
          </a:p>
        </p:txBody>
      </p:sp>
      <p:pic>
        <p:nvPicPr>
          <p:cNvPr id="5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08400" y="2702561"/>
            <a:ext cx="177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56468" y="3108961"/>
            <a:ext cx="1881584" cy="375920"/>
          </a:xfrm>
          <a:prstGeom prst="roundRect">
            <a:avLst>
              <a:gd name="adj" fmla="val 50000"/>
            </a:avLst>
          </a:prstGeom>
          <a:solidFill>
            <a:srgbClr val="E9E4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Randomised 1 : 1</a:t>
            </a:r>
            <a:endParaRPr lang="en-US" sz="1400" dirty="0"/>
          </a:p>
        </p:txBody>
      </p:sp>
      <p:pic>
        <p:nvPicPr>
          <p:cNvPr id="7" name="Image 1" descr="arrow-dow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65350" y="3586482"/>
            <a:ext cx="177800" cy="304800"/>
          </a:xfrm>
          <a:prstGeom prst="rect">
            <a:avLst/>
          </a:prstGeom>
        </p:spPr>
      </p:pic>
      <p:pic>
        <p:nvPicPr>
          <p:cNvPr id="8" name="Image 2" descr="arrow-down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1450" y="3586482"/>
            <a:ext cx="177800" cy="3048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12800" y="3992882"/>
            <a:ext cx="2872740" cy="1000760"/>
          </a:xfrm>
          <a:prstGeom prst="roundRect">
            <a:avLst>
              <a:gd name="adj" fmla="val 12690"/>
            </a:avLst>
          </a:prstGeom>
          <a:solidFill>
            <a:srgbClr val="A61E3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5"/>
          <p:cNvSpPr/>
          <p:nvPr/>
        </p:nvSpPr>
        <p:spPr>
          <a:xfrm>
            <a:off x="1041400" y="4196082"/>
            <a:ext cx="24880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enVast thrombectomy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041400" y="4521200"/>
            <a:ext cx="2488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DDE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conventional PCI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3895090" y="3999232"/>
            <a:ext cx="2880360" cy="988060"/>
          </a:xfrm>
          <a:prstGeom prst="roundRect">
            <a:avLst>
              <a:gd name="adj" fmla="val 12211"/>
            </a:avLst>
          </a:prstGeom>
          <a:solidFill>
            <a:srgbClr val="FDFCFA"/>
          </a:solidFill>
          <a:ln w="12700">
            <a:solidFill>
              <a:srgbClr val="8C96A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8"/>
          <p:cNvSpPr/>
          <p:nvPr/>
        </p:nvSpPr>
        <p:spPr>
          <a:xfrm>
            <a:off x="4127500" y="4206239"/>
            <a:ext cx="24880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PCI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127500" y="4531361"/>
            <a:ext cx="24880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of care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239000" y="2671447"/>
            <a:ext cx="4140200" cy="0"/>
          </a:xfrm>
          <a:prstGeom prst="line">
            <a:avLst/>
          </a:prstGeom>
          <a:noFill/>
          <a:ln w="6350">
            <a:solidFill>
              <a:srgbClr val="DDD7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1"/>
          <p:cNvSpPr/>
          <p:nvPr/>
        </p:nvSpPr>
        <p:spPr>
          <a:xfrm>
            <a:off x="7239000" y="2062482"/>
            <a:ext cx="4264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239000" y="2301239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Prospective, multicentre, randomised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239000" y="3385186"/>
            <a:ext cx="4140200" cy="0"/>
          </a:xfrm>
          <a:prstGeom prst="line">
            <a:avLst/>
          </a:prstGeom>
          <a:noFill/>
          <a:ln w="6350">
            <a:solidFill>
              <a:srgbClr val="DDD7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4"/>
          <p:cNvSpPr/>
          <p:nvPr/>
        </p:nvSpPr>
        <p:spPr>
          <a:xfrm>
            <a:off x="7239000" y="2776221"/>
            <a:ext cx="4264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239000" y="3014982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Superiority on infarct size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239000" y="4098926"/>
            <a:ext cx="4140200" cy="0"/>
          </a:xfrm>
          <a:prstGeom prst="line">
            <a:avLst/>
          </a:prstGeom>
          <a:noFill/>
          <a:ln w="6350">
            <a:solidFill>
              <a:srgbClr val="DDD7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17"/>
          <p:cNvSpPr/>
          <p:nvPr/>
        </p:nvSpPr>
        <p:spPr>
          <a:xfrm>
            <a:off x="7239000" y="3489961"/>
            <a:ext cx="4264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239000" y="3728721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Prof. Marco Valgimigli, Lugano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7239000" y="4812665"/>
            <a:ext cx="4140200" cy="0"/>
          </a:xfrm>
          <a:prstGeom prst="line">
            <a:avLst/>
          </a:prstGeom>
          <a:noFill/>
          <a:ln w="6350">
            <a:solidFill>
              <a:srgbClr val="DDD7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0"/>
          <p:cNvSpPr/>
          <p:nvPr/>
        </p:nvSpPr>
        <p:spPr>
          <a:xfrm>
            <a:off x="7239000" y="4203700"/>
            <a:ext cx="4264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SPONSOR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239000" y="4442461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Vesalio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7239000" y="4917439"/>
            <a:ext cx="4264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REGISTRY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7239000" y="5156200"/>
            <a:ext cx="42644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NCT04969471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Inclusion criteria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1008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3E3E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5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3600" y="1960882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0000" y="1910082"/>
            <a:ext cx="6331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 ≥ 18 years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2800" y="236728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3E3E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8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3600" y="2418082"/>
            <a:ext cx="203200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0000" y="2367282"/>
            <a:ext cx="633120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Chest pain &gt; 20 min with ST elevation ≥ 1 mm in ≥ 2 contiguous leads, or infero-lateral MI with ST depression ≥ 1 mm in ≥ 2 of V1–V3 and a positive terminal T wave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12800" y="326643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A61E3A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2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3600" y="3317239"/>
            <a:ext cx="20320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70000" y="3266439"/>
            <a:ext cx="633120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TIMI thrombus grade ≥ 3</a:t>
            </a: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the infarct-related artery (re-confirmed after wiring if TIMI 0 flow)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12800" y="391668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3E3E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4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3600" y="3967482"/>
            <a:ext cx="203200" cy="203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0000" y="3916682"/>
            <a:ext cx="6331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Intervention started within 8 hours of symptom onset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12800" y="437387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3E3E6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4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3600" y="4424679"/>
            <a:ext cx="203200" cy="203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70000" y="4373879"/>
            <a:ext cx="6331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Informed consent before the procedure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7823200" y="1910082"/>
            <a:ext cx="3556000" cy="3074670"/>
          </a:xfrm>
          <a:prstGeom prst="roundRect">
            <a:avLst>
              <a:gd name="adj" fmla="val 4957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0" name="Image 5" descr="Ke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0" y="2214882"/>
            <a:ext cx="279400" cy="2794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09000" y="2247900"/>
            <a:ext cx="11594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8A3A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8128000" y="2621282"/>
            <a:ext cx="3034792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TIMI thrombus grade ≥ 3</a:t>
            </a:r>
            <a:endParaRPr lang="en-US" sz="2200" dirty="0"/>
          </a:p>
        </p:txBody>
      </p:sp>
      <p:sp>
        <p:nvSpPr>
          <p:cNvPr id="23" name="Text 15"/>
          <p:cNvSpPr/>
          <p:nvPr/>
        </p:nvSpPr>
        <p:spPr>
          <a:xfrm>
            <a:off x="8128000" y="3390900"/>
            <a:ext cx="3034792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C9D2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definite clot longer than half the vessel diameter. These patients are the most likely to embolise clot during PCI, so they have the most to gain from thrombectomy.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ClinicalTrials.gov NCT04969471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TIMI thrombus grading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33879"/>
            <a:ext cx="5219700" cy="340360"/>
          </a:xfrm>
          <a:prstGeom prst="roundRect">
            <a:avLst>
              <a:gd name="adj" fmla="val 22388"/>
            </a:avLst>
          </a:prstGeom>
          <a:solidFill>
            <a:srgbClr val="A61E3A"/>
          </a:solidFill>
          <a:ln/>
        </p:spPr>
        <p:txBody>
          <a:bodyPr wrap="square" lIns="4034" tIns="41182" rIns="4034" bIns="1578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Eligible for NATURE: grade ≥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2279017"/>
            <a:ext cx="1648857" cy="1982470"/>
          </a:xfrm>
          <a:prstGeom prst="roundRect">
            <a:avLst>
              <a:gd name="adj" fmla="val 7510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970280" y="2458721"/>
            <a:ext cx="1391047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70280" y="2867664"/>
            <a:ext cx="1340247" cy="279400"/>
          </a:xfrm>
          <a:prstGeom prst="rect">
            <a:avLst/>
          </a:prstGeom>
          <a:solidFill>
            <a:srgbClr val="F3E3E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970280" y="2877189"/>
            <a:ext cx="1340247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970280" y="3137539"/>
            <a:ext cx="1340247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970280" y="3248664"/>
            <a:ext cx="1391047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angiographic thrombus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98182" y="2279017"/>
            <a:ext cx="1648857" cy="1982470"/>
          </a:xfrm>
          <a:prstGeom prst="roundRect">
            <a:avLst>
              <a:gd name="adj" fmla="val 7510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752487" y="2458721"/>
            <a:ext cx="1391047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52487" y="2867664"/>
            <a:ext cx="1340247" cy="279400"/>
          </a:xfrm>
          <a:prstGeom prst="rect">
            <a:avLst/>
          </a:prstGeom>
          <a:solidFill>
            <a:srgbClr val="F3E3E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2752487" y="2877189"/>
            <a:ext cx="1340247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752487" y="3137539"/>
            <a:ext cx="1340247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3282871" y="2918464"/>
            <a:ext cx="279400" cy="177800"/>
          </a:xfrm>
          <a:prstGeom prst="roundRect">
            <a:avLst>
              <a:gd name="adj" fmla="val 50000"/>
            </a:avLst>
          </a:prstGeom>
          <a:solidFill>
            <a:srgbClr val="8B1A2F">
              <a:alpha val="30000"/>
            </a:srgbClr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2752487" y="3248664"/>
            <a:ext cx="1391047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Possible thrombus: haziness, reduced contrast density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0389" y="2279017"/>
            <a:ext cx="1648936" cy="1982470"/>
          </a:xfrm>
          <a:prstGeom prst="roundRect">
            <a:avLst>
              <a:gd name="adj" fmla="val 7509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534694" y="2458721"/>
            <a:ext cx="1391126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34694" y="2867664"/>
            <a:ext cx="1340326" cy="279400"/>
          </a:xfrm>
          <a:prstGeom prst="rect">
            <a:avLst/>
          </a:prstGeom>
          <a:solidFill>
            <a:srgbClr val="F3E3E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534694" y="2877189"/>
            <a:ext cx="1340326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4534694" y="3137539"/>
            <a:ext cx="1340326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5135007" y="2937514"/>
            <a:ext cx="139700" cy="139700"/>
          </a:xfrm>
          <a:prstGeom prst="roundRect">
            <a:avLst>
              <a:gd name="adj" fmla="val 50000"/>
            </a:avLst>
          </a:prstGeom>
          <a:solidFill>
            <a:srgbClr val="8B1A2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534694" y="3248664"/>
            <a:ext cx="1391126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Definite thrombus ≤ ½ vessel diameter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65850" y="2282192"/>
            <a:ext cx="1642507" cy="1976120"/>
          </a:xfrm>
          <a:prstGeom prst="roundRect">
            <a:avLst>
              <a:gd name="adj" fmla="val 7345"/>
            </a:avLst>
          </a:prstGeom>
          <a:solidFill>
            <a:srgbClr val="FDFCFA"/>
          </a:solidFill>
          <a:ln w="12700">
            <a:solidFill>
              <a:srgbClr val="A61E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6322060" y="2463800"/>
            <a:ext cx="1380887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322060" y="2872742"/>
            <a:ext cx="1330087" cy="279400"/>
          </a:xfrm>
          <a:prstGeom prst="rect">
            <a:avLst/>
          </a:prstGeom>
          <a:solidFill>
            <a:srgbClr val="F3E3E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8" name="Shape 26"/>
          <p:cNvSpPr/>
          <p:nvPr/>
        </p:nvSpPr>
        <p:spPr>
          <a:xfrm>
            <a:off x="6322060" y="2882267"/>
            <a:ext cx="1330087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6322060" y="3142617"/>
            <a:ext cx="1330087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6796564" y="2917192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8B1A2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6322060" y="3253742"/>
            <a:ext cx="1380887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Definite thrombus &gt; ½ but &lt; 2 vessel diameters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48057" y="2282192"/>
            <a:ext cx="1642507" cy="1976120"/>
          </a:xfrm>
          <a:prstGeom prst="roundRect">
            <a:avLst>
              <a:gd name="adj" fmla="val 7345"/>
            </a:avLst>
          </a:prstGeom>
          <a:solidFill>
            <a:srgbClr val="FDFCFA"/>
          </a:solidFill>
          <a:ln w="12700">
            <a:solidFill>
              <a:srgbClr val="A61E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8104267" y="2463800"/>
            <a:ext cx="1380887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G4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8104267" y="2872742"/>
            <a:ext cx="1330087" cy="279400"/>
          </a:xfrm>
          <a:prstGeom prst="rect">
            <a:avLst/>
          </a:prstGeom>
          <a:solidFill>
            <a:srgbClr val="F3E3E6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>
            <a:off x="8104267" y="2882267"/>
            <a:ext cx="1330087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>
            <a:off x="8104267" y="3142617"/>
            <a:ext cx="1330087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Shape 35"/>
          <p:cNvSpPr/>
          <p:nvPr/>
        </p:nvSpPr>
        <p:spPr>
          <a:xfrm>
            <a:off x="8388271" y="2910842"/>
            <a:ext cx="762000" cy="203200"/>
          </a:xfrm>
          <a:prstGeom prst="roundRect">
            <a:avLst>
              <a:gd name="adj" fmla="val 50000"/>
            </a:avLst>
          </a:prstGeom>
          <a:solidFill>
            <a:srgbClr val="8B1A2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8104267" y="3253742"/>
            <a:ext cx="1380887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Definite thrombus ≥ 2 vessel diameters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730264" y="2282192"/>
            <a:ext cx="1642586" cy="1976120"/>
          </a:xfrm>
          <a:prstGeom prst="roundRect">
            <a:avLst>
              <a:gd name="adj" fmla="val 7345"/>
            </a:avLst>
          </a:prstGeom>
          <a:solidFill>
            <a:srgbClr val="FDFCFA"/>
          </a:solidFill>
          <a:ln w="12700">
            <a:solidFill>
              <a:srgbClr val="A61E3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9886474" y="2463800"/>
            <a:ext cx="1380966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G5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9886474" y="2872742"/>
            <a:ext cx="1330166" cy="279400"/>
          </a:xfrm>
          <a:prstGeom prst="rect">
            <a:avLst/>
          </a:prstGeom>
          <a:solidFill>
            <a:srgbClr val="8B1A2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2" name="Shape 40"/>
          <p:cNvSpPr/>
          <p:nvPr/>
        </p:nvSpPr>
        <p:spPr>
          <a:xfrm>
            <a:off x="9886474" y="2882267"/>
            <a:ext cx="1330166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Shape 41"/>
          <p:cNvSpPr/>
          <p:nvPr/>
        </p:nvSpPr>
        <p:spPr>
          <a:xfrm>
            <a:off x="9886474" y="3142617"/>
            <a:ext cx="1330166" cy="0"/>
          </a:xfrm>
          <a:prstGeom prst="line">
            <a:avLst/>
          </a:prstGeom>
          <a:noFill/>
          <a:ln w="19050">
            <a:solidFill>
              <a:srgbClr val="E8A3A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9886474" y="3253742"/>
            <a:ext cx="1380966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occlusion; thrombus size cannot be assessed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12800" y="4493264"/>
            <a:ext cx="5181600" cy="801370"/>
          </a:xfrm>
          <a:prstGeom prst="roundRect">
            <a:avLst>
              <a:gd name="adj" fmla="val 15848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6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1400" y="4741546"/>
            <a:ext cx="304800" cy="30480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498600" y="4782505"/>
            <a:ext cx="439521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 thrombus burden</a:t>
            </a:r>
            <a:r>
              <a:rPr lang="en-US" sz="13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usually defined as grade ≥ 4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6197600" y="4493264"/>
            <a:ext cx="5181600" cy="801370"/>
          </a:xfrm>
          <a:prstGeom prst="roundRect">
            <a:avLst>
              <a:gd name="adj" fmla="val 15848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9" name="Image 1" descr="Sear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6200" y="4741546"/>
            <a:ext cx="304800" cy="30480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6883400" y="4671064"/>
            <a:ext cx="4395216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Grade 5:</a:t>
            </a:r>
            <a:r>
              <a:rPr lang="en-US" sz="13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re-grade after wiring or a small balloon restores flow</a:t>
            </a:r>
            <a:endParaRPr lang="en-US" sz="1300" dirty="0"/>
          </a:p>
        </p:txBody>
      </p:sp>
      <p:sp>
        <p:nvSpPr>
          <p:cNvPr id="51" name="Text 47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Gibson CM, et al. Circulation 2001 · Sianos G, et al. J Am Coll Cardiol 2007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Exclusion criteria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100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E9E4D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44600" y="1929767"/>
            <a:ext cx="635736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Unconscious patient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3037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E9E4D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4600" y="2323467"/>
            <a:ext cx="635736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Infarct-related artery &lt; 2.5 mm (visual estimate)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6974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E9E4D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4600" y="2717167"/>
            <a:ext cx="65786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Severe calcification or extreme tortuosity at or proximal to the culprit lesion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0911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E9E4D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44600" y="3110867"/>
            <a:ext cx="635736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Stent thrombosis as the culprit lesion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4848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E9E4D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44600" y="3504567"/>
            <a:ext cx="635736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Previous MI in the same territory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8785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E9E4D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44600" y="3898267"/>
            <a:ext cx="635736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Women of child-bearing potential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272279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wR="139700" hR="139700" stAng="16200000" swAng="5400000"/>
                <a:lnTo>
                  <a:pt x="279400" y="139700"/>
                </a:lnTo>
                <a:arcTo wR="139700" hR="139700" stAng="0" swAng="5400000"/>
                <a:lnTo>
                  <a:pt x="139700" y="279400"/>
                </a:lnTo>
                <a:arcTo wR="139700" hR="139700" stAng="5400000" swAng="5400000"/>
                <a:lnTo>
                  <a:pt x="0" y="139700"/>
                </a:lnTo>
                <a:arcTo wR="139700" hR="139700" stAng="10800000" swAng="5400000"/>
                <a:close/>
              </a:path>
            </a:pathLst>
          </a:custGeom>
          <a:solidFill>
            <a:srgbClr val="E9E4DA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44600" y="4291967"/>
            <a:ext cx="6357366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Participation in another interventional trial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23200" y="1910079"/>
            <a:ext cx="3556000" cy="2740660"/>
          </a:xfrm>
          <a:prstGeom prst="roundRect">
            <a:avLst>
              <a:gd name="adj" fmla="val 5561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9" name="Image 0" descr="Lightbul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0" y="2214879"/>
            <a:ext cx="279400" cy="279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509000" y="2247900"/>
            <a:ext cx="2766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8A3A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THESE EXCLUSIONS?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28000" y="2646679"/>
            <a:ext cx="3034792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Small, calcified or tortuous vessels:</a:t>
            </a:r>
            <a:r>
              <a:rPr lang="en-US" sz="14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hard to deliver a retriever safely.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128000" y="3572514"/>
            <a:ext cx="3034792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Stent thrombosis and prior MI</a:t>
            </a:r>
            <a:r>
              <a:rPr lang="en-US" sz="14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 the same territory would confound infarct size.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ClinicalTrials.gov NCT04969471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Endpoints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11679"/>
            <a:ext cx="3379867" cy="2611120"/>
          </a:xfrm>
          <a:prstGeom prst="roundRect">
            <a:avLst>
              <a:gd name="adj" fmla="val 5837"/>
            </a:avLst>
          </a:prstGeom>
          <a:solidFill>
            <a:srgbClr val="A61E3A"/>
          </a:solidFill>
          <a:ln/>
          <a:effectLst>
            <a:outerShdw blurRad="203200" dist="50800" dir="5400000" algn="bl" rotWithShape="0">
              <a:srgbClr val="A61E3A">
                <a:alpha val="22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1117600" y="2316479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F6F4EF">
              <a:alpha val="16000"/>
            </a:srgbClr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Activit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4600" y="2443479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7600" y="3027679"/>
            <a:ext cx="28533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3C9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7600" y="3393442"/>
            <a:ext cx="285337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Infarct size by CK-MB area under the curve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99042" y="2014854"/>
            <a:ext cx="3383756" cy="2604770"/>
          </a:xfrm>
          <a:prstGeom prst="roundRect">
            <a:avLst>
              <a:gd name="adj" fmla="val 5729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4705747" y="2321564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E7EBF2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1" descr="Sear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32747" y="2448564"/>
            <a:ext cx="304800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5747" y="3032764"/>
            <a:ext cx="28534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05747" y="3398521"/>
            <a:ext cx="2853457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Infarct size on cardiac MRI (% of LV mass) at day 3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992349" y="2014854"/>
            <a:ext cx="3383677" cy="2604770"/>
          </a:xfrm>
          <a:prstGeom prst="roundRect">
            <a:avLst>
              <a:gd name="adj" fmla="val 5729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1"/>
          <p:cNvSpPr/>
          <p:nvPr/>
        </p:nvSpPr>
        <p:spPr>
          <a:xfrm>
            <a:off x="8299053" y="2321564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E7EBF2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2" descr="Verifie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26053" y="2448564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9053" y="3032764"/>
            <a:ext cx="28533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99053" y="3398521"/>
            <a:ext cx="285337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Death, stroke and MACE at 30 days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Primary endpoint: met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418079"/>
            <a:ext cx="3174873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0"/>
              </a:lnSpc>
              <a:buNone/>
            </a:pPr>
            <a:r>
              <a:rPr lang="en-US" sz="12000" b="1" kern="0" spc="-300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26%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12800" y="4094479"/>
            <a:ext cx="549402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relative reduction in infarct size (CK-MB AUC) with enVast versus standard PCI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4864100"/>
            <a:ext cx="1246902" cy="419100"/>
          </a:xfrm>
          <a:prstGeom prst="roundRect">
            <a:avLst>
              <a:gd name="adj" fmla="val 50000"/>
            </a:avLst>
          </a:prstGeom>
          <a:solidFill>
            <a:srgbClr val="1323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 = 0.001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56375" y="1899289"/>
            <a:ext cx="4819650" cy="3902710"/>
          </a:xfrm>
          <a:prstGeom prst="roundRect">
            <a:avLst>
              <a:gd name="adj" fmla="val 3824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6863080" y="2129792"/>
            <a:ext cx="43324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Relative infarct size, CK-MB AUC (standard PCI = 100)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63080" y="5181600"/>
            <a:ext cx="4206240" cy="0"/>
          </a:xfrm>
          <a:prstGeom prst="line">
            <a:avLst/>
          </a:prstGeom>
          <a:noFill/>
          <a:ln w="12700">
            <a:solidFill>
              <a:srgbClr val="13233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7779512" y="2495550"/>
            <a:ext cx="493776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91400" y="2891792"/>
            <a:ext cx="1270000" cy="2286000"/>
          </a:xfrm>
          <a:custGeom>
            <a:avLst/>
            <a:gdLst/>
            <a:ahLst/>
            <a:cxnLst/>
            <a:rect l="l" t="t" r="r" b="b"/>
            <a:pathLst>
              <a:path w="1270000" h="2286000">
                <a:moveTo>
                  <a:pt x="76200" y="0"/>
                </a:moveTo>
                <a:lnTo>
                  <a:pt x="1193800" y="0"/>
                </a:lnTo>
                <a:arcTo wR="76200" hR="76200" stAng="16200000" swAng="5400000"/>
                <a:lnTo>
                  <a:pt x="1270000" y="2286000"/>
                </a:lnTo>
                <a:lnTo>
                  <a:pt x="0" y="228600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8C96A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9741408" y="3092450"/>
            <a:ext cx="329184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71000" y="3488692"/>
            <a:ext cx="1270000" cy="1689100"/>
          </a:xfrm>
          <a:custGeom>
            <a:avLst/>
            <a:gdLst/>
            <a:ahLst/>
            <a:cxnLst/>
            <a:rect l="l" t="t" r="r" b="b"/>
            <a:pathLst>
              <a:path w="1270000" h="1689100">
                <a:moveTo>
                  <a:pt x="76200" y="0"/>
                </a:moveTo>
                <a:lnTo>
                  <a:pt x="1193800" y="0"/>
                </a:lnTo>
                <a:arcTo wR="76200" hR="76200" stAng="16200000" swAng="5400000"/>
                <a:lnTo>
                  <a:pt x="1270000" y="1689100"/>
                </a:lnTo>
                <a:lnTo>
                  <a:pt x="0" y="1689100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A61E3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7366000" y="5340350"/>
            <a:ext cx="1320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PCI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45600" y="5340350"/>
            <a:ext cx="1320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enVast + PCI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Secondary endpoint: cardiac MRI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15975" y="1862454"/>
            <a:ext cx="10560050" cy="1497330"/>
          </a:xfrm>
          <a:prstGeom prst="roundRect">
            <a:avLst>
              <a:gd name="adj" fmla="val 9966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1122680" y="2108194"/>
            <a:ext cx="59436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Cardiac MRI at day 3 (secondary)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28205" y="2067557"/>
            <a:ext cx="1941116" cy="325120"/>
          </a:xfrm>
          <a:custGeom>
            <a:avLst/>
            <a:gdLst/>
            <a:ahLst/>
            <a:cxnLst/>
            <a:rect l="l" t="t" r="r" b="b"/>
            <a:pathLst>
              <a:path w="1941116" h="325120">
                <a:moveTo>
                  <a:pt x="162560" y="0"/>
                </a:moveTo>
                <a:lnTo>
                  <a:pt x="1778556" y="0"/>
                </a:lnTo>
                <a:arcTo wR="162560" hR="162560" stAng="16200000" swAng="5400000"/>
                <a:lnTo>
                  <a:pt x="1941116" y="162560"/>
                </a:lnTo>
                <a:arcTo wR="162560" hR="162560" stAng="0" swAng="5400000"/>
                <a:lnTo>
                  <a:pt x="162560" y="325120"/>
                </a:lnTo>
                <a:arcTo wR="162560" hR="162560" stAng="5400000" swAng="5400000"/>
                <a:lnTo>
                  <a:pt x="0" y="162560"/>
                </a:lnTo>
                <a:arcTo wR="162560" hR="162560" stAng="10800000" swAng="5400000"/>
                <a:close/>
              </a:path>
            </a:pathLst>
          </a:custGeom>
          <a:solidFill>
            <a:srgbClr val="E9E4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25% smaller · trend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2680" y="2531107"/>
            <a:ext cx="1574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PCI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99080" y="2519679"/>
            <a:ext cx="7660640" cy="254000"/>
          </a:xfrm>
          <a:prstGeom prst="roundRect">
            <a:avLst>
              <a:gd name="adj" fmla="val 20000"/>
            </a:avLst>
          </a:prstGeom>
          <a:solidFill>
            <a:srgbClr val="8C96A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10561320" y="2531107"/>
            <a:ext cx="5080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2680" y="2912107"/>
            <a:ext cx="1574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enVast + PCI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99080" y="2900679"/>
            <a:ext cx="5745480" cy="254000"/>
          </a:xfrm>
          <a:prstGeom prst="roundRect">
            <a:avLst>
              <a:gd name="adj" fmla="val 20000"/>
            </a:avLst>
          </a:prstGeom>
          <a:solidFill>
            <a:srgbClr val="A61E3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10561320" y="2912107"/>
            <a:ext cx="5080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5257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i="1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Imaging points the same way as the primary endpoint, but on its own it is a trend, not proof.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Relative values, standard PCI = 100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  <p:sp>
        <p:nvSpPr>
          <p:cNvPr id="25" name="Tile 25"/>
          <p:cNvSpPr/>
          <p:nvPr/>
        </p:nvSpPr>
        <p:spPr>
          <a:xfrm>
            <a:off x="815975" y="3611880"/>
            <a:ext cx="3337136" cy="1325880"/>
          </a:xfrm>
          <a:prstGeom prst="roundRect">
            <a:avLst>
              <a:gd name="adj" fmla="val 9966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6" name="Tile 26"/>
          <p:cNvSpPr/>
          <p:nvPr/>
        </p:nvSpPr>
        <p:spPr>
          <a:xfrm>
            <a:off x="1090295" y="3886200"/>
            <a:ext cx="278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WAS MEASURED</a:t>
            </a:r>
            <a:endParaRPr lang="en-US" sz="1300" dirty="0"/>
          </a:p>
        </p:txBody>
      </p:sp>
      <p:sp>
        <p:nvSpPr>
          <p:cNvPr id="27" name="Tile 27"/>
          <p:cNvSpPr/>
          <p:nvPr/>
        </p:nvSpPr>
        <p:spPr>
          <a:xfrm>
            <a:off x="1090295" y="4233672"/>
            <a:ext cx="2788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Infarct size, % of LV mass</a:t>
            </a:r>
            <a:endParaRPr lang="en-US" sz="1600" dirty="0"/>
          </a:p>
        </p:txBody>
      </p:sp>
      <p:sp>
        <p:nvSpPr>
          <p:cNvPr id="28" name="Tile 28"/>
          <p:cNvSpPr/>
          <p:nvPr/>
        </p:nvSpPr>
        <p:spPr>
          <a:xfrm>
            <a:off x="4427431" y="3611880"/>
            <a:ext cx="3337136" cy="1325880"/>
          </a:xfrm>
          <a:prstGeom prst="roundRect">
            <a:avLst>
              <a:gd name="adj" fmla="val 9966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9" name="Tile 29"/>
          <p:cNvSpPr/>
          <p:nvPr/>
        </p:nvSpPr>
        <p:spPr>
          <a:xfrm>
            <a:off x="4701751" y="3886200"/>
            <a:ext cx="278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</a:t>
            </a:r>
            <a:endParaRPr lang="en-US" sz="1300" dirty="0"/>
          </a:p>
        </p:txBody>
      </p:sp>
      <p:sp>
        <p:nvSpPr>
          <p:cNvPr id="30" name="Tile 30"/>
          <p:cNvSpPr/>
          <p:nvPr/>
        </p:nvSpPr>
        <p:spPr>
          <a:xfrm>
            <a:off x="4701751" y="4233672"/>
            <a:ext cx="2788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3 after PCI</a:t>
            </a:r>
            <a:endParaRPr lang="en-US" sz="1600" dirty="0"/>
          </a:p>
        </p:txBody>
      </p:sp>
      <p:sp>
        <p:nvSpPr>
          <p:cNvPr id="31" name="Tile 31"/>
          <p:cNvSpPr/>
          <p:nvPr/>
        </p:nvSpPr>
        <p:spPr>
          <a:xfrm>
            <a:off x="8038887" y="3611880"/>
            <a:ext cx="3337136" cy="1325880"/>
          </a:xfrm>
          <a:prstGeom prst="roundRect">
            <a:avLst>
              <a:gd name="adj" fmla="val 9966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2" name="Tile 32"/>
          <p:cNvSpPr/>
          <p:nvPr/>
        </p:nvSpPr>
        <p:spPr>
          <a:xfrm>
            <a:off x="8313207" y="3886200"/>
            <a:ext cx="278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</a:t>
            </a:r>
            <a:endParaRPr lang="en-US" sz="1300" dirty="0"/>
          </a:p>
        </p:txBody>
      </p:sp>
      <p:sp>
        <p:nvSpPr>
          <p:cNvPr id="33" name="Tile 33"/>
          <p:cNvSpPr/>
          <p:nvPr/>
        </p:nvSpPr>
        <p:spPr>
          <a:xfrm>
            <a:off x="8313207" y="4233672"/>
            <a:ext cx="2788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25% smaller with enVast (trend)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Safety at 30 days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54"/>
            <a:ext cx="6826250" cy="3976370"/>
          </a:xfrm>
          <a:prstGeom prst="roundRect">
            <a:avLst>
              <a:gd name="adj" fmla="val 3753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1122680" y="211074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A61E3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376680" y="2092964"/>
            <a:ext cx="10819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enVast + PCI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32301" y="2110742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8C96A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2786301" y="2092964"/>
            <a:ext cx="10885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PCI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4295" y="2092964"/>
            <a:ext cx="109347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 rate, 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22680" y="5200651"/>
            <a:ext cx="6212840" cy="0"/>
          </a:xfrm>
          <a:prstGeom prst="line">
            <a:avLst/>
          </a:prstGeom>
          <a:noFill/>
          <a:ln w="12700">
            <a:solidFill>
              <a:srgbClr val="13233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1636038" y="4871721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97727" y="5171442"/>
            <a:ext cx="609600" cy="25400"/>
          </a:xfrm>
          <a:prstGeom prst="rect">
            <a:avLst/>
          </a:prstGeom>
          <a:solidFill>
            <a:srgbClr val="A61E3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2251321" y="4287521"/>
            <a:ext cx="52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1.3%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08927" y="458724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800" y="0"/>
                </a:moveTo>
                <a:lnTo>
                  <a:pt x="558800" y="0"/>
                </a:lnTo>
                <a:arcTo wR="50800" hR="50800" stAng="16200000" swAng="5400000"/>
                <a:lnTo>
                  <a:pt x="609600" y="609600"/>
                </a:lnTo>
                <a:lnTo>
                  <a:pt x="0" y="6096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C96A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707011" y="4871721"/>
            <a:ext cx="332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8700" y="5171442"/>
            <a:ext cx="609600" cy="25400"/>
          </a:xfrm>
          <a:prstGeom prst="rect">
            <a:avLst/>
          </a:prstGeom>
          <a:solidFill>
            <a:srgbClr val="A61E3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322294" y="3677921"/>
            <a:ext cx="52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2.6%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79900" y="3977642"/>
            <a:ext cx="609600" cy="1219200"/>
          </a:xfrm>
          <a:custGeom>
            <a:avLst/>
            <a:gdLst/>
            <a:ahLst/>
            <a:cxnLst/>
            <a:rect l="l" t="t" r="r" b="b"/>
            <a:pathLst>
              <a:path w="609600" h="1219200">
                <a:moveTo>
                  <a:pt x="50800" y="0"/>
                </a:moveTo>
                <a:lnTo>
                  <a:pt x="558800" y="0"/>
                </a:lnTo>
                <a:arcTo wR="50800" hR="50800" stAng="16200000" swAng="5400000"/>
                <a:lnTo>
                  <a:pt x="609600" y="1219200"/>
                </a:lnTo>
                <a:lnTo>
                  <a:pt x="0" y="12192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C96A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5681988" y="4287521"/>
            <a:ext cx="52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1.3%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39594" y="458724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800" y="0"/>
                </a:moveTo>
                <a:lnTo>
                  <a:pt x="558800" y="0"/>
                </a:lnTo>
                <a:arcTo wR="50800" hR="50800" stAng="16200000" swAng="5400000"/>
                <a:lnTo>
                  <a:pt x="609600" y="609600"/>
                </a:lnTo>
                <a:lnTo>
                  <a:pt x="0" y="6096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A61E3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6393188" y="3119121"/>
            <a:ext cx="52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3.8%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0794" y="3418842"/>
            <a:ext cx="609600" cy="1778000"/>
          </a:xfrm>
          <a:custGeom>
            <a:avLst/>
            <a:gdLst/>
            <a:ahLst/>
            <a:cxnLst/>
            <a:rect l="l" t="t" r="r" b="b"/>
            <a:pathLst>
              <a:path w="609600" h="1778000">
                <a:moveTo>
                  <a:pt x="50800" y="0"/>
                </a:moveTo>
                <a:lnTo>
                  <a:pt x="558800" y="0"/>
                </a:lnTo>
                <a:arcTo wR="50800" hR="50800" stAng="16200000" swAng="5400000"/>
                <a:lnTo>
                  <a:pt x="609600" y="1778000"/>
                </a:lnTo>
                <a:lnTo>
                  <a:pt x="0" y="17780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C96A8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1472327" y="5359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43300" y="5359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Death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14194" y="5359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50200" y="1859279"/>
            <a:ext cx="3429000" cy="3982720"/>
          </a:xfrm>
          <a:prstGeom prst="roundRect">
            <a:avLst>
              <a:gd name="adj" fmla="val 4444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7" name="Image 0" descr="Verifi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55000" y="2164079"/>
            <a:ext cx="355600" cy="355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255000" y="2697479"/>
            <a:ext cx="2903982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No strokes and no deaths with enVast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8255000" y="3517900"/>
            <a:ext cx="290398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2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Important, because aspiration in TOTAL increased stroke.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255000" y="4193542"/>
            <a:ext cx="290398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2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Very few events overall; the trial was not powered for clinical outcomes.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8A3A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DEVICE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See it in action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75" y="1913257"/>
            <a:ext cx="6597650" cy="3708400"/>
          </a:xfrm>
          <a:prstGeom prst="roundRect">
            <a:avLst>
              <a:gd name="adj" fmla="val 3339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7772400" y="1910082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FA0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PROCEDURE ANIMATION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0" y="2225039"/>
            <a:ext cx="3715004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Cross, deploy, retrieve, stent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0" y="3114879"/>
            <a:ext cx="371500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2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Click the video to play or pause. It is embedded in the deck, so no internet is needed.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4457064"/>
            <a:ext cx="3606800" cy="0"/>
          </a:xfrm>
          <a:prstGeom prst="line">
            <a:avLst/>
          </a:prstGeom>
          <a:noFill/>
          <a:ln w="6350">
            <a:solidFill>
              <a:srgbClr val="F6F4E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7772400" y="4636771"/>
            <a:ext cx="371500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Vesalio. enVast Coronary Thrombectomy System procedure animation.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5190489"/>
            <a:ext cx="3606800" cy="434340"/>
          </a:xfrm>
          <a:prstGeom prst="roundRect">
            <a:avLst>
              <a:gd name="adj" fmla="val 50000"/>
            </a:avLst>
          </a:prstGeom>
          <a:solidFill>
            <a:srgbClr val="A61E3A"/>
          </a:solidFill>
          <a:ln/>
        </p:spPr>
        <p:txBody>
          <a:bodyPr wrap="square" lIns="91587" tIns="37993" rIns="91587" bIns="12593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with narration on YouTube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  <p:pic>
        <p:nvPicPr>
          <p:cNvPr id="14" name="YTDown.com_YouTube_Media_nmYZFin062I_enVast-Coronary-Thrombectomy-System-Procedure-Animation_001_1080p">
            <a:hlinkClick r:id="" action="ppaction://media"/>
            <a:extLst>
              <a:ext uri="{FF2B5EF4-FFF2-40B4-BE49-F238E27FC236}">
                <a16:creationId xmlns:a16="http://schemas.microsoft.com/office/drawing/2014/main" id="{DBA4EF2C-17E6-6B14-0C55-52AFAE2D55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2800" y="1913257"/>
            <a:ext cx="6597650" cy="3711178"/>
          </a:xfrm>
          <a:prstGeom prst="roundRect">
            <a:avLst>
              <a:gd name="adj" fmla="val 5299"/>
            </a:avLst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plastic">
            <a:bevelT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15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APPRAISAL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Strengths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4060"/>
            <a:ext cx="5175250" cy="1085850"/>
          </a:xfrm>
          <a:prstGeom prst="roundRect">
            <a:avLst>
              <a:gd name="adj" fmla="val 11404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1071880" y="221995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DE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6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3480" y="2321558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2280" y="2219958"/>
            <a:ext cx="41231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Randomised, multicentre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2280" y="2545085"/>
            <a:ext cx="4123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centres, 1:1 allocation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00775" y="1964060"/>
            <a:ext cx="5175250" cy="1085850"/>
          </a:xfrm>
          <a:prstGeom prst="roundRect">
            <a:avLst>
              <a:gd name="adj" fmla="val 11404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7"/>
          <p:cNvSpPr/>
          <p:nvPr/>
        </p:nvSpPr>
        <p:spPr>
          <a:xfrm>
            <a:off x="6456680" y="221995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DE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1" name="Image 1" descr="Users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8280" y="2321558"/>
            <a:ext cx="254000" cy="254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17080" y="2219958"/>
            <a:ext cx="41231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population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117080" y="2545085"/>
            <a:ext cx="4123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patients with a large thrombus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5975" y="3259460"/>
            <a:ext cx="5175250" cy="1085850"/>
          </a:xfrm>
          <a:prstGeom prst="roundRect">
            <a:avLst>
              <a:gd name="adj" fmla="val 11404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1"/>
          <p:cNvSpPr/>
          <p:nvPr/>
        </p:nvSpPr>
        <p:spPr>
          <a:xfrm>
            <a:off x="1071880" y="351535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DE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6" name="Image 2" descr="Char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73480" y="3616958"/>
            <a:ext cx="254000" cy="254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2280" y="3515358"/>
            <a:ext cx="41231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 results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732280" y="3840485"/>
            <a:ext cx="4123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CK-MB and cardiac MRI agree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00775" y="3259460"/>
            <a:ext cx="5175250" cy="1085850"/>
          </a:xfrm>
          <a:prstGeom prst="roundRect">
            <a:avLst>
              <a:gd name="adj" fmla="val 11404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5"/>
          <p:cNvSpPr/>
          <p:nvPr/>
        </p:nvSpPr>
        <p:spPr>
          <a:xfrm>
            <a:off x="6456680" y="351535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CEDE8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21" name="Image 3" descr="Verified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58280" y="3616958"/>
            <a:ext cx="254000" cy="254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17080" y="3515358"/>
            <a:ext cx="41231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 early course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117080" y="3840485"/>
            <a:ext cx="4123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stroke or death with enVast at 30 days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APPRAISAL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Limitations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64060"/>
            <a:ext cx="5175250" cy="1085850"/>
          </a:xfrm>
          <a:prstGeom prst="roundRect">
            <a:avLst>
              <a:gd name="adj" fmla="val 11404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071880" y="22199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wR="228600" hR="228600" stAng="16200000" swAng="5400000"/>
                <a:lnTo>
                  <a:pt x="457200" y="228600"/>
                </a:lnTo>
                <a:arcTo wR="228600" hR="228600" stAng="0" swAng="5400000"/>
                <a:lnTo>
                  <a:pt x="228600" y="457200"/>
                </a:lnTo>
                <a:arcTo wR="228600" hR="228600" stAng="5400000" swAng="5400000"/>
                <a:lnTo>
                  <a:pt x="0" y="228600"/>
                </a:lnTo>
                <a:arcTo wR="228600" hR="228600" stAng="10800000" swAng="5400000"/>
                <a:close/>
              </a:path>
            </a:pathLst>
          </a:custGeom>
          <a:solidFill>
            <a:srgbClr val="F6E6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9A4F0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2280" y="2219958"/>
            <a:ext cx="41231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 trial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2280" y="2545085"/>
            <a:ext cx="4123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154 patients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964060"/>
            <a:ext cx="5175250" cy="1085850"/>
          </a:xfrm>
          <a:prstGeom prst="roundRect">
            <a:avLst>
              <a:gd name="adj" fmla="val 11404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456680" y="22199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wR="228600" hR="228600" stAng="16200000" swAng="5400000"/>
                <a:lnTo>
                  <a:pt x="457200" y="228600"/>
                </a:lnTo>
                <a:arcTo wR="228600" hR="228600" stAng="0" swAng="5400000"/>
                <a:lnTo>
                  <a:pt x="228600" y="457200"/>
                </a:lnTo>
                <a:arcTo wR="228600" hR="228600" stAng="5400000" swAng="5400000"/>
                <a:lnTo>
                  <a:pt x="0" y="228600"/>
                </a:lnTo>
                <a:arcTo wR="228600" hR="228600" stAng="10800000" swAng="5400000"/>
                <a:close/>
              </a:path>
            </a:pathLst>
          </a:custGeom>
          <a:solidFill>
            <a:srgbClr val="F6E6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9A4F0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17080" y="2219958"/>
            <a:ext cx="41231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Surrogate endpoint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17080" y="2545085"/>
            <a:ext cx="4123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Infarct size, not death or heart failure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259460"/>
            <a:ext cx="5175250" cy="1085850"/>
          </a:xfrm>
          <a:prstGeom prst="roundRect">
            <a:avLst>
              <a:gd name="adj" fmla="val 11404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1071880" y="35153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wR="228600" hR="228600" stAng="16200000" swAng="5400000"/>
                <a:lnTo>
                  <a:pt x="457200" y="228600"/>
                </a:lnTo>
                <a:arcTo wR="228600" hR="228600" stAng="0" swAng="5400000"/>
                <a:lnTo>
                  <a:pt x="228600" y="457200"/>
                </a:lnTo>
                <a:arcTo wR="228600" hR="228600" stAng="5400000" swAng="5400000"/>
                <a:lnTo>
                  <a:pt x="0" y="228600"/>
                </a:lnTo>
                <a:arcTo wR="228600" hR="228600" stAng="10800000" swAng="5400000"/>
                <a:close/>
              </a:path>
            </a:pathLst>
          </a:custGeom>
          <a:solidFill>
            <a:srgbClr val="F6E6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9A4F0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2280" y="3515358"/>
            <a:ext cx="41231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Operators not blinded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2280" y="3840485"/>
            <a:ext cx="41231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 use cannot be hidden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0775" y="3259460"/>
            <a:ext cx="5175250" cy="1085850"/>
          </a:xfrm>
          <a:prstGeom prst="roundRect">
            <a:avLst>
              <a:gd name="adj" fmla="val 11404"/>
            </a:avLst>
          </a:prstGeom>
          <a:solidFill>
            <a:srgbClr val="FDFCFA"/>
          </a:solidFill>
          <a:ln w="6350">
            <a:solidFill>
              <a:srgbClr val="E4E0D8"/>
            </a:solidFill>
            <a:prstDash val="solid"/>
          </a:ln>
          <a:effectLst>
            <a:outerShdw blurRad="152400" dist="25400" dir="5400000" algn="bl" rotWithShape="0">
              <a:srgbClr val="13233F">
                <a:alpha val="6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456680" y="35153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wR="228600" hR="228600" stAng="16200000" swAng="5400000"/>
                <a:lnTo>
                  <a:pt x="457200" y="228600"/>
                </a:lnTo>
                <a:arcTo wR="228600" hR="228600" stAng="0" swAng="5400000"/>
                <a:lnTo>
                  <a:pt x="228600" y="457200"/>
                </a:lnTo>
                <a:arcTo wR="228600" hR="228600" stAng="5400000" swAng="5400000"/>
                <a:lnTo>
                  <a:pt x="0" y="228600"/>
                </a:lnTo>
                <a:arcTo wR="228600" hR="228600" stAng="10800000" swAng="5400000"/>
                <a:close/>
              </a:path>
            </a:pathLst>
          </a:custGeom>
          <a:solidFill>
            <a:srgbClr val="F6E6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9A4F0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17080" y="3515358"/>
            <a:ext cx="41231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MRI only a trend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17080" y="3840485"/>
            <a:ext cx="4255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4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Industry-funded; needs independent confirmation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A61E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3C9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81758"/>
            <a:ext cx="10883392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-5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 STEMI with a large thrombus, enVast thrombectomy before PCI was </a:t>
            </a:r>
            <a:r>
              <a:rPr lang="en-US" sz="3000" i="1" kern="0" spc="-5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superior</a:t>
            </a:r>
            <a:r>
              <a:rPr lang="en-US" sz="3000" kern="0" spc="-5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to standard PCI in reducing infarct size, with no early safety concern.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3112133"/>
            <a:ext cx="5175250" cy="1334770"/>
          </a:xfrm>
          <a:prstGeom prst="roundRect">
            <a:avLst>
              <a:gd name="adj" fmla="val 9277"/>
            </a:avLst>
          </a:prstGeom>
          <a:solidFill>
            <a:srgbClr val="13233F">
              <a:alpha val="28000"/>
            </a:srgbClr>
          </a:solidFill>
          <a:ln w="6350">
            <a:solidFill>
              <a:srgbClr val="F6F4E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1071880" y="3368042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3C9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880" y="3657600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Promising for selected large-thrombus cases, but not yet routine. Guidelines are unchanged.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3112133"/>
            <a:ext cx="5175250" cy="1334770"/>
          </a:xfrm>
          <a:prstGeom prst="roundRect">
            <a:avLst>
              <a:gd name="adj" fmla="val 9277"/>
            </a:avLst>
          </a:prstGeom>
          <a:solidFill>
            <a:srgbClr val="13233F">
              <a:alpha val="28000"/>
            </a:srgbClr>
          </a:solidFill>
          <a:ln w="6350">
            <a:solidFill>
              <a:srgbClr val="F6F4E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6456680" y="3368042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3C9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6680" y="3657600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larger trial with hard outcomes: death, heart failure and stroke.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3C9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F3C9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TAKE-HOME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58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For our cath lab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16435"/>
            <a:ext cx="10566400" cy="0"/>
          </a:xfrm>
          <a:prstGeom prst="line">
            <a:avLst/>
          </a:prstGeom>
          <a:noFill/>
          <a:ln w="12700">
            <a:solidFill>
              <a:srgbClr val="13233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812800" y="2047242"/>
            <a:ext cx="1193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260600" y="2237742"/>
            <a:ext cx="939215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Grade the thrombus (TIMI thrombus grade) in </a:t>
            </a:r>
            <a:r>
              <a:rPr lang="en-US" sz="20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</a:t>
            </a:r>
            <a:r>
              <a:rPr lang="en-US" sz="20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STEMI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2800" y="3396617"/>
            <a:ext cx="10566400" cy="0"/>
          </a:xfrm>
          <a:prstGeom prst="line">
            <a:avLst/>
          </a:prstGeom>
          <a:noFill/>
          <a:ln w="6350">
            <a:solidFill>
              <a:srgbClr val="DDD7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812800" y="3525527"/>
            <a:ext cx="1193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260600" y="3716027"/>
            <a:ext cx="939215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Routine manual aspiration is </a:t>
            </a:r>
            <a:r>
              <a:rPr lang="en-US" sz="20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still not recommended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2800" y="4874902"/>
            <a:ext cx="10566400" cy="0"/>
          </a:xfrm>
          <a:prstGeom prst="line">
            <a:avLst/>
          </a:prstGeom>
          <a:noFill/>
          <a:ln w="6350">
            <a:solidFill>
              <a:srgbClr val="DDD7C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812800" y="5003800"/>
            <a:ext cx="1193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A61E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2260600" y="5029200"/>
            <a:ext cx="93921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Stent-retriever thrombectomy is promising for large thrombus, but </a:t>
            </a:r>
            <a:r>
              <a:rPr lang="en-US" sz="2000" b="1" dirty="0">
                <a:solidFill>
                  <a:srgbClr val="1323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awaits outcome data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NATURE Trial · Journal Club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61E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CONTEXT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kern="0" spc="-50" dirty="0">
                <a:solidFill>
                  <a:srgbClr val="13233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TAPAS vs TASTE vs TOTAL vs NATURE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08479"/>
            <a:ext cx="10566400" cy="2656840"/>
          </a:xfrm>
          <a:prstGeom prst="rect">
            <a:avLst/>
          </a:prstGeom>
          <a:solidFill>
            <a:srgbClr val="FDFCFA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11376025" y="1808479"/>
            <a:ext cx="0" cy="2656840"/>
          </a:xfrm>
          <a:prstGeom prst="line">
            <a:avLst/>
          </a:prstGeom>
          <a:noFill/>
          <a:ln w="635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812800" y="4462144"/>
            <a:ext cx="10566400" cy="0"/>
          </a:xfrm>
          <a:prstGeom prst="line">
            <a:avLst/>
          </a:prstGeom>
          <a:noFill/>
          <a:ln w="635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8639"/>
          <a:ext cx="10551162" cy="2641600"/>
        </p:xfrm>
        <a:graphic>
          <a:graphicData uri="http://schemas.openxmlformats.org/drawingml/2006/table">
            <a:tbl>
              <a:tblPr/>
              <a:tblGrid>
                <a:gridCol w="1688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5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5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5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5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TAPAS · NEJM 2008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TASTE · NEJM 2013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· NEJM 2015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3C9D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NATURE · ESC 2026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B748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Patients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1,071 · 1 centre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7,244 · Sweden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10,732 · 20 countries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61E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154 · 11 centres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B748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All-comer STEMI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All-comer STEMI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All-comer STEMI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61E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Thrombus grade ≥ 3 only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B748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Device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Manual aspiration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Manual aspiration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Manual aspiration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61E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enVast stent-retriever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B748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Endpoint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Myocardial blush 0–1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Death at 30 days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CV death/MI/shock/HF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61E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Infarct size, CK-MB AUC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B748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Result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17% vs 26%, P &lt; 0.001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2.8% vs 3.0%, P = 0.63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6.9% vs 7.0%, P = 0.86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61E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26% smaller, P = 0.001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B748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Stroke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reported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0.5% vs 0.5%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0.7% vs 0.3% (↑)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61E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0% vs 1.3%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6B7487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Verdict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Positive, surrogate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Neutral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33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Neutral, stroke signal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61E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Positive, surrogate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4668521"/>
            <a:ext cx="10566400" cy="967740"/>
          </a:xfrm>
          <a:prstGeom prst="roundRect">
            <a:avLst>
              <a:gd name="adj" fmla="val 13123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1066800" y="4820921"/>
            <a:ext cx="32789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8A3A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PATIENTS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6800" y="5072379"/>
            <a:ext cx="3278916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large thrombus, where embolisation risk is highest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04214" y="4820921"/>
            <a:ext cx="3278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8A3A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BETTER TOOL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04214" y="5072379"/>
            <a:ext cx="327899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retriever captures the whole clot instead of fragmenting 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941707" y="4820921"/>
            <a:ext cx="32789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8A3A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LESSON OF TAPAS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41707" y="5072379"/>
            <a:ext cx="327899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6F4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positive surrogate needs an outcomes trial to confirm it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TAPAS was positive on a surrogate too, but TASTE and TOTAL then showed no hard-outcome benefit.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48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22917" r="22917"/>
          <a:stretch/>
        </p:blipFill>
        <p:spPr>
          <a:xfrm>
            <a:off x="5588000" y="0"/>
            <a:ext cx="660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3233F"/>
              </a:gs>
              <a:gs pos="46000">
                <a:srgbClr val="13233F"/>
              </a:gs>
              <a:gs pos="62000">
                <a:srgbClr val="13233F">
                  <a:alpha val="82000"/>
                </a:srgbClr>
              </a:gs>
              <a:gs pos="100000">
                <a:srgbClr val="13233F">
                  <a:alpha val="25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1"/>
          <p:cNvSpPr/>
          <p:nvPr/>
        </p:nvSpPr>
        <p:spPr>
          <a:xfrm>
            <a:off x="812800" y="2251708"/>
            <a:ext cx="609600" cy="38100"/>
          </a:xfrm>
          <a:prstGeom prst="rect">
            <a:avLst/>
          </a:prstGeom>
          <a:solidFill>
            <a:srgbClr val="D9435C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2493008"/>
            <a:ext cx="108833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i="0" kern="0" spc="-15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Thank you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812800" y="3763008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C9D2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2800" y="435737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0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 M. Waqas Saleem · Cardiac Centre, BVH Bahawalpur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TURE Trial Journal Club">
  <a:themeElements>
    <a:clrScheme name="NATURE Trial Journal Club">
      <a:dk1>
        <a:srgbClr val="13233F"/>
      </a:dk1>
      <a:lt1>
        <a:srgbClr val="F6F4EF"/>
      </a:lt1>
      <a:dk2>
        <a:srgbClr val="4C576B"/>
      </a:dk2>
      <a:lt2>
        <a:srgbClr val="DFDFDD"/>
      </a:lt2>
      <a:accent1>
        <a:srgbClr val="A61E3A"/>
      </a:accent1>
      <a:accent2>
        <a:srgbClr val="E8A3AF"/>
      </a:accent2>
      <a:accent3>
        <a:srgbClr val="F3C9D0"/>
      </a:accent3>
      <a:accent4>
        <a:srgbClr val="8FA0BA"/>
      </a:accent4>
      <a:accent5>
        <a:srgbClr val="8B1A2F"/>
      </a:accent5>
      <a:accent6>
        <a:srgbClr val="9A4F0E"/>
      </a:accent6>
      <a:hlink>
        <a:srgbClr val="0563C1"/>
      </a:hlink>
      <a:folHlink>
        <a:srgbClr val="954F72"/>
      </a:folHlink>
    </a:clrScheme>
    <a:fontScheme name="NATURE Trial Journal Club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2266</Words>
  <Application>Microsoft Office PowerPoint</Application>
  <PresentationFormat>Widescreen</PresentationFormat>
  <Paragraphs>333</Paragraphs>
  <Slides>20</Slides>
  <Notes>20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IBM Plex Sans</vt:lpstr>
      <vt:lpstr>Source Serif 4</vt:lpstr>
      <vt:lpstr>NATURE Trial Journal Club</vt:lpstr>
      <vt:lpstr>NATURE Trial</vt:lpstr>
      <vt:lpstr>Why a large thrombus matters</vt:lpstr>
      <vt:lpstr>What we already know</vt:lpstr>
      <vt:lpstr>enVast: a coronary stent-retriever</vt:lpstr>
      <vt:lpstr>The procedure, step by step</vt:lpstr>
      <vt:lpstr>See it in action</vt:lpstr>
      <vt:lpstr>Trial design</vt:lpstr>
      <vt:lpstr>Inclusion criteria</vt:lpstr>
      <vt:lpstr>TIMI thrombus grading</vt:lpstr>
      <vt:lpstr>Exclusion criteria</vt:lpstr>
      <vt:lpstr>Endpoints</vt:lpstr>
      <vt:lpstr>Primary endpoint: met</vt:lpstr>
      <vt:lpstr>Secondary endpoint: cardiac MRI</vt:lpstr>
      <vt:lpstr>Safety at 30 days</vt:lpstr>
      <vt:lpstr>Strengths</vt:lpstr>
      <vt:lpstr>Limitations</vt:lpstr>
      <vt:lpstr>PowerPoint Presentation</vt:lpstr>
      <vt:lpstr>For our cath lab</vt:lpstr>
      <vt:lpstr>TAPAS vs TASTE vs TOTAL vs NATURE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NATURE Trial Journal Club</dc:title>
  <dc:subject/>
  <dc:creator/>
  <cp:lastModifiedBy>Saleem, Muhammad Waqar (MU-Student)</cp:lastModifiedBy>
  <cp:revision>3</cp:revision>
  <dcterms:created xsi:type="dcterms:W3CDTF">2026-10-02T06:03:41Z</dcterms:created>
  <dcterms:modified xsi:type="dcterms:W3CDTF">2026-10-02T06:25:20Z</dcterms:modified>
</cp:coreProperties>
</file>