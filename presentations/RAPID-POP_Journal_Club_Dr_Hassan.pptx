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E1A36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0E1A36"/>
                </a:solidFill>
                <a:latin typeface="Calibri"/>
              </a:rPr>
              <a:t>Balloon dilation use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Predilation</c:v>
                  </c:pt>
                  <c:pt idx="1">
                    <c:v>Postdilation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68.4</c:v>
                </c:pt>
                <c:pt idx="1">
                  <c:v>65.3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Conventional</c:v>
                </c:pt>
              </c:strCache>
            </c:strRef>
          </c:tx>
          <c:spPr>
            <a:solidFill>
              <a:srgbClr val="E866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Predilation</c:v>
                  </c:pt>
                  <c:pt idx="1">
                    <c:v>Postdilation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80</c:v>
                </c:pt>
                <c:pt idx="1">
                  <c:v>91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E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 (n = 307)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 resolution ≥70%</c:v>
                  </c:pt>
                  <c:pt idx="1">
                    <c:v>Final TIMI 3 flow</c:v>
                  </c:pt>
                  <c:pt idx="2">
                    <c:v>No slow-flow / no-reflow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59.6</c:v>
                </c:pt>
                <c:pt idx="1">
                  <c:v>82.4</c:v>
                </c:pt>
                <c:pt idx="2">
                  <c:v>75.6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Conventional (n = 300)</c:v>
                </c:pt>
              </c:strCache>
            </c:strRef>
          </c:tx>
          <c:spPr>
            <a:solidFill>
              <a:srgbClr val="E866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 resolution ≥70%</c:v>
                  </c:pt>
                  <c:pt idx="1">
                    <c:v>Final TIMI 3 flow</c:v>
                  </c:pt>
                  <c:pt idx="2">
                    <c:v>No slow-flow / no-reflow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54.7</c:v>
                </c:pt>
                <c:pt idx="1">
                  <c:v>74</c:v>
                </c:pt>
                <c:pt idx="2">
                  <c:v>70.7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E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MACE</c:v>
                  </c:pt>
                  <c:pt idx="1">
                    <c:v>Death</c:v>
                  </c:pt>
                  <c:pt idx="2">
                    <c:v>Myocardial infarction</c:v>
                  </c:pt>
                  <c:pt idx="3">
                    <c:v>Stent thrombosis</c:v>
                  </c:pt>
                  <c:pt idx="4">
                    <c:v>Stroke</c:v>
                  </c:pt>
                  <c:pt idx="5">
                    <c:v>Bleeding (BARC 2/3/5)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1.6</c:v>
                </c:pt>
                <c:pt idx="2">
                  <c:v>0.7</c:v>
                </c:pt>
                <c:pt idx="3">
                  <c:v>0.7</c:v>
                </c:pt>
                <c:pt idx="4">
                  <c:v>0.3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Conventional</c:v>
                </c:pt>
              </c:strCache>
            </c:strRef>
          </c:tx>
          <c:spPr>
            <a:solidFill>
              <a:srgbClr val="E866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MACE</c:v>
                  </c:pt>
                  <c:pt idx="1">
                    <c:v>Death</c:v>
                  </c:pt>
                  <c:pt idx="2">
                    <c:v>Myocardial infarction</c:v>
                  </c:pt>
                  <c:pt idx="3">
                    <c:v>Stent thrombosis</c:v>
                  </c:pt>
                  <c:pt idx="4">
                    <c:v>Stroke</c:v>
                  </c:pt>
                  <c:pt idx="5">
                    <c:v>Bleeding (BARC 2/3/5)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4.1</c:v>
                </c:pt>
                <c:pt idx="1">
                  <c:v>2.3</c:v>
                </c:pt>
                <c:pt idx="2">
                  <c:v>2.7</c:v>
                </c:pt>
                <c:pt idx="3">
                  <c:v>1.3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Registered NCT06430892; IRB approval NICVD (IRB-23/2024).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CLUB 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6949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Inflation-Deflation vs Pressure-Optimized Stenting During Primary PCI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RAPID-POP Trial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Hakeem A, et al.  JACC Cardiovasc Interv. 2026;19(16):2234–2246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5852160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4526280"/>
            <a:ext cx="1097280" cy="109728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3" y="4811573"/>
            <a:ext cx="526694" cy="5266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19456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4709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 Hassan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5212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PGR Cardiology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55138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Center, BVH Bahawalpur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01000" y="822960"/>
            <a:ext cx="3566160" cy="35661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4A26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453896"/>
            <a:ext cx="2651760" cy="230317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589520" y="457200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4663440"/>
            <a:ext cx="2354287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Microvascular Reperfusion Still Fails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0E1A36"/>
          </a:solidFill>
          <a:ln w="12700">
            <a:solidFill>
              <a:srgbClr val="0E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STEMI patients fail to achieve tissue-level reperfusion despite a patent epicardial artery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4937760" cy="2148840"/>
          </a:xfrm>
          <a:prstGeom prst="roundRect">
            <a:avLst>
              <a:gd name="adj" fmla="val 510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2–4×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206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30-day mortality, with adverse LV remodeling and heart failure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anti–no-reflow strategies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035040" y="2148840"/>
            <a:ext cx="777240" cy="7772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7122" y="2350922"/>
            <a:ext cx="373075" cy="37307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0408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Thrombus aspiration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benefit in trials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035040" y="3172968"/>
            <a:ext cx="777240" cy="7772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122" y="3375050"/>
            <a:ext cx="373075" cy="37307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04088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Adjunct pharmacotherapy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040880" y="3584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or inconsistent results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035040" y="4197096"/>
            <a:ext cx="777240" cy="7772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122" y="4399178"/>
            <a:ext cx="373075" cy="37307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0880" y="4242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stenting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7040880" y="4608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convincing outcome gain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035040" y="530352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6263640" y="53949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preventive approach that stops embolization at its source — during stent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Stent Deployment: A Modifiable Culprit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783080"/>
            <a:ext cx="777240" cy="777240"/>
          </a:xfrm>
          <a:prstGeom prst="ellipse">
            <a:avLst/>
          </a:prstGeom>
          <a:solidFill>
            <a:srgbClr val="1B2D57"/>
          </a:solidFill>
          <a:ln w="12700">
            <a:solidFill>
              <a:srgbClr val="1B2D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402" y="19851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651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inflation–deflation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nominal-pressure balloon inflation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56032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10712" y="1600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79392" y="1783080"/>
            <a:ext cx="777240" cy="777240"/>
          </a:xfrm>
          <a:prstGeom prst="ellipse">
            <a:avLst/>
          </a:prstGeom>
          <a:solidFill>
            <a:srgbClr val="1B2D57"/>
          </a:solidFill>
          <a:ln w="12700">
            <a:solidFill>
              <a:srgbClr val="1B2D5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474" y="198516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47872" y="2651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expansion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547872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sustained strut embedment into thrombus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2560320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72784" y="1600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141464" y="1783080"/>
            <a:ext cx="777240" cy="777240"/>
          </a:xfrm>
          <a:prstGeom prst="ellipse">
            <a:avLst/>
          </a:prstGeom>
          <a:solidFill>
            <a:srgbClr val="1B2D57"/>
          </a:solidFill>
          <a:ln w="12700">
            <a:solidFill>
              <a:srgbClr val="1B2D57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546" y="1985162"/>
            <a:ext cx="373075" cy="37307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09944" y="2651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“Toothpaste effect”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409944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Thrombus &amp; plaque debris extruded distally</a:t>
            </a:r>
            <a:endParaRPr lang="en-US" sz="12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36" y="2560320"/>
            <a:ext cx="228600" cy="2286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134856" y="160020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003536" y="1783080"/>
            <a:ext cx="777240" cy="77724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5618" y="1985162"/>
            <a:ext cx="373075" cy="37307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272016" y="2651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Slow-flow / no-reflow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9272016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Microvascular obstruction, larger infarct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548640" y="411480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0E1A36"/>
          </a:solidFill>
          <a:ln w="12700">
            <a:solidFill>
              <a:srgbClr val="0E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777240" y="4297680"/>
            <a:ext cx="3749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152" y="4389120"/>
            <a:ext cx="2679016" cy="150876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846320" y="4297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POP hypothesis</a:t>
            </a:r>
            <a:endParaRPr lang="en-US" sz="2100" dirty="0"/>
          </a:p>
        </p:txBody>
      </p:sp>
      <p:sp>
        <p:nvSpPr>
          <p:cNvPr id="33" name="Text 23"/>
          <p:cNvSpPr txBox="1"/>
          <p:nvPr/>
        </p:nvSpPr>
        <p:spPr>
          <a:xfrm>
            <a:off x="4846320" y="475488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determinant may not be pressure alone, but achieving a </a:t>
            </a:r>
            <a:pPr indent="0" marL="0">
              <a:buNone/>
            </a:pPr>
            <a:r>
              <a:rPr lang="en-US" sz="1500" b="1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stent–vessel interface before deflation.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Pressure Optimization Protocol (Uretsky et al) operationalizes this in real time; OCT and observational data suggest better expansion, less malapposition and lower target-vessel failure.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PROTOCOLS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 Algorithm vs Conventional Deployment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Optimization Protocol (POP)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 stent to ≥14 atm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30428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63240" y="20116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54680" y="2011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gauge over 30-second window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0428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577840" y="1828800"/>
            <a:ext cx="1828800" cy="1188720"/>
          </a:xfrm>
          <a:prstGeom prst="diamond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669280" y="18288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≥0.3 atm?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1089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75120" y="3090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40680" y="34290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532120" y="3429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Reinflate to target &amp; reassess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10896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8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repeat cycle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452360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863840" y="201168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95528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 stable → Deflate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22960" y="3154680"/>
            <a:ext cx="2011680" cy="2011680"/>
          </a:xfrm>
          <a:prstGeom prst="ellipse">
            <a:avLst/>
          </a:prstGeom>
          <a:solidFill>
            <a:srgbClr val="F2F5FA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67328"/>
            <a:ext cx="1645920" cy="79622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063240" y="4434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inflation: 90 s at 14.0 atm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3063240" y="4800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Postdilation at operator’s discretion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863840" y="3429000"/>
            <a:ext cx="3749040" cy="2697480"/>
          </a:xfrm>
          <a:prstGeom prst="roundRect">
            <a:avLst>
              <a:gd name="adj" fmla="val 4068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80924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strategy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092440" y="40233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inflation at nominal or near-nominal pressure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≤20 seconds, then full deflation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pretrial audit: median 12 s at 12 atm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48640" y="5440680"/>
            <a:ext cx="7040880" cy="73152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731520" y="5440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All: aspirin 300 mg + ticagrelor 180 mg or clopidogrel 600 mg; heparin 5,000 U; second-generation DES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Design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28800"/>
            <a:ext cx="731520" cy="73152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01899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design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Prospective, randomized, open-label, blinded endpoint; investigator initiated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828800"/>
            <a:ext cx="731520" cy="7315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75" y="20189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NICVD network centers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NICVD Karachi, SICVD Lyari, SICVD Hyderabad (Sindh, Pakistan)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1828800"/>
            <a:ext cx="731520" cy="73152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515" y="201899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44000" y="1874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2024 – Nov 2025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931 screened; 660 randomized; 607 in mITT cohort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114800"/>
            <a:ext cx="731520" cy="7315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430499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45920" y="4160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randomization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web system, permuted blocks, on arrival in the cath lab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29768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6280" y="4114800"/>
            <a:ext cx="731520" cy="73152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475" y="4304995"/>
            <a:ext cx="351130" cy="35113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94960" y="4160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oversight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DSMB; blinded 3-physician Clinical Events Committee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8046720" y="3886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75320" y="4114800"/>
            <a:ext cx="731520" cy="7315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515" y="4304995"/>
            <a:ext cx="351130" cy="35113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44000" y="4160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Blinded core labs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827532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(ST resolution) and angiography (TIMI flow) read blind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POPULATION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Was Enrolled?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603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aged ≥18 years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STEMI: ischemic symptoms + guideline-defined ST elevation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Undergoing primary PCI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737360" y="452628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782312"/>
            <a:ext cx="1188720" cy="1032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0" y="1600200"/>
            <a:ext cx="6583680" cy="4572000"/>
          </a:xfrm>
          <a:prstGeom prst="roundRect">
            <a:avLst>
              <a:gd name="adj" fmla="val 24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8288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94360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exclusions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5303520" y="260604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40680" y="260604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Killip class III–IV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412480" y="260604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549640" y="260604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CABG to target vessel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303520" y="347472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440680" y="347472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Unprotected left main culprit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412480" y="347472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549640" y="347472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vessel &lt;2.5 or &gt;4.5 mm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303520" y="434340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440680" y="434340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Bifurcation needing 2-stent technique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412480" y="434340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549640" y="434340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of target vessel within 12 months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303520" y="521208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3C4C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40680" y="521208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Prehospital thrombolysis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Reperfusion Endpoint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731520" cy="7315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556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417320" y="1645920"/>
            <a:ext cx="6035040" cy="960120"/>
          </a:xfrm>
          <a:prstGeom prst="chevron">
            <a:avLst/>
          </a:prstGeom>
          <a:solidFill>
            <a:srgbClr val="F28C28">
              <a:alpha val="15000"/>
            </a:srgbClr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ST-segment resolution ≥70% at 90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marker of tissue-level reperfusion (blinded ECG core lab)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731520" cy="7315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443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417320" y="2834640"/>
            <a:ext cx="5577840" cy="960120"/>
          </a:xfrm>
          <a:prstGeom prst="chevron">
            <a:avLst/>
          </a:prstGeom>
          <a:solidFill>
            <a:srgbClr val="C1121F">
              <a:alpha val="15000"/>
            </a:srgbClr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11680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TIMI grade 3 flow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Angiographic reperfusion, blinded panel of 6 interventionalists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731520" cy="731520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33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417320" y="4023360"/>
            <a:ext cx="5120640" cy="960120"/>
          </a:xfrm>
          <a:prstGeom prst="chevron">
            <a:avLst/>
          </a:prstGeom>
          <a:solidFill>
            <a:srgbClr val="6B5CA5">
              <a:alpha val="15000"/>
            </a:srgbClr>
          </a:solidFill>
          <a:ln w="19050">
            <a:solidFill>
              <a:srgbClr val="6B5CA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1168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slow-flow / no-reflow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flow = TIMI 2; no-reflow = TIMI 0–1 without mechanical obstruction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63840" y="1645920"/>
            <a:ext cx="3749040" cy="2514600"/>
          </a:xfrm>
          <a:prstGeom prst="roundRect">
            <a:avLst>
              <a:gd name="adj" fmla="val 4364"/>
            </a:avLst>
          </a:prstGeom>
          <a:solidFill>
            <a:srgbClr val="0E1A36"/>
          </a:solidFill>
          <a:ln w="12700">
            <a:solidFill>
              <a:srgbClr val="0E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9244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ratio (Finkelstein–Schoenfeld)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24688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POP patient compared with every conventional patient (92,100 pairs). Move to the next tier only if tied.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63840" y="4389120"/>
            <a:ext cx="3749040" cy="178308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09244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endpoint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937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MACE: all-cause death, MI, definite stent thrombosis, or stroke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49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~290 per arm for STR (50% → 62%, 80% power); target 330 per arm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 (CONSORT)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881637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698757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4630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35240" y="14630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931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1463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06640" y="269748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635240" y="2697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660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0" y="26974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06640" y="39319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635240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 vs 300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692640" y="3931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mITT: POP vs conventional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06640" y="516636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635240" y="51663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0" y="51663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follow-up complete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Characteristics — Well Balanced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Angiographic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55.0 y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1828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828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54.5%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15400" y="1828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15400" y="1828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31.5%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3152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50.9%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 culprit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337560" y="37947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52044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52.6%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Multivessel disease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26480" y="37947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30936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52.9%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Pre-PCI TIMI 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915400" y="37947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09828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44.0%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9098280" y="4709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Thrombus grade V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0E1A36"/>
          </a:solidFill>
          <a:ln w="12700">
            <a:solidFill>
              <a:srgbClr val="0E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Door-to-balloon </a:t>
            </a:r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Total ischemic time </a:t>
            </a:r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min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Mean LVEF </a:t>
            </a:r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39.6%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Killip I </a:t>
            </a:r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 Differences Between Arms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18745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pressure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874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</a:t>
            </a:r>
            <a:pPr algn="ctr" indent="0" marL="0">
              <a:buNone/>
            </a:pPr>
            <a:r>
              <a:rPr lang="en-US" sz="1300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874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</a:t>
            </a:r>
            <a:pPr algn="ctr" indent="0" marL="0">
              <a:buNone/>
            </a:pPr>
            <a:r>
              <a:rPr lang="en-US" sz="1300" dirty="0">
                <a:solidFill>
                  <a:srgbClr val="E8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063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time (median)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063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pPr algn="ctr" indent="0" marL="0">
              <a:buNone/>
            </a:pPr>
            <a:r>
              <a:rPr lang="en-US" sz="1300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pPr algn="ctr" indent="0" marL="0">
              <a:buNone/>
            </a:pPr>
            <a:r>
              <a:rPr lang="en-US" sz="1300" dirty="0">
                <a:solidFill>
                  <a:srgbClr val="E8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5760720" cy="100584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4251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Postdilation (per stent)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251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65.3</a:t>
            </a:r>
            <a:pPr algn="ctr" indent="0" marL="0">
              <a:buNone/>
            </a:pPr>
            <a:r>
              <a:rPr lang="en-US" sz="1300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251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91.0</a:t>
            </a:r>
            <a:pPr algn="ctr" indent="0" marL="0">
              <a:buNone/>
            </a:pPr>
            <a:r>
              <a:rPr lang="en-US" sz="1300" dirty="0">
                <a:solidFill>
                  <a:srgbClr val="E86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5760720" cy="731520"/>
          </a:xfrm>
          <a:prstGeom prst="roundRect">
            <a:avLst>
              <a:gd name="adj" fmla="val 15000"/>
            </a:avLst>
          </a:prstGeom>
          <a:solidFill>
            <a:srgbClr val="0E1A36"/>
          </a:solidFill>
          <a:ln w="12700">
            <a:solidFill>
              <a:srgbClr val="0E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protocol completed in 97.7%  •  NC balloon pressure identical: 17.8 atm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675120" y="146304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5303520"/>
            <a:ext cx="1020289" cy="86868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092440" y="5303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Postdilation avoided in &gt;1 in 4 stents with POP (P &lt; 0.001)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 Wins on Hierarchical Reperfusion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4617720"/>
          </a:xfrm>
          <a:prstGeom prst="roundRect">
            <a:avLst>
              <a:gd name="adj" fmla="val 3077"/>
            </a:avLst>
          </a:prstGeom>
          <a:solidFill>
            <a:srgbClr val="0E1A36"/>
          </a:solidFill>
          <a:ln w="12700">
            <a:solidFill>
              <a:srgbClr val="0E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1783080"/>
            <a:ext cx="1097280" cy="109728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373" y="2068373"/>
            <a:ext cx="526694" cy="5266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RATIO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337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1.42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1.11–1.79  •  P = 0.004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+12.64%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win difference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89120" y="1554480"/>
            <a:ext cx="7315200" cy="334432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00200"/>
            <a:ext cx="7223760" cy="325288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89120" y="5029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driven by the first two tiers: ST resolution (+5.70%) and TIMI 3 flow (+5.95%)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389120" y="5532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hierarchical win-ratio decomposition, mITT population (Hakeem et al, 2026)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 COMPONENTS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Reperfusion Components: POP vs Conventional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778240" y="1554480"/>
            <a:ext cx="2377440" cy="2377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3C4C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911096"/>
            <a:ext cx="1920240" cy="16678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321040" y="4206240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50392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 3 flow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0149840" y="4206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0.012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321040" y="4864608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503920" y="48646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resolution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0149840" y="48646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0.18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321040" y="5522976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503920" y="55229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SF / NR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0149840" y="552297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0.17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ENDPOINT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Clinical Outcomes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55448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0E1A36"/>
          </a:solidFill>
          <a:ln w="12700">
            <a:solidFill>
              <a:srgbClr val="0E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3210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 HAZARD RATIO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</a:t>
            </a:r>
            <a:endParaRPr lang="en-US" sz="56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0.18–1.31  •  P = 0.15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307 vs 12 / 300 events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38160" y="443484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321040" y="45262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halved, not significant. </a:t>
            </a:r>
            <a:pPr indent="0" marL="0"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powered for reperfusion, not clinical events — hypothesis generating.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Subgroups: Effect Consistent in Direction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406640" cy="455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7315200" cy="44600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50876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3667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Thrombus grade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0–III: 2.35  vs  IV–V: 1.11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P-interaction = 0.004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83880" y="292608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36676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Pre-PCI TIMI flow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II–III: 2.01  vs  0–I: 1.22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3730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P-interaction = 0.053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83880" y="43434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36676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Stent length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 mm: 1.52  vs  &lt;20 mm: 1.06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5148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P-interaction = 0.251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57607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benefit with lower thrombus burden and preserved flow (exploratory)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Analyses Confirm the Signal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660 randomized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1.11–1.80, P = 0.003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4992" y="16002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02152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Center-stratified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520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1.04–1.72, P = 0.024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18504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+4.93%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3520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23 non-evaluable POP patients counted as failures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97696" y="160020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34856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134856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3520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between arms (P = 0.36); imputation consistent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E1A36"/>
          </a:solidFill>
          <a:ln w="12700">
            <a:solidFill>
              <a:srgbClr val="0E1A36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5303520"/>
            <a:ext cx="731520" cy="7315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5493715"/>
            <a:ext cx="351130" cy="35113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737360" y="5166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the hierarchy and stratifying by pre-/postdilation status gave directionally consistent results.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POP Work?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68680" cy="86868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1780337"/>
            <a:ext cx="416966" cy="41696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5727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pressure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984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 inflation delivers radial force along the full 26 mm segment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724912"/>
            <a:ext cx="868680" cy="86868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7" y="2950769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 embedment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Progressive, homogeneous expansion; stent–vessel interface sealed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95344"/>
            <a:ext cx="868680" cy="86868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4121201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9136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embolization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4325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trapped before deflation — fewer distal emboli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065776"/>
            <a:ext cx="868680" cy="86868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7" y="5291633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45920" y="50840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reperfusion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645920" y="5495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STR and TIMI 3 flow; less postdilation needed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766560" y="1554480"/>
            <a:ext cx="4846320" cy="4617720"/>
          </a:xfrm>
          <a:prstGeom prst="roundRect">
            <a:avLst>
              <a:gd name="adj" fmla="val 237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7040880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interpretive points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040880" y="224028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postdilation in the conventional arm suggests 20-s nominal inflation is systematically insufficient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NC pressure (17.8 atm) excludes more aggressive postdilation as an explanation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ranked first: best reflects myocardial reperfusion and prognosis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cost-neutral, device-independent — immediately implementable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APPRAISAL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10512"/>
            <a:ext cx="822960" cy="822960"/>
          </a:xfrm>
          <a:prstGeom prst="ellipse">
            <a:avLst/>
          </a:prstGeom>
          <a:solidFill>
            <a:srgbClr val="1B2D57"/>
          </a:solidFill>
          <a:ln w="12700">
            <a:solidFill>
              <a:srgbClr val="1B2D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024482"/>
            <a:ext cx="395021" cy="3950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Open-label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1579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aware of allocation; may affect lesion preparation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810512"/>
            <a:ext cx="822960" cy="82296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70" y="2024482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06640" y="1737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intervention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21579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duration, repeat cycles — effects not separable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364992"/>
            <a:ext cx="822960" cy="822960"/>
          </a:xfrm>
          <a:prstGeom prst="ellipse">
            <a:avLst/>
          </a:prstGeom>
          <a:solidFill>
            <a:srgbClr val="1B2D57"/>
          </a:solidFill>
          <a:ln w="12700">
            <a:solidFill>
              <a:srgbClr val="1B2D5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3578962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3291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Predilation imbalance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371246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68.4% vs 80.0%; modest stent-size differences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7220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0" y="3364992"/>
            <a:ext cx="822960" cy="82296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70" y="3578962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06640" y="3291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406640" y="371246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NICVD campuses in Pakistan; local low-pressure practice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4919472"/>
            <a:ext cx="822960" cy="822960"/>
          </a:xfrm>
          <a:prstGeom prst="ellipse">
            <a:avLst/>
          </a:prstGeom>
          <a:solidFill>
            <a:srgbClr val="1B2D57"/>
          </a:solidFill>
          <a:ln w="12700">
            <a:solidFill>
              <a:srgbClr val="1B2D57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10" y="5133442"/>
            <a:ext cx="395021" cy="39502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783080" y="4846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for reperfusion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783080" y="52669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MACE finding is hypothesis generating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617220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00800" y="4919472"/>
            <a:ext cx="822960" cy="82296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70" y="5133442"/>
            <a:ext cx="395021" cy="39502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06640" y="4846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routine imaging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7406640" y="52669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IVUS/OCT or CMR — mechanism is inferred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Illustration &amp; Take-Home Messages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RAPID-POP Trial  |  JACC Cardiovasc Interv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38486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1E2433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447046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37960" y="1554480"/>
            <a:ext cx="777240" cy="7772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042" y="1756562"/>
            <a:ext cx="373075" cy="3730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reperfusion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ratio 1.42 with POP in primary PCI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537960" y="2770632"/>
            <a:ext cx="777240" cy="7772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042" y="2972714"/>
            <a:ext cx="373075" cy="37307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2724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postdilation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3136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 vs 91.0% of stents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537960" y="3986784"/>
            <a:ext cx="777240" cy="77724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042" y="4188866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98080" y="39410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MACE — trend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498080" y="43525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 vs 4.1%, not significant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537960" y="5202936"/>
            <a:ext cx="777240" cy="7772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042" y="5405018"/>
            <a:ext cx="373075" cy="37307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98080" y="5157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498080" y="55686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cost-neutral, 97.7% feasible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4328" y="868680"/>
            <a:ext cx="1463040" cy="1463040"/>
          </a:xfrm>
          <a:prstGeom prst="ellipse">
            <a:avLst/>
          </a:prstGeom>
          <a:solidFill>
            <a:srgbClr val="C1121F"/>
          </a:solidFill>
          <a:ln w="25400">
            <a:solidFill>
              <a:srgbClr val="FF8A8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68" y="11887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1460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1188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6692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Hassan  •  PGR Cardiology  •  Cardiac Center, BVH Bahawalpur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RAPID-POP Trial – Journal Club</dc:title>
  <dc:subject>PptxGenJS Presentation</dc:subject>
  <dc:creator>Dr Hassan</dc:creator>
  <cp:lastModifiedBy>Dr Hassan</cp:lastModifiedBy>
  <cp:revision>1</cp:revision>
  <dcterms:created xsi:type="dcterms:W3CDTF">2026-09-25T06:30:46Z</dcterms:created>
  <dcterms:modified xsi:type="dcterms:W3CDTF">2026-09-25T06:30:46Z</dcterms:modified>
</cp:coreProperties>
</file>